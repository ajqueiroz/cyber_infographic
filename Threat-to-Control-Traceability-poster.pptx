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20116800" cy="44531280"/>
  <p:notesSz cx="44531280" cy="201168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STER">
    <p:bg>
      <p:bgPr>
        <a:solidFill>
          <a:srgbClr val="EEF1F4"/>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2.xml"/><Relationship Id="rId11"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20116800" cy="4297680"/>
          </a:xfrm>
          <a:prstGeom prst="rect">
            <a:avLst/>
          </a:prstGeom>
          <a:solidFill>
            <a:schemeClr val="tx1"/>
          </a:solidFill>
          <a:ln/>
        </p:spPr>
      </p:sp>
      <p:sp>
        <p:nvSpPr>
          <p:cNvPr id="3" name="Text 1"/>
          <p:cNvSpPr txBox="1"/>
          <p:nvPr/>
        </p:nvSpPr>
        <p:spPr>
          <a:xfrm>
            <a:off x="667512" y="502920"/>
            <a:ext cx="18781776" cy="274320"/>
          </a:xfrm>
          <a:prstGeom prst="rect">
            <a:avLst/>
          </a:prstGeom>
          <a:noFill/>
          <a:ln/>
        </p:spPr>
        <p:txBody>
          <a:bodyPr wrap="square" lIns="0" tIns="0" rIns="0" bIns="0" rtlCol="0" anchor="t"/>
          <a:lstStyle/>
          <a:p>
            <a:pPr indent="0" marL="0">
              <a:buNone/>
            </a:pPr>
            <a:r>
              <a:rPr lang="en-US" sz="1200" spc="300" kern="0" dirty="0">
                <a:solidFill>
                  <a:srgbClr val="9FB0BF"/>
                </a:solidFill>
              </a:rPr>
              <a:t>SECURITY CONTROL MATRIX · TEMPLATE</a:t>
            </a:r>
            <a:endParaRPr lang="en-US" sz="1200" dirty="0"/>
          </a:p>
        </p:txBody>
      </p:sp>
      <p:sp>
        <p:nvSpPr>
          <p:cNvPr id="4" name="Text 2"/>
          <p:cNvSpPr txBox="1"/>
          <p:nvPr/>
        </p:nvSpPr>
        <p:spPr>
          <a:xfrm>
            <a:off x="667512" y="868680"/>
            <a:ext cx="18781776" cy="1920240"/>
          </a:xfrm>
          <a:prstGeom prst="rect">
            <a:avLst/>
          </a:prstGeom>
          <a:noFill/>
          <a:ln/>
        </p:spPr>
        <p:txBody>
          <a:bodyPr wrap="square" lIns="0" tIns="0" rIns="0" bIns="0" rtlCol="0" anchor="t"/>
          <a:lstStyle/>
          <a:p>
            <a:pPr indent="0" marL="0">
              <a:buNone/>
            </a:pPr>
            <a:r>
              <a:rPr lang="en-US" sz="5800" b="1" dirty="0">
                <a:solidFill>
                  <a:srgbClr val="FF9A5C"/>
                </a:solidFill>
                <a:latin typeface="+mj-lt" pitchFamily="34" charset="0"/>
                <a:ea typeface="+mj-lt" pitchFamily="34" charset="-122"/>
                <a:cs typeface="+mj-lt" pitchFamily="34" charset="-120"/>
              </a:rPr>
              <a:t>THREAT</a:t>
            </a:r>
            <a:pPr indent="0" marL="0">
              <a:buNone/>
            </a:pPr>
            <a:r>
              <a:rPr lang="en-US" sz="5800" b="1" dirty="0">
                <a:solidFill>
                  <a:srgbClr val="5D7183"/>
                </a:solidFill>
                <a:latin typeface="+mj-lt" pitchFamily="34" charset="0"/>
                <a:ea typeface="+mj-lt" pitchFamily="34" charset="-122"/>
                <a:cs typeface="+mj-lt" pitchFamily="34" charset="-120"/>
              </a:rPr>
              <a:t>  ›  </a:t>
            </a:r>
            <a:pPr indent="0" marL="0">
              <a:buNone/>
            </a:pPr>
            <a:r>
              <a:rPr lang="en-US" sz="5800" b="1" dirty="0">
                <a:solidFill>
                  <a:srgbClr val="FF9A5C"/>
                </a:solidFill>
                <a:latin typeface="+mj-lt" pitchFamily="34" charset="0"/>
                <a:ea typeface="+mj-lt" pitchFamily="34" charset="-122"/>
                <a:cs typeface="+mj-lt" pitchFamily="34" charset="-120"/>
              </a:rPr>
              <a:t>RISK</a:t>
            </a:r>
            <a:pPr indent="0" marL="0">
              <a:buNone/>
            </a:pPr>
            <a:r>
              <a:rPr lang="en-US" sz="5800" b="1" dirty="0">
                <a:solidFill>
                  <a:srgbClr val="5D7183"/>
                </a:solidFill>
                <a:latin typeface="+mj-lt" pitchFamily="34" charset="0"/>
                <a:ea typeface="+mj-lt" pitchFamily="34" charset="-122"/>
                <a:cs typeface="+mj-lt" pitchFamily="34" charset="-120"/>
              </a:rPr>
              <a:t>  ›  </a:t>
            </a:r>
            <a:pPr indent="0" marL="0">
              <a:buNone/>
            </a:pPr>
            <a:r>
              <a:rPr lang="en-US" sz="5800" b="1" dirty="0">
                <a:solidFill>
                  <a:srgbClr val="6CCBDF"/>
                </a:solidFill>
                <a:latin typeface="+mj-lt" pitchFamily="34" charset="0"/>
                <a:ea typeface="+mj-lt" pitchFamily="34" charset="-122"/>
                <a:cs typeface="+mj-lt" pitchFamily="34" charset="-120"/>
              </a:rPr>
              <a:t>CONTROL</a:t>
            </a:r>
            <a:pPr indent="0" marL="0">
              <a:buNone/>
            </a:pPr>
            <a:r>
              <a:rPr lang="en-US" sz="5800" b="1" dirty="0">
                <a:solidFill>
                  <a:srgbClr val="5D7183"/>
                </a:solidFill>
                <a:latin typeface="+mj-lt" pitchFamily="34" charset="0"/>
                <a:ea typeface="+mj-lt" pitchFamily="34" charset="-122"/>
                <a:cs typeface="+mj-lt" pitchFamily="34" charset="-120"/>
              </a:rPr>
              <a:t>  ›  </a:t>
            </a:r>
            <a:pPr indent="0" marL="0">
              <a:buNone/>
            </a:pPr>
            <a:r>
              <a:rPr lang="en-US" sz="5800" b="1" dirty="0">
                <a:solidFill>
                  <a:srgbClr val="6CCBDF"/>
                </a:solidFill>
                <a:latin typeface="+mj-lt" pitchFamily="34" charset="0"/>
                <a:ea typeface="+mj-lt" pitchFamily="34" charset="-122"/>
                <a:cs typeface="+mj-lt" pitchFamily="34" charset="-120"/>
              </a:rPr>
              <a:t>ARCHITECTURE</a:t>
            </a:r>
            <a:endParaRPr lang="en-US" sz="5800" dirty="0"/>
          </a:p>
          <a:p>
            <a:pPr indent="0" marL="0">
              <a:buNone/>
            </a:pPr>
            <a:r>
              <a:rPr lang="en-US" sz="5800" b="1" dirty="0">
                <a:solidFill>
                  <a:schemeClr val="bg1"/>
                </a:solidFill>
                <a:latin typeface="+mj-lt" pitchFamily="34" charset="0"/>
                <a:ea typeface="+mj-lt" pitchFamily="34" charset="-122"/>
                <a:cs typeface="+mj-lt" pitchFamily="34" charset="-120"/>
              </a:rPr>
              <a:t>TRACEABILITY</a:t>
            </a:r>
            <a:endParaRPr lang="en-US" sz="5800" dirty="0"/>
          </a:p>
        </p:txBody>
      </p:sp>
      <p:sp>
        <p:nvSpPr>
          <p:cNvPr id="5" name="Text 3"/>
          <p:cNvSpPr txBox="1"/>
          <p:nvPr/>
        </p:nvSpPr>
        <p:spPr>
          <a:xfrm>
            <a:off x="667512" y="3017520"/>
            <a:ext cx="9144000" cy="914400"/>
          </a:xfrm>
          <a:prstGeom prst="rect">
            <a:avLst/>
          </a:prstGeom>
          <a:noFill/>
          <a:ln/>
        </p:spPr>
        <p:txBody>
          <a:bodyPr wrap="square" lIns="0" tIns="0" rIns="0" bIns="0" rtlCol="0" anchor="b"/>
          <a:lstStyle/>
          <a:p>
            <a:pPr indent="0" marL="0">
              <a:lnSpc>
                <a:spcPct val="115000"/>
              </a:lnSpc>
              <a:buNone/>
            </a:pPr>
            <a:r>
              <a:rPr lang="en-US" sz="1400" dirty="0">
                <a:solidFill>
                  <a:srgbClr val="C9D5DF"/>
                </a:solidFill>
              </a:rPr>
              <a:t>One line of sight from the threat that worries the business to the control that answers it, the architecture that delivers it and the evidence that proves it. Built to demonstrate DORA compliance, with CIS Controls Implementation Group 3 as the control baseline.</a:t>
            </a:r>
            <a:endParaRPr lang="en-US" sz="1400" dirty="0"/>
          </a:p>
        </p:txBody>
      </p:sp>
      <p:sp>
        <p:nvSpPr>
          <p:cNvPr id="6" name="Shape 4"/>
          <p:cNvSpPr/>
          <p:nvPr/>
        </p:nvSpPr>
        <p:spPr>
          <a:xfrm>
            <a:off x="12591288" y="2880360"/>
            <a:ext cx="3337560" cy="1051560"/>
          </a:xfrm>
          <a:prstGeom prst="rect">
            <a:avLst/>
          </a:prstGeom>
          <a:ln w="12700">
            <a:solidFill>
              <a:srgbClr val="3A4F62"/>
            </a:solidFill>
            <a:prstDash val="solid"/>
          </a:ln>
        </p:spPr>
      </p:sp>
      <p:sp>
        <p:nvSpPr>
          <p:cNvPr id="7" name="Text 5"/>
          <p:cNvSpPr txBox="1"/>
          <p:nvPr/>
        </p:nvSpPr>
        <p:spPr>
          <a:xfrm>
            <a:off x="12755880" y="2926080"/>
            <a:ext cx="3017520" cy="960120"/>
          </a:xfrm>
          <a:prstGeom prst="rect">
            <a:avLst/>
          </a:prstGeom>
          <a:noFill/>
          <a:ln/>
        </p:spPr>
        <p:txBody>
          <a:bodyPr wrap="square" lIns="0" tIns="0" rIns="0" bIns="0" rtlCol="0" anchor="ctr"/>
          <a:lstStyle/>
          <a:p>
            <a:pPr indent="0" marL="0">
              <a:spcAft>
                <a:spcPts val="300"/>
              </a:spcAft>
              <a:buNone/>
            </a:pPr>
            <a:r>
              <a:rPr lang="en-US" sz="900" spc="200" kern="0" dirty="0">
                <a:solidFill>
                  <a:srgbClr val="9FB0BF"/>
                </a:solidFill>
              </a:rPr>
              <a:t>REGULATORY DRIVER</a:t>
            </a:r>
            <a:endParaRPr lang="en-US" sz="900" dirty="0"/>
          </a:p>
          <a:p>
            <a:pPr indent="0" marL="0">
              <a:spcAft>
                <a:spcPts val="300"/>
              </a:spcAft>
              <a:buNone/>
            </a:pPr>
            <a:r>
              <a:rPr lang="en-US" sz="1900" b="1" dirty="0">
                <a:solidFill>
                  <a:schemeClr val="bg1"/>
                </a:solidFill>
                <a:latin typeface="+mj-lt" pitchFamily="34" charset="0"/>
                <a:ea typeface="+mj-lt" pitchFamily="34" charset="-122"/>
                <a:cs typeface="+mj-lt" pitchFamily="34" charset="-120"/>
              </a:rPr>
              <a:t>DORA</a:t>
            </a:r>
            <a:endParaRPr lang="en-US" sz="900" dirty="0"/>
          </a:p>
          <a:p>
            <a:pPr indent="0" marL="0">
              <a:spcAft>
                <a:spcPts val="300"/>
              </a:spcAft>
              <a:buNone/>
            </a:pPr>
            <a:r>
              <a:rPr lang="en-US" sz="1100" dirty="0">
                <a:solidFill>
                  <a:srgbClr val="C9D5DF"/>
                </a:solidFill>
              </a:rPr>
              <a:t>Regulation (EU) 2022/2554</a:t>
            </a:r>
            <a:endParaRPr lang="en-US" sz="900" dirty="0"/>
          </a:p>
        </p:txBody>
      </p:sp>
      <p:sp>
        <p:nvSpPr>
          <p:cNvPr id="8" name="Shape 6"/>
          <p:cNvSpPr/>
          <p:nvPr/>
        </p:nvSpPr>
        <p:spPr>
          <a:xfrm>
            <a:off x="16111728" y="2880360"/>
            <a:ext cx="3337560" cy="1051560"/>
          </a:xfrm>
          <a:prstGeom prst="rect">
            <a:avLst/>
          </a:prstGeom>
          <a:ln w="12700">
            <a:solidFill>
              <a:srgbClr val="3A4F62"/>
            </a:solidFill>
            <a:prstDash val="solid"/>
          </a:ln>
        </p:spPr>
      </p:sp>
      <p:sp>
        <p:nvSpPr>
          <p:cNvPr id="9" name="Text 7"/>
          <p:cNvSpPr txBox="1"/>
          <p:nvPr/>
        </p:nvSpPr>
        <p:spPr>
          <a:xfrm>
            <a:off x="16276320" y="2926080"/>
            <a:ext cx="3017520" cy="960120"/>
          </a:xfrm>
          <a:prstGeom prst="rect">
            <a:avLst/>
          </a:prstGeom>
          <a:noFill/>
          <a:ln/>
        </p:spPr>
        <p:txBody>
          <a:bodyPr wrap="square" lIns="0" tIns="0" rIns="0" bIns="0" rtlCol="0" anchor="ctr"/>
          <a:lstStyle/>
          <a:p>
            <a:pPr indent="0" marL="0">
              <a:spcAft>
                <a:spcPts val="300"/>
              </a:spcAft>
              <a:buNone/>
            </a:pPr>
            <a:r>
              <a:rPr lang="en-US" sz="900" spc="200" kern="0" dirty="0">
                <a:solidFill>
                  <a:srgbClr val="9FB0BF"/>
                </a:solidFill>
              </a:rPr>
              <a:t>CONTROL BASELINE</a:t>
            </a:r>
            <a:endParaRPr lang="en-US" sz="900" dirty="0"/>
          </a:p>
          <a:p>
            <a:pPr indent="0" marL="0">
              <a:spcAft>
                <a:spcPts val="300"/>
              </a:spcAft>
              <a:buNone/>
            </a:pPr>
            <a:r>
              <a:rPr lang="en-US" sz="1900" b="1" dirty="0">
                <a:solidFill>
                  <a:schemeClr val="bg1"/>
                </a:solidFill>
                <a:latin typeface="+mj-lt" pitchFamily="34" charset="0"/>
                <a:ea typeface="+mj-lt" pitchFamily="34" charset="-122"/>
                <a:cs typeface="+mj-lt" pitchFamily="34" charset="-120"/>
              </a:rPr>
              <a:t>CIS Controls v8.1 · IG3</a:t>
            </a:r>
            <a:endParaRPr lang="en-US" sz="900" dirty="0"/>
          </a:p>
          <a:p>
            <a:pPr indent="0" marL="0">
              <a:spcAft>
                <a:spcPts val="300"/>
              </a:spcAft>
              <a:buNone/>
            </a:pPr>
            <a:r>
              <a:rPr lang="en-US" sz="1100" dirty="0">
                <a:solidFill>
                  <a:srgbClr val="C9D5DF"/>
                </a:solidFill>
              </a:rPr>
              <a:t>Implementation Group 3, all 153 safeguards</a:t>
            </a:r>
            <a:endParaRPr lang="en-US" sz="900" dirty="0"/>
          </a:p>
        </p:txBody>
      </p:sp>
      <p:sp>
        <p:nvSpPr>
          <p:cNvPr id="10" name="Text 8"/>
          <p:cNvSpPr txBox="1"/>
          <p:nvPr/>
        </p:nvSpPr>
        <p:spPr>
          <a:xfrm>
            <a:off x="667512" y="4846320"/>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THE CHAIN</a:t>
            </a:r>
            <a:endParaRPr lang="en-US" sz="1000" dirty="0"/>
          </a:p>
        </p:txBody>
      </p:sp>
      <p:sp>
        <p:nvSpPr>
          <p:cNvPr id="11" name="Text 9"/>
          <p:cNvSpPr txBox="1"/>
          <p:nvPr/>
        </p:nvSpPr>
        <p:spPr>
          <a:xfrm>
            <a:off x="667512" y="5084064"/>
            <a:ext cx="9144000" cy="457200"/>
          </a:xfrm>
          <a:prstGeom prst="rect">
            <a:avLst/>
          </a:prstGeom>
          <a:noFill/>
          <a:ln/>
        </p:spPr>
        <p:txBody>
          <a:bodyPr wrap="square" lIns="0" tIns="0" rIns="0" bIns="0" rtlCol="0" anchor="ctr"/>
          <a:lstStyle/>
          <a:p>
            <a:pPr indent="0" marL="0">
              <a:buNone/>
            </a:pPr>
            <a:r>
              <a:rPr lang="en-US" sz="2800" b="1" dirty="0">
                <a:solidFill>
                  <a:schemeClr val="tx1"/>
                </a:solidFill>
                <a:latin typeface="+mj-lt" pitchFamily="34" charset="0"/>
                <a:ea typeface="+mj-lt" pitchFamily="34" charset="-122"/>
                <a:cs typeface="+mj-lt" pitchFamily="34" charset="-120"/>
              </a:rPr>
              <a:t>Nine linked fields, read left to right</a:t>
            </a:r>
            <a:endParaRPr lang="en-US" sz="2800" dirty="0"/>
          </a:p>
        </p:txBody>
      </p:sp>
      <p:sp>
        <p:nvSpPr>
          <p:cNvPr id="12" name="Text 10"/>
          <p:cNvSpPr txBox="1"/>
          <p:nvPr/>
        </p:nvSpPr>
        <p:spPr>
          <a:xfrm>
            <a:off x="10853928" y="5120640"/>
            <a:ext cx="8595360" cy="365760"/>
          </a:xfrm>
          <a:prstGeom prst="rect">
            <a:avLst/>
          </a:prstGeom>
          <a:noFill/>
          <a:ln/>
        </p:spPr>
        <p:txBody>
          <a:bodyPr wrap="square" lIns="0" tIns="0" rIns="0" bIns="0" rtlCol="0" anchor="b"/>
          <a:lstStyle/>
          <a:p>
            <a:pPr algn="r" indent="0" marL="0">
              <a:buNone/>
            </a:pPr>
            <a:r>
              <a:rPr lang="en-US" sz="1200" dirty="0">
                <a:solidFill>
                  <a:schemeClr val="accent1"/>
                </a:solidFill>
              </a:rPr>
              <a:t>■ </a:t>
            </a:r>
            <a:pPr algn="r" indent="0" marL="0">
              <a:buNone/>
            </a:pPr>
            <a:r>
              <a:rPr lang="en-US" sz="1200" dirty="0">
                <a:solidFill>
                  <a:schemeClr val="tx2"/>
                </a:solidFill>
              </a:rPr>
              <a:t>Problem space: what can go wrong        </a:t>
            </a:r>
            <a:pPr algn="r" indent="0" marL="0">
              <a:buNone/>
            </a:pPr>
            <a:r>
              <a:rPr lang="en-US" sz="1200" dirty="0">
                <a:solidFill>
                  <a:schemeClr val="accent2"/>
                </a:solidFill>
              </a:rPr>
              <a:t>■ </a:t>
            </a:r>
            <a:pPr algn="r" indent="0" marL="0">
              <a:buNone/>
            </a:pPr>
            <a:r>
              <a:rPr lang="en-US" sz="1200" dirty="0">
                <a:solidFill>
                  <a:schemeClr val="tx2"/>
                </a:solidFill>
              </a:rPr>
              <a:t>Solution space: how it is answered and proven</a:t>
            </a:r>
            <a:endParaRPr lang="en-US" sz="1200" dirty="0"/>
          </a:p>
        </p:txBody>
      </p:sp>
      <p:sp>
        <p:nvSpPr>
          <p:cNvPr id="13" name="Stage 1"/>
          <p:cNvSpPr/>
          <p:nvPr/>
        </p:nvSpPr>
        <p:spPr>
          <a:xfrm>
            <a:off x="667512" y="5806440"/>
            <a:ext cx="2338832" cy="676656"/>
          </a:xfrm>
          <a:prstGeom prst="homePlate">
            <a:avLst/>
          </a:prstGeom>
          <a:solidFill>
            <a:schemeClr val="accent1"/>
          </a:solidFill>
          <a:ln/>
        </p:spPr>
        <p:txBody>
          <a:bodyPr wrap="square" lIns="25400" tIns="25400" rIns="25400" bIns="25400" rtlCol="0" anchor="ctr"/>
          <a:lstStyle/>
          <a:p>
            <a:pPr algn="ctr" indent="0" marL="0">
              <a:buNone/>
            </a:pPr>
            <a:r>
              <a:rPr lang="en-US" sz="1100" dirty="0">
                <a:solidFill>
                  <a:schemeClr val="bg1"/>
                </a:solidFill>
              </a:rPr>
              <a:t>01  </a:t>
            </a:r>
            <a:pPr algn="ctr" indent="0" marL="0">
              <a:buNone/>
            </a:pPr>
            <a:r>
              <a:rPr lang="en-US" sz="1300" b="1" dirty="0">
                <a:solidFill>
                  <a:schemeClr val="bg1"/>
                </a:solidFill>
                <a:latin typeface="+mj-lt" pitchFamily="34" charset="0"/>
                <a:ea typeface="+mj-lt" pitchFamily="34" charset="-122"/>
                <a:cs typeface="+mj-lt" pitchFamily="34" charset="-120"/>
              </a:rPr>
              <a:t>THREAT</a:t>
            </a:r>
            <a:endParaRPr lang="en-US" sz="1400" dirty="0"/>
          </a:p>
        </p:txBody>
      </p:sp>
      <p:sp>
        <p:nvSpPr>
          <p:cNvPr id="14" name="Stage 2"/>
          <p:cNvSpPr/>
          <p:nvPr/>
        </p:nvSpPr>
        <p:spPr>
          <a:xfrm>
            <a:off x="2722880" y="5806440"/>
            <a:ext cx="2338832" cy="676656"/>
          </a:xfrm>
          <a:prstGeom prst="chevron">
            <a:avLst/>
          </a:prstGeom>
          <a:solidFill>
            <a:schemeClr val="accent1"/>
          </a:solidFill>
          <a:ln/>
        </p:spPr>
        <p:txBody>
          <a:bodyPr wrap="square" lIns="25400" tIns="25400" rIns="25400" bIns="25400" rtlCol="0" anchor="ctr"/>
          <a:lstStyle/>
          <a:p>
            <a:pPr algn="ctr" indent="0" marL="0">
              <a:buNone/>
            </a:pPr>
            <a:r>
              <a:rPr lang="en-US" sz="1100" dirty="0">
                <a:solidFill>
                  <a:schemeClr val="bg1"/>
                </a:solidFill>
              </a:rPr>
              <a:t>02  </a:t>
            </a:r>
            <a:pPr algn="ctr" indent="0" marL="0">
              <a:buNone/>
            </a:pPr>
            <a:r>
              <a:rPr lang="en-US" sz="1300" b="1" dirty="0">
                <a:solidFill>
                  <a:schemeClr val="bg1"/>
                </a:solidFill>
                <a:latin typeface="+mj-lt" pitchFamily="34" charset="0"/>
                <a:ea typeface="+mj-lt" pitchFamily="34" charset="-122"/>
                <a:cs typeface="+mj-lt" pitchFamily="34" charset="-120"/>
              </a:rPr>
              <a:t>VULNERABILITY</a:t>
            </a:r>
            <a:endParaRPr lang="en-US" sz="1400" dirty="0"/>
          </a:p>
        </p:txBody>
      </p:sp>
      <p:sp>
        <p:nvSpPr>
          <p:cNvPr id="15" name="Stage 3"/>
          <p:cNvSpPr/>
          <p:nvPr/>
        </p:nvSpPr>
        <p:spPr>
          <a:xfrm>
            <a:off x="4778248" y="5806440"/>
            <a:ext cx="2338832" cy="676656"/>
          </a:xfrm>
          <a:prstGeom prst="chevron">
            <a:avLst/>
          </a:prstGeom>
          <a:solidFill>
            <a:schemeClr val="accent1"/>
          </a:solidFill>
          <a:ln/>
        </p:spPr>
        <p:txBody>
          <a:bodyPr wrap="square" lIns="25400" tIns="25400" rIns="25400" bIns="25400" rtlCol="0" anchor="ctr"/>
          <a:lstStyle/>
          <a:p>
            <a:pPr algn="ctr" indent="0" marL="0">
              <a:buNone/>
            </a:pPr>
            <a:r>
              <a:rPr lang="en-US" sz="1100" dirty="0">
                <a:solidFill>
                  <a:schemeClr val="bg1"/>
                </a:solidFill>
              </a:rPr>
              <a:t>03  </a:t>
            </a:r>
            <a:pPr algn="ctr" indent="0" marL="0">
              <a:buNone/>
            </a:pPr>
            <a:r>
              <a:rPr lang="en-US" sz="1300" b="1" dirty="0">
                <a:solidFill>
                  <a:schemeClr val="bg1"/>
                </a:solidFill>
                <a:latin typeface="+mj-lt" pitchFamily="34" charset="0"/>
                <a:ea typeface="+mj-lt" pitchFamily="34" charset="-122"/>
                <a:cs typeface="+mj-lt" pitchFamily="34" charset="-120"/>
              </a:rPr>
              <a:t>RISK SCENARIO</a:t>
            </a:r>
            <a:endParaRPr lang="en-US" sz="1400" dirty="0"/>
          </a:p>
        </p:txBody>
      </p:sp>
      <p:sp>
        <p:nvSpPr>
          <p:cNvPr id="16" name="Stage 4"/>
          <p:cNvSpPr/>
          <p:nvPr/>
        </p:nvSpPr>
        <p:spPr>
          <a:xfrm>
            <a:off x="6833616" y="5806440"/>
            <a:ext cx="2338832" cy="676656"/>
          </a:xfrm>
          <a:prstGeom prst="chevron">
            <a:avLst/>
          </a:prstGeom>
          <a:solidFill>
            <a:schemeClr val="accent1"/>
          </a:solidFill>
          <a:ln/>
        </p:spPr>
        <p:txBody>
          <a:bodyPr wrap="square" lIns="25400" tIns="25400" rIns="25400" bIns="25400" rtlCol="0" anchor="ctr"/>
          <a:lstStyle/>
          <a:p>
            <a:pPr algn="ctr" indent="0" marL="0">
              <a:buNone/>
            </a:pPr>
            <a:r>
              <a:rPr lang="en-US" sz="1100" dirty="0">
                <a:solidFill>
                  <a:schemeClr val="bg1"/>
                </a:solidFill>
              </a:rPr>
              <a:t>04  </a:t>
            </a:r>
            <a:pPr algn="ctr" indent="0" marL="0">
              <a:buNone/>
            </a:pPr>
            <a:r>
              <a:rPr lang="en-US" sz="1100" b="1" dirty="0">
                <a:solidFill>
                  <a:schemeClr val="bg1"/>
                </a:solidFill>
                <a:latin typeface="+mj-lt" pitchFamily="34" charset="0"/>
                <a:ea typeface="+mj-lt" pitchFamily="34" charset="-122"/>
                <a:cs typeface="+mj-lt" pitchFamily="34" charset="-120"/>
              </a:rPr>
              <a:t>BUSINESS IMPACT</a:t>
            </a:r>
            <a:endParaRPr lang="en-US" sz="1400" dirty="0"/>
          </a:p>
        </p:txBody>
      </p:sp>
      <p:sp>
        <p:nvSpPr>
          <p:cNvPr id="17" name="Stage 5"/>
          <p:cNvSpPr/>
          <p:nvPr/>
        </p:nvSpPr>
        <p:spPr>
          <a:xfrm>
            <a:off x="8888984" y="5806440"/>
            <a:ext cx="2338832" cy="676656"/>
          </a:xfrm>
          <a:prstGeom prst="chevron">
            <a:avLst/>
          </a:prstGeom>
          <a:solidFill>
            <a:schemeClr val="accent2"/>
          </a:solidFill>
          <a:ln/>
        </p:spPr>
        <p:txBody>
          <a:bodyPr wrap="square" lIns="25400" tIns="25400" rIns="25400" bIns="25400" rtlCol="0" anchor="ctr"/>
          <a:lstStyle/>
          <a:p>
            <a:pPr algn="ctr" indent="0" marL="0">
              <a:buNone/>
            </a:pPr>
            <a:r>
              <a:rPr lang="en-US" sz="1100" dirty="0">
                <a:solidFill>
                  <a:schemeClr val="bg1"/>
                </a:solidFill>
              </a:rPr>
              <a:t>05  </a:t>
            </a:r>
            <a:pPr algn="ctr" indent="0" marL="0">
              <a:buNone/>
            </a:pPr>
            <a:r>
              <a:rPr lang="en-US" sz="1100" b="1" dirty="0">
                <a:solidFill>
                  <a:schemeClr val="bg1"/>
                </a:solidFill>
                <a:latin typeface="+mj-lt" pitchFamily="34" charset="0"/>
                <a:ea typeface="+mj-lt" pitchFamily="34" charset="-122"/>
                <a:cs typeface="+mj-lt" pitchFamily="34" charset="-120"/>
              </a:rPr>
              <a:t>SECURITY REQUIREMENT</a:t>
            </a:r>
            <a:endParaRPr lang="en-US" sz="1400" dirty="0"/>
          </a:p>
        </p:txBody>
      </p:sp>
      <p:sp>
        <p:nvSpPr>
          <p:cNvPr id="18" name="Stage 6"/>
          <p:cNvSpPr/>
          <p:nvPr/>
        </p:nvSpPr>
        <p:spPr>
          <a:xfrm>
            <a:off x="10944352" y="5806440"/>
            <a:ext cx="2338832" cy="676656"/>
          </a:xfrm>
          <a:prstGeom prst="chevron">
            <a:avLst/>
          </a:prstGeom>
          <a:solidFill>
            <a:schemeClr val="accent2"/>
          </a:solidFill>
          <a:ln/>
        </p:spPr>
        <p:txBody>
          <a:bodyPr wrap="square" lIns="25400" tIns="25400" rIns="25400" bIns="25400" rtlCol="0" anchor="ctr"/>
          <a:lstStyle/>
          <a:p>
            <a:pPr algn="ctr" indent="0" marL="0">
              <a:buNone/>
            </a:pPr>
            <a:r>
              <a:rPr lang="en-US" sz="1100" dirty="0">
                <a:solidFill>
                  <a:schemeClr val="bg1"/>
                </a:solidFill>
              </a:rPr>
              <a:t>06  </a:t>
            </a:r>
            <a:pPr algn="ctr" indent="0" marL="0">
              <a:buNone/>
            </a:pPr>
            <a:r>
              <a:rPr lang="en-US" sz="1100" b="1" dirty="0">
                <a:solidFill>
                  <a:schemeClr val="bg1"/>
                </a:solidFill>
                <a:latin typeface="+mj-lt" pitchFamily="34" charset="0"/>
                <a:ea typeface="+mj-lt" pitchFamily="34" charset="-122"/>
                <a:cs typeface="+mj-lt" pitchFamily="34" charset="-120"/>
              </a:rPr>
              <a:t>SECURITY CONTROL</a:t>
            </a:r>
            <a:endParaRPr lang="en-US" sz="1400" dirty="0"/>
          </a:p>
        </p:txBody>
      </p:sp>
      <p:sp>
        <p:nvSpPr>
          <p:cNvPr id="19" name="Stage 7"/>
          <p:cNvSpPr/>
          <p:nvPr/>
        </p:nvSpPr>
        <p:spPr>
          <a:xfrm>
            <a:off x="12999720" y="5806440"/>
            <a:ext cx="2338832" cy="676656"/>
          </a:xfrm>
          <a:prstGeom prst="chevron">
            <a:avLst/>
          </a:prstGeom>
          <a:solidFill>
            <a:schemeClr val="accent2"/>
          </a:solidFill>
          <a:ln/>
        </p:spPr>
        <p:txBody>
          <a:bodyPr wrap="square" lIns="25400" tIns="25400" rIns="25400" bIns="25400" rtlCol="0" anchor="ctr"/>
          <a:lstStyle/>
          <a:p>
            <a:pPr algn="ctr" indent="0" marL="0">
              <a:buNone/>
            </a:pPr>
            <a:r>
              <a:rPr lang="en-US" sz="1100" dirty="0">
                <a:solidFill>
                  <a:schemeClr val="bg1"/>
                </a:solidFill>
              </a:rPr>
              <a:t>07  </a:t>
            </a:r>
            <a:pPr algn="ctr" indent="0" marL="0">
              <a:buNone/>
            </a:pPr>
            <a:r>
              <a:rPr lang="en-US" sz="1300" b="1" dirty="0">
                <a:solidFill>
                  <a:schemeClr val="bg1"/>
                </a:solidFill>
                <a:latin typeface="+mj-lt" pitchFamily="34" charset="0"/>
                <a:ea typeface="+mj-lt" pitchFamily="34" charset="-122"/>
                <a:cs typeface="+mj-lt" pitchFamily="34" charset="-120"/>
              </a:rPr>
              <a:t>ARCHITECTURE</a:t>
            </a:r>
            <a:endParaRPr lang="en-US" sz="1400" dirty="0"/>
          </a:p>
        </p:txBody>
      </p:sp>
      <p:sp>
        <p:nvSpPr>
          <p:cNvPr id="20" name="Stage 8"/>
          <p:cNvSpPr/>
          <p:nvPr/>
        </p:nvSpPr>
        <p:spPr>
          <a:xfrm>
            <a:off x="15055088" y="5806440"/>
            <a:ext cx="2338832" cy="676656"/>
          </a:xfrm>
          <a:prstGeom prst="chevron">
            <a:avLst/>
          </a:prstGeom>
          <a:solidFill>
            <a:schemeClr val="accent2"/>
          </a:solidFill>
          <a:ln/>
        </p:spPr>
        <p:txBody>
          <a:bodyPr wrap="square" lIns="25400" tIns="25400" rIns="25400" bIns="25400" rtlCol="0" anchor="ctr"/>
          <a:lstStyle/>
          <a:p>
            <a:pPr algn="ctr" indent="0" marL="0">
              <a:buNone/>
            </a:pPr>
            <a:r>
              <a:rPr lang="en-US" sz="1100" dirty="0">
                <a:solidFill>
                  <a:schemeClr val="bg1"/>
                </a:solidFill>
              </a:rPr>
              <a:t>08  </a:t>
            </a:r>
            <a:pPr algn="ctr" indent="0" marL="0">
              <a:buNone/>
            </a:pPr>
            <a:r>
              <a:rPr lang="en-US" sz="1300" b="1" dirty="0">
                <a:solidFill>
                  <a:schemeClr val="bg1"/>
                </a:solidFill>
                <a:latin typeface="+mj-lt" pitchFamily="34" charset="0"/>
                <a:ea typeface="+mj-lt" pitchFamily="34" charset="-122"/>
                <a:cs typeface="+mj-lt" pitchFamily="34" charset="-120"/>
              </a:rPr>
              <a:t>EVIDENCE</a:t>
            </a:r>
            <a:endParaRPr lang="en-US" sz="1400" dirty="0"/>
          </a:p>
        </p:txBody>
      </p:sp>
      <p:sp>
        <p:nvSpPr>
          <p:cNvPr id="21" name="Stage 9"/>
          <p:cNvSpPr/>
          <p:nvPr/>
        </p:nvSpPr>
        <p:spPr>
          <a:xfrm>
            <a:off x="17110456" y="5806440"/>
            <a:ext cx="2338832" cy="676656"/>
          </a:xfrm>
          <a:prstGeom prst="chevron">
            <a:avLst/>
          </a:prstGeom>
          <a:solidFill>
            <a:schemeClr val="accent1"/>
          </a:solidFill>
          <a:ln/>
        </p:spPr>
        <p:txBody>
          <a:bodyPr wrap="square" lIns="25400" tIns="25400" rIns="25400" bIns="25400" rtlCol="0" anchor="ctr"/>
          <a:lstStyle/>
          <a:p>
            <a:pPr algn="ctr" indent="0" marL="0">
              <a:buNone/>
            </a:pPr>
            <a:r>
              <a:rPr lang="en-US" sz="1100" dirty="0">
                <a:solidFill>
                  <a:schemeClr val="bg1"/>
                </a:solidFill>
              </a:rPr>
              <a:t>09  </a:t>
            </a:r>
            <a:pPr algn="ctr" indent="0" marL="0">
              <a:buNone/>
            </a:pPr>
            <a:r>
              <a:rPr lang="en-US" sz="1300" b="1" dirty="0">
                <a:solidFill>
                  <a:schemeClr val="bg1"/>
                </a:solidFill>
                <a:latin typeface="+mj-lt" pitchFamily="34" charset="0"/>
                <a:ea typeface="+mj-lt" pitchFamily="34" charset="-122"/>
                <a:cs typeface="+mj-lt" pitchFamily="34" charset="-120"/>
              </a:rPr>
              <a:t>RESIDUAL RISK</a:t>
            </a:r>
            <a:endParaRPr lang="en-US" sz="1400" dirty="0"/>
          </a:p>
        </p:txBody>
      </p:sp>
      <p:pic>
        <p:nvPicPr>
          <p:cNvPr id="22" name="Image 0" descr="preencoded.png">    </p:cNvPr>
          <p:cNvPicPr>
            <a:picLocks noChangeAspect="1"/>
          </p:cNvPicPr>
          <p:nvPr/>
        </p:nvPicPr>
        <p:blipFill>
          <a:blip r:embed="rId1"/>
          <a:stretch>
            <a:fillRect/>
          </a:stretch>
        </p:blipFill>
        <p:spPr>
          <a:xfrm>
            <a:off x="704088" y="6665976"/>
            <a:ext cx="384048" cy="384048"/>
          </a:xfrm>
          <a:prstGeom prst="rect">
            <a:avLst/>
          </a:prstGeom>
        </p:spPr>
      </p:pic>
      <p:sp>
        <p:nvSpPr>
          <p:cNvPr id="23" name="Text 20"/>
          <p:cNvSpPr txBox="1"/>
          <p:nvPr/>
        </p:nvSpPr>
        <p:spPr>
          <a:xfrm>
            <a:off x="704088"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Who or what could cause harm, and how they would go about it.</a:t>
            </a:r>
            <a:endParaRPr lang="en-US" sz="1200" dirty="0"/>
          </a:p>
        </p:txBody>
      </p:sp>
      <p:pic>
        <p:nvPicPr>
          <p:cNvPr id="24" name="Image 1" descr="preencoded.png">    </p:cNvPr>
          <p:cNvPicPr>
            <a:picLocks noChangeAspect="1"/>
          </p:cNvPicPr>
          <p:nvPr/>
        </p:nvPicPr>
        <p:blipFill>
          <a:blip r:embed="rId2"/>
          <a:stretch>
            <a:fillRect/>
          </a:stretch>
        </p:blipFill>
        <p:spPr>
          <a:xfrm>
            <a:off x="2759456" y="6665976"/>
            <a:ext cx="384048" cy="384048"/>
          </a:xfrm>
          <a:prstGeom prst="rect">
            <a:avLst/>
          </a:prstGeom>
        </p:spPr>
      </p:pic>
      <p:sp>
        <p:nvSpPr>
          <p:cNvPr id="25" name="Text 21"/>
          <p:cNvSpPr txBox="1"/>
          <p:nvPr/>
        </p:nvSpPr>
        <p:spPr>
          <a:xfrm>
            <a:off x="2759456"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The weakness or exposure that the threat can use to get in.</a:t>
            </a:r>
            <a:endParaRPr lang="en-US" sz="1200" dirty="0"/>
          </a:p>
        </p:txBody>
      </p:sp>
      <p:pic>
        <p:nvPicPr>
          <p:cNvPr id="26" name="Image 2" descr="preencoded.png">    </p:cNvPr>
          <p:cNvPicPr>
            <a:picLocks noChangeAspect="1"/>
          </p:cNvPicPr>
          <p:nvPr/>
        </p:nvPicPr>
        <p:blipFill>
          <a:blip r:embed="rId3"/>
          <a:stretch>
            <a:fillRect/>
          </a:stretch>
        </p:blipFill>
        <p:spPr>
          <a:xfrm>
            <a:off x="4814824" y="6665976"/>
            <a:ext cx="384048" cy="384048"/>
          </a:xfrm>
          <a:prstGeom prst="rect">
            <a:avLst/>
          </a:prstGeom>
        </p:spPr>
      </p:pic>
      <p:sp>
        <p:nvSpPr>
          <p:cNvPr id="27" name="Text 22"/>
          <p:cNvSpPr txBox="1"/>
          <p:nvPr/>
        </p:nvSpPr>
        <p:spPr>
          <a:xfrm>
            <a:off x="4814824"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A threat exploits a vulnerability. Scored by likelihood and impact.</a:t>
            </a:r>
            <a:endParaRPr lang="en-US" sz="1200" dirty="0"/>
          </a:p>
        </p:txBody>
      </p:sp>
      <p:pic>
        <p:nvPicPr>
          <p:cNvPr id="28" name="Image 3" descr="preencoded.png">    </p:cNvPr>
          <p:cNvPicPr>
            <a:picLocks noChangeAspect="1"/>
          </p:cNvPicPr>
          <p:nvPr/>
        </p:nvPicPr>
        <p:blipFill>
          <a:blip r:embed="rId4"/>
          <a:stretch>
            <a:fillRect/>
          </a:stretch>
        </p:blipFill>
        <p:spPr>
          <a:xfrm>
            <a:off x="6870192" y="6665976"/>
            <a:ext cx="384048" cy="384048"/>
          </a:xfrm>
          <a:prstGeom prst="rect">
            <a:avLst/>
          </a:prstGeom>
        </p:spPr>
      </p:pic>
      <p:sp>
        <p:nvSpPr>
          <p:cNvPr id="29" name="Text 23"/>
          <p:cNvSpPr txBox="1"/>
          <p:nvPr/>
        </p:nvSpPr>
        <p:spPr>
          <a:xfrm>
            <a:off x="6870192"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What the business loses: service, money, data, trust or its compliance standing.</a:t>
            </a:r>
            <a:endParaRPr lang="en-US" sz="1200" dirty="0"/>
          </a:p>
        </p:txBody>
      </p:sp>
      <p:pic>
        <p:nvPicPr>
          <p:cNvPr id="30" name="Image 4" descr="preencoded.png">    </p:cNvPr>
          <p:cNvPicPr>
            <a:picLocks noChangeAspect="1"/>
          </p:cNvPicPr>
          <p:nvPr/>
        </p:nvPicPr>
        <p:blipFill>
          <a:blip r:embed="rId5"/>
          <a:stretch>
            <a:fillRect/>
          </a:stretch>
        </p:blipFill>
        <p:spPr>
          <a:xfrm>
            <a:off x="8925560" y="6665976"/>
            <a:ext cx="384048" cy="384048"/>
          </a:xfrm>
          <a:prstGeom prst="rect">
            <a:avLst/>
          </a:prstGeom>
        </p:spPr>
      </p:pic>
      <p:sp>
        <p:nvSpPr>
          <p:cNvPr id="31" name="Text 24"/>
          <p:cNvSpPr txBox="1"/>
          <p:nvPr/>
        </p:nvSpPr>
        <p:spPr>
          <a:xfrm>
            <a:off x="8925560"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What must be true to bring the risk within appetite. Tied to a DORA article.</a:t>
            </a:r>
            <a:endParaRPr lang="en-US" sz="1200" dirty="0"/>
          </a:p>
        </p:txBody>
      </p:sp>
      <p:pic>
        <p:nvPicPr>
          <p:cNvPr id="32" name="Image 5" descr="preencoded.png">    </p:cNvPr>
          <p:cNvPicPr>
            <a:picLocks noChangeAspect="1"/>
          </p:cNvPicPr>
          <p:nvPr/>
        </p:nvPicPr>
        <p:blipFill>
          <a:blip r:embed="rId6"/>
          <a:stretch>
            <a:fillRect/>
          </a:stretch>
        </p:blipFill>
        <p:spPr>
          <a:xfrm>
            <a:off x="10980928" y="6665976"/>
            <a:ext cx="384048" cy="384048"/>
          </a:xfrm>
          <a:prstGeom prst="rect">
            <a:avLst/>
          </a:prstGeom>
        </p:spPr>
      </p:pic>
      <p:sp>
        <p:nvSpPr>
          <p:cNvPr id="33" name="Text 25"/>
          <p:cNvSpPr txBox="1"/>
          <p:nvPr/>
        </p:nvSpPr>
        <p:spPr>
          <a:xfrm>
            <a:off x="10980928"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The safeguard that meets the requirement. Selected from CIS Controls IG3.</a:t>
            </a:r>
            <a:endParaRPr lang="en-US" sz="1200" dirty="0"/>
          </a:p>
        </p:txBody>
      </p:sp>
      <p:pic>
        <p:nvPicPr>
          <p:cNvPr id="34" name="Image 6" descr="preencoded.png">    </p:cNvPr>
          <p:cNvPicPr>
            <a:picLocks noChangeAspect="1"/>
          </p:cNvPicPr>
          <p:nvPr/>
        </p:nvPicPr>
        <p:blipFill>
          <a:blip r:embed="rId7"/>
          <a:stretch>
            <a:fillRect/>
          </a:stretch>
        </p:blipFill>
        <p:spPr>
          <a:xfrm>
            <a:off x="13036296" y="6665976"/>
            <a:ext cx="384048" cy="384048"/>
          </a:xfrm>
          <a:prstGeom prst="rect">
            <a:avLst/>
          </a:prstGeom>
        </p:spPr>
      </p:pic>
      <p:sp>
        <p:nvSpPr>
          <p:cNvPr id="35" name="Text 26"/>
          <p:cNvSpPr txBox="1"/>
          <p:nvPr/>
        </p:nvSpPr>
        <p:spPr>
          <a:xfrm>
            <a:off x="13036296"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Where the control lives: the capability (ABB) and the product that delivers it (SBB).</a:t>
            </a:r>
            <a:endParaRPr lang="en-US" sz="1200" dirty="0"/>
          </a:p>
        </p:txBody>
      </p:sp>
      <p:pic>
        <p:nvPicPr>
          <p:cNvPr id="36" name="Image 7" descr="preencoded.png">    </p:cNvPr>
          <p:cNvPicPr>
            <a:picLocks noChangeAspect="1"/>
          </p:cNvPicPr>
          <p:nvPr/>
        </p:nvPicPr>
        <p:blipFill>
          <a:blip r:embed="rId8"/>
          <a:stretch>
            <a:fillRect/>
          </a:stretch>
        </p:blipFill>
        <p:spPr>
          <a:xfrm>
            <a:off x="15091664" y="6665976"/>
            <a:ext cx="384048" cy="384048"/>
          </a:xfrm>
          <a:prstGeom prst="rect">
            <a:avLst/>
          </a:prstGeom>
        </p:spPr>
      </p:pic>
      <p:sp>
        <p:nvSpPr>
          <p:cNvPr id="37" name="Text 27"/>
          <p:cNvSpPr txBox="1"/>
          <p:nvPr/>
        </p:nvSpPr>
        <p:spPr>
          <a:xfrm>
            <a:off x="15091664"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Proof the control exists and works. What auditors and supervisors ask to see.</a:t>
            </a:r>
            <a:endParaRPr lang="en-US" sz="1200" dirty="0"/>
          </a:p>
        </p:txBody>
      </p:sp>
      <p:pic>
        <p:nvPicPr>
          <p:cNvPr id="38" name="Image 8" descr="preencoded.png">    </p:cNvPr>
          <p:cNvPicPr>
            <a:picLocks noChangeAspect="1"/>
          </p:cNvPicPr>
          <p:nvPr/>
        </p:nvPicPr>
        <p:blipFill>
          <a:blip r:embed="rId9"/>
          <a:stretch>
            <a:fillRect/>
          </a:stretch>
        </p:blipFill>
        <p:spPr>
          <a:xfrm>
            <a:off x="17147032" y="6665976"/>
            <a:ext cx="384048" cy="384048"/>
          </a:xfrm>
          <a:prstGeom prst="rect">
            <a:avLst/>
          </a:prstGeom>
        </p:spPr>
      </p:pic>
      <p:sp>
        <p:nvSpPr>
          <p:cNvPr id="39" name="Text 28"/>
          <p:cNvSpPr txBox="1"/>
          <p:nvPr/>
        </p:nvSpPr>
        <p:spPr>
          <a:xfrm>
            <a:off x="17147032"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What remains after controls. Accepted, treated further or escalated.</a:t>
            </a:r>
            <a:endParaRPr lang="en-US" sz="1200" dirty="0"/>
          </a:p>
        </p:txBody>
      </p:sp>
      <p:sp>
        <p:nvSpPr>
          <p:cNvPr id="40" name="Text 29"/>
          <p:cNvSpPr txBox="1"/>
          <p:nvPr/>
        </p:nvSpPr>
        <p:spPr>
          <a:xfrm>
            <a:off x="667512" y="8311896"/>
            <a:ext cx="1600200" cy="329184"/>
          </a:xfrm>
          <a:prstGeom prst="rect">
            <a:avLst/>
          </a:prstGeom>
          <a:noFill/>
          <a:ln w="12700">
            <a:solidFill>
              <a:schemeClr val="tx1"/>
            </a:solidFill>
          </a:ln>
        </p:spPr>
        <p:txBody>
          <a:bodyPr wrap="square" lIns="0" tIns="0" rIns="0" bIns="0" rtlCol="0" anchor="ctr"/>
          <a:lstStyle/>
          <a:p>
            <a:pPr algn="ctr" indent="0" marL="0">
              <a:buNone/>
            </a:pPr>
            <a:r>
              <a:rPr lang="en-US" sz="1000" spc="250" kern="0" dirty="0">
                <a:solidFill>
                  <a:schemeClr val="tx1"/>
                </a:solidFill>
              </a:rPr>
              <a:t>WORKED EXAMPLE</a:t>
            </a:r>
            <a:endParaRPr lang="en-US" sz="1000" dirty="0"/>
          </a:p>
        </p:txBody>
      </p:sp>
      <p:sp>
        <p:nvSpPr>
          <p:cNvPr id="41" name="Text 30"/>
          <p:cNvSpPr txBox="1"/>
          <p:nvPr/>
        </p:nvSpPr>
        <p:spPr>
          <a:xfrm>
            <a:off x="2450592" y="8275320"/>
            <a:ext cx="8229600" cy="402336"/>
          </a:xfrm>
          <a:prstGeom prst="rect">
            <a:avLst/>
          </a:prstGeom>
          <a:noFill/>
          <a:ln/>
        </p:spPr>
        <p:txBody>
          <a:bodyPr wrap="square" lIns="0" tIns="0" rIns="0" bIns="0" rtlCol="0" anchor="ctr"/>
          <a:lstStyle/>
          <a:p>
            <a:pPr indent="0" marL="0">
              <a:buNone/>
            </a:pPr>
            <a:r>
              <a:rPr lang="en-US" sz="2200" b="1" dirty="0">
                <a:solidFill>
                  <a:schemeClr val="tx1"/>
                </a:solidFill>
                <a:latin typeface="+mj-lt" pitchFamily="34" charset="0"/>
                <a:ea typeface="+mj-lt" pitchFamily="34" charset="-122"/>
                <a:cs typeface="+mj-lt" pitchFamily="34" charset="-120"/>
              </a:rPr>
              <a:t>Credential stuffing attack on the customer portal</a:t>
            </a:r>
            <a:endParaRPr lang="en-US" sz="2200" dirty="0"/>
          </a:p>
        </p:txBody>
      </p:sp>
      <p:sp>
        <p:nvSpPr>
          <p:cNvPr id="42" name="Text 31"/>
          <p:cNvSpPr txBox="1"/>
          <p:nvPr/>
        </p:nvSpPr>
        <p:spPr>
          <a:xfrm>
            <a:off x="13048488" y="8311896"/>
            <a:ext cx="6400800" cy="329184"/>
          </a:xfrm>
          <a:prstGeom prst="rect">
            <a:avLst/>
          </a:prstGeom>
          <a:noFill/>
          <a:ln/>
        </p:spPr>
        <p:txBody>
          <a:bodyPr wrap="square" lIns="0" tIns="0" rIns="0" bIns="0" rtlCol="0" anchor="ctr"/>
          <a:lstStyle/>
          <a:p>
            <a:pPr algn="r" indent="0" marL="0">
              <a:buNone/>
            </a:pPr>
            <a:r>
              <a:rPr lang="en-US" sz="1200" dirty="0">
                <a:solidFill>
                  <a:schemeClr val="tx2"/>
                </a:solidFill>
              </a:rPr>
              <a:t>Inherent risk  </a:t>
            </a:r>
            <a:pPr algn="r" indent="0" marL="0">
              <a:buNone/>
            </a:pPr>
            <a:r>
              <a:rPr lang="en-US" sz="1200" b="1" dirty="0">
                <a:solidFill>
                  <a:schemeClr val="bg1"/>
                </a:solidFill>
                <a:highlight>
                  <a:srgbClr val="8F2F06"/>
                </a:highlight>
              </a:rPr>
              <a:t> 20 Critical </a:t>
            </a:r>
            <a:pPr algn="r" indent="0" marL="0">
              <a:buNone/>
            </a:pPr>
            <a:r>
              <a:rPr lang="en-US" sz="1200" dirty="0">
                <a:solidFill>
                  <a:schemeClr val="tx2"/>
                </a:solidFill>
              </a:rPr>
              <a:t>   →   Residual risk  </a:t>
            </a:r>
            <a:pPr algn="r" indent="0" marL="0">
              <a:buNone/>
            </a:pPr>
            <a:r>
              <a:rPr lang="en-US" sz="1200" b="1" dirty="0">
                <a:solidFill>
                  <a:schemeClr val="tx1"/>
                </a:solidFill>
                <a:highlight>
                  <a:srgbClr val="F4BF9A"/>
                </a:highlight>
              </a:rPr>
              <a:t> 6 Medium </a:t>
            </a:r>
            <a:endParaRPr lang="en-US" sz="1200" dirty="0"/>
          </a:p>
        </p:txBody>
      </p:sp>
      <p:sp>
        <p:nvSpPr>
          <p:cNvPr id="43" name="Example 01"/>
          <p:cNvSpPr txBox="1"/>
          <p:nvPr/>
        </p:nvSpPr>
        <p:spPr>
          <a:xfrm>
            <a:off x="667512"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1"/>
                </a:solidFill>
              </a:rPr>
              <a:t>01 THREAT</a:t>
            </a:r>
            <a:endParaRPr lang="en-US" sz="950" dirty="0"/>
          </a:p>
          <a:p>
            <a:pPr indent="0" marL="0">
              <a:spcAft>
                <a:spcPts val="500"/>
              </a:spcAft>
              <a:buNone/>
            </a:pPr>
            <a:r>
              <a:rPr lang="en-US" sz="1200" dirty="0">
                <a:solidFill>
                  <a:schemeClr val="tx1"/>
                </a:solidFill>
              </a:rPr>
              <a:t>Botnets replay breached username and password pairs against the login page.</a:t>
            </a:r>
            <a:endParaRPr lang="en-US" sz="950" dirty="0"/>
          </a:p>
        </p:txBody>
      </p:sp>
      <p:sp>
        <p:nvSpPr>
          <p:cNvPr id="44" name="Example 02"/>
          <p:cNvSpPr txBox="1"/>
          <p:nvPr/>
        </p:nvSpPr>
        <p:spPr>
          <a:xfrm>
            <a:off x="2722880"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1"/>
                </a:solidFill>
              </a:rPr>
              <a:t>02 VULNERABILITY</a:t>
            </a:r>
            <a:endParaRPr lang="en-US" sz="950" dirty="0"/>
          </a:p>
          <a:p>
            <a:pPr indent="0" marL="0">
              <a:spcAft>
                <a:spcPts val="500"/>
              </a:spcAft>
              <a:buNone/>
            </a:pPr>
            <a:r>
              <a:rPr lang="en-US" sz="1200" dirty="0">
                <a:solidFill>
                  <a:schemeClr val="tx1"/>
                </a:solidFill>
              </a:rPr>
              <a:t>The portal accepts a password alone, with no rate limiting. Customers reuse passwords.</a:t>
            </a:r>
            <a:endParaRPr lang="en-US" sz="950" dirty="0"/>
          </a:p>
        </p:txBody>
      </p:sp>
      <p:sp>
        <p:nvSpPr>
          <p:cNvPr id="45" name="Example 03"/>
          <p:cNvSpPr txBox="1"/>
          <p:nvPr/>
        </p:nvSpPr>
        <p:spPr>
          <a:xfrm>
            <a:off x="4778248"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1"/>
                </a:solidFill>
              </a:rPr>
              <a:t>03 RISK SCENARIO</a:t>
            </a:r>
            <a:endParaRPr lang="en-US" sz="950" dirty="0"/>
          </a:p>
          <a:p>
            <a:pPr indent="0" marL="0">
              <a:spcAft>
                <a:spcPts val="500"/>
              </a:spcAft>
              <a:buNone/>
            </a:pPr>
            <a:r>
              <a:rPr lang="en-US" sz="1200" dirty="0">
                <a:solidFill>
                  <a:schemeClr val="tx1"/>
                </a:solidFill>
              </a:rPr>
              <a:t>Leaked credentials unlock real accounts and attackers take them over. Likelihood 4, impact 5.</a:t>
            </a:r>
            <a:endParaRPr lang="en-US" sz="950" dirty="0"/>
          </a:p>
        </p:txBody>
      </p:sp>
      <p:sp>
        <p:nvSpPr>
          <p:cNvPr id="46" name="Example 04"/>
          <p:cNvSpPr txBox="1"/>
          <p:nvPr/>
        </p:nvSpPr>
        <p:spPr>
          <a:xfrm>
            <a:off x="6833616"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1"/>
                </a:solidFill>
              </a:rPr>
              <a:t>04 BUSINESS IMPACT</a:t>
            </a:r>
            <a:endParaRPr lang="en-US" sz="950" dirty="0"/>
          </a:p>
          <a:p>
            <a:pPr indent="0" marL="0">
              <a:spcAft>
                <a:spcPts val="500"/>
              </a:spcAft>
              <a:buNone/>
            </a:pPr>
            <a:r>
              <a:rPr lang="en-US" sz="1200" dirty="0">
                <a:solidFill>
                  <a:schemeClr val="tx1"/>
                </a:solidFill>
              </a:rPr>
              <a:t>Fraudulent payments, exposed personal data, a DORA major-incident report and a GDPR breach notification.</a:t>
            </a:r>
            <a:endParaRPr lang="en-US" sz="950" dirty="0"/>
          </a:p>
        </p:txBody>
      </p:sp>
      <p:sp>
        <p:nvSpPr>
          <p:cNvPr id="47" name="Example 05"/>
          <p:cNvSpPr txBox="1"/>
          <p:nvPr/>
        </p:nvSpPr>
        <p:spPr>
          <a:xfrm>
            <a:off x="8888984"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2"/>
                </a:solidFill>
              </a:rPr>
              <a:t>05 SECURITY REQUIREMENT</a:t>
            </a:r>
            <a:endParaRPr lang="en-US" sz="950" dirty="0"/>
          </a:p>
          <a:p>
            <a:pPr indent="0" marL="0">
              <a:spcAft>
                <a:spcPts val="500"/>
              </a:spcAft>
              <a:buNone/>
            </a:pPr>
            <a:r>
              <a:rPr lang="en-US" sz="1200" dirty="0">
                <a:solidFill>
                  <a:schemeClr val="tx1"/>
                </a:solidFill>
              </a:rPr>
              <a:t>Strong authentication on every externally exposed service. DORA Art. 9(4)(d).</a:t>
            </a:r>
            <a:endParaRPr lang="en-US" sz="950" dirty="0"/>
          </a:p>
        </p:txBody>
      </p:sp>
      <p:sp>
        <p:nvSpPr>
          <p:cNvPr id="48" name="Example 06"/>
          <p:cNvSpPr txBox="1"/>
          <p:nvPr/>
        </p:nvSpPr>
        <p:spPr>
          <a:xfrm>
            <a:off x="10944352"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2"/>
                </a:solidFill>
              </a:rPr>
              <a:t>06 SECURITY CONTROL</a:t>
            </a:r>
            <a:endParaRPr lang="en-US" sz="950" dirty="0"/>
          </a:p>
          <a:p>
            <a:pPr indent="0" marL="0">
              <a:spcAft>
                <a:spcPts val="500"/>
              </a:spcAft>
              <a:buNone/>
            </a:pPr>
            <a:r>
              <a:rPr lang="en-US" sz="1200" dirty="0">
                <a:solidFill>
                  <a:schemeClr val="tx1"/>
                </a:solidFill>
              </a:rPr>
              <a:t>CIS 6.3: MFA for externally exposed applications. CIS 13.10: application-layer filtering.</a:t>
            </a:r>
            <a:endParaRPr lang="en-US" sz="950" dirty="0"/>
          </a:p>
        </p:txBody>
      </p:sp>
      <p:sp>
        <p:nvSpPr>
          <p:cNvPr id="49" name="Example 07"/>
          <p:cNvSpPr txBox="1"/>
          <p:nvPr/>
        </p:nvSpPr>
        <p:spPr>
          <a:xfrm>
            <a:off x="12999720"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2"/>
                </a:solidFill>
              </a:rPr>
              <a:t>07 ARCHITECTURE</a:t>
            </a:r>
            <a:endParaRPr lang="en-US" sz="950" dirty="0"/>
          </a:p>
          <a:p>
            <a:pPr indent="0" marL="0">
              <a:spcAft>
                <a:spcPts val="500"/>
              </a:spcAft>
              <a:buNone/>
            </a:pPr>
            <a:r>
              <a:rPr lang="en-US" sz="1200" dirty="0">
                <a:solidFill>
                  <a:schemeClr val="tx1"/>
                </a:solidFill>
              </a:rPr>
              <a:t>ABB: identity provider, adaptive authentication, bot mitigation. SBB: IdP with passkeys, WAF bot manager.</a:t>
            </a:r>
            <a:endParaRPr lang="en-US" sz="950" dirty="0"/>
          </a:p>
        </p:txBody>
      </p:sp>
      <p:sp>
        <p:nvSpPr>
          <p:cNvPr id="50" name="Example 08"/>
          <p:cNvSpPr txBox="1"/>
          <p:nvPr/>
        </p:nvSpPr>
        <p:spPr>
          <a:xfrm>
            <a:off x="15055088"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2"/>
                </a:solidFill>
              </a:rPr>
              <a:t>08 EVIDENCE</a:t>
            </a:r>
            <a:endParaRPr lang="en-US" sz="950" dirty="0"/>
          </a:p>
          <a:p>
            <a:pPr indent="0" marL="0">
              <a:spcAft>
                <a:spcPts val="500"/>
              </a:spcAft>
              <a:buNone/>
            </a:pPr>
            <a:r>
              <a:rPr lang="en-US" sz="1200" dirty="0">
                <a:solidFill>
                  <a:schemeClr val="tx1"/>
                </a:solidFill>
              </a:rPr>
              <a:t>MFA enrolment report, conditional access policy export, blocked-attempt logs in the SIEM.</a:t>
            </a:r>
            <a:endParaRPr lang="en-US" sz="950" dirty="0"/>
          </a:p>
        </p:txBody>
      </p:sp>
      <p:sp>
        <p:nvSpPr>
          <p:cNvPr id="51" name="Example 09"/>
          <p:cNvSpPr txBox="1"/>
          <p:nvPr/>
        </p:nvSpPr>
        <p:spPr>
          <a:xfrm>
            <a:off x="17110456"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1"/>
                </a:solidFill>
              </a:rPr>
              <a:t>09 RESIDUAL RISK</a:t>
            </a:r>
            <a:endParaRPr lang="en-US" sz="950" dirty="0"/>
          </a:p>
          <a:p>
            <a:pPr indent="0" marL="0">
              <a:spcAft>
                <a:spcPts val="500"/>
              </a:spcAft>
              <a:buNone/>
            </a:pPr>
            <a:r>
              <a:rPr lang="en-US" sz="1200" dirty="0">
                <a:solidFill>
                  <a:schemeClr val="tx1"/>
                </a:solidFill>
              </a:rPr>
              <a:t>Likelihood 2, impact 3. Session-token theft and MFA fatigue remain. Accepted by the risk owner.</a:t>
            </a:r>
            <a:endParaRPr lang="en-US" sz="950" dirty="0"/>
          </a:p>
        </p:txBody>
      </p:sp>
      <p:sp>
        <p:nvSpPr>
          <p:cNvPr id="52" name="Text 41"/>
          <p:cNvSpPr txBox="1"/>
          <p:nvPr/>
        </p:nvSpPr>
        <p:spPr>
          <a:xfrm>
            <a:off x="667512" y="11109960"/>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1</a:t>
            </a:r>
            <a:endParaRPr lang="en-US" sz="1000" dirty="0"/>
          </a:p>
        </p:txBody>
      </p:sp>
      <p:sp>
        <p:nvSpPr>
          <p:cNvPr id="53" name="Text 42"/>
          <p:cNvSpPr txBox="1"/>
          <p:nvPr/>
        </p:nvSpPr>
        <p:spPr>
          <a:xfrm>
            <a:off x="667512" y="11347704"/>
            <a:ext cx="8686800" cy="457200"/>
          </a:xfrm>
          <a:prstGeom prst="rect">
            <a:avLst/>
          </a:prstGeom>
          <a:noFill/>
          <a:ln/>
        </p:spPr>
        <p:txBody>
          <a:bodyPr wrap="square" lIns="0" tIns="0" rIns="0" bIns="0" rtlCol="0" anchor="ctr"/>
          <a:lstStyle/>
          <a:p>
            <a:pPr indent="0" marL="0">
              <a:buNone/>
            </a:pPr>
            <a:r>
              <a:rPr lang="en-US" sz="2800" b="1" dirty="0">
                <a:solidFill>
                  <a:schemeClr val="tx1"/>
                </a:solidFill>
                <a:latin typeface="+mj-lt" pitchFamily="34" charset="0"/>
                <a:ea typeface="+mj-lt" pitchFamily="34" charset="-122"/>
                <a:cs typeface="+mj-lt" pitchFamily="34" charset="-120"/>
              </a:rPr>
              <a:t>Security control matrix</a:t>
            </a:r>
            <a:endParaRPr lang="en-US" sz="2800" dirty="0"/>
          </a:p>
        </p:txBody>
      </p:sp>
      <p:sp>
        <p:nvSpPr>
          <p:cNvPr id="54" name="Text 43"/>
          <p:cNvSpPr txBox="1"/>
          <p:nvPr/>
        </p:nvSpPr>
        <p:spPr>
          <a:xfrm>
            <a:off x="10853928" y="11128248"/>
            <a:ext cx="8595360" cy="694944"/>
          </a:xfrm>
          <a:prstGeom prst="rect">
            <a:avLst/>
          </a:prstGeom>
          <a:noFill/>
          <a:ln/>
        </p:spPr>
        <p:txBody>
          <a:bodyPr wrap="square" lIns="0" tIns="0" rIns="0" bIns="0" rtlCol="0" anchor="b"/>
          <a:lstStyle/>
          <a:p>
            <a:pPr algn="r" indent="0" marL="0">
              <a:buNone/>
            </a:pPr>
            <a:r>
              <a:rPr lang="en-US" sz="1200" dirty="0">
                <a:solidFill>
                  <a:schemeClr val="tx2"/>
                </a:solidFill>
              </a:rPr>
              <a:t>One row per risk scenario. Each row carries the full chain, so any control can be traced back to the threat that justifies it and forward to the evidence that proves it.</a:t>
            </a:r>
            <a:endParaRPr lang="en-US" sz="12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667512" y="12024360"/>
          <a:ext cx="15087600" cy="914400"/>
        </p:xfrm>
        <a:graphic>
          <a:graphicData uri="http://schemas.openxmlformats.org/drawingml/2006/table">
            <a:tbl>
              <a:tblPr/>
              <a:tblGrid>
                <a:gridCol w="838472"/>
                <a:gridCol w="1676944"/>
                <a:gridCol w="1760792"/>
                <a:gridCol w="1844639"/>
                <a:gridCol w="1760792"/>
                <a:gridCol w="1844639"/>
                <a:gridCol w="2012333"/>
                <a:gridCol w="1676944"/>
                <a:gridCol w="1844639"/>
                <a:gridCol w="1844639"/>
                <a:gridCol w="1676944"/>
              </a:tblGrid>
              <a:tr h="548640">
                <a:tc>
                  <a:txBody>
                    <a:bodyPr/>
                    <a:lstStyle/>
                    <a:p>
                      <a:pPr indent="0" marL="0">
                        <a:buNone/>
                      </a:pPr>
                      <a:r>
                        <a:rPr lang="en-US" sz="1200" b="1" dirty="0">
                          <a:solidFill>
                            <a:schemeClr val="bg1"/>
                          </a:solidFill>
                        </a:rPr>
                        <a:t>ID</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Threat</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Vulnerability / exposure</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Risk scenario</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Impact</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Security requirement</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00" b="1" dirty="0">
                          <a:solidFill>
                            <a:schemeClr val="bg1"/>
                          </a:solidFill>
                        </a:rPr>
                        <a:t>Control (CIS IG3)</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00" b="1" dirty="0">
                          <a:solidFill>
                            <a:schemeClr val="bg1"/>
                          </a:solidFill>
                        </a:rPr>
                        <a:t>ABB · Architecture building block</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00" b="1" dirty="0">
                          <a:solidFill>
                            <a:schemeClr val="bg1"/>
                          </a:solidFill>
                        </a:rPr>
                        <a:t>SBB · Technology solution building block</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00" b="1" dirty="0">
                          <a:solidFill>
                            <a:schemeClr val="bg1"/>
                          </a:solidFill>
                        </a:rPr>
                        <a:t>Evidence</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00" b="1" dirty="0">
                          <a:solidFill>
                            <a:schemeClr val="bg1"/>
                          </a:solidFill>
                        </a:rPr>
                        <a:t>Residual risk</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r>
              <a:tr h="1097280">
                <a:tc>
                  <a:txBody>
                    <a:bodyPr/>
                    <a:lstStyle/>
                    <a:p>
                      <a:pPr indent="0" marL="0">
                        <a:buNone/>
                      </a:pPr>
                      <a:r>
                        <a:rPr lang="en-US" sz="1200" b="1" dirty="0">
                          <a:solidFill>
                            <a:schemeClr val="tx1"/>
                          </a:solidFill>
                        </a:rPr>
                        <a:t>SCM-001</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Credential stuffing by botnets using breached username and password pairs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Internet-facing login accepts passwords alone. No rate limiting. Customers reuse passwords.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Leaked credentials are replayed against the customer portal and accounts are taken over.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Fraudulent payments, personal data breach, major-incident report under DORA Art. 19.</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Strong authentication on every externally exposed service.</a:t>
                      </a:r>
                      <a:endParaRPr lang="en-US" sz="1200" dirty="0"/>
                    </a:p>
                    <a:p>
                      <a:pPr indent="0" marL="0">
                        <a:buNone/>
                      </a:pPr>
                      <a:r>
                        <a:rPr lang="en-US" sz="1100" b="1" dirty="0">
                          <a:solidFill>
                            <a:schemeClr val="accent2"/>
                          </a:solidFill>
                        </a:rPr>
                        <a:t>DORA Art. 9(4)(d)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CIS 6.3</a:t>
                      </a:r>
                      <a:pPr indent="0" marL="0">
                        <a:buNone/>
                      </a:pPr>
                      <a:r>
                        <a:rPr lang="en-US" sz="1200" dirty="0">
                          <a:solidFill>
                            <a:schemeClr val="tx1"/>
                          </a:solidFill>
                        </a:rPr>
                        <a:t> MFA for externally exposed applications. </a:t>
                      </a:r>
                      <a:pPr indent="0" marL="0">
                        <a:buNone/>
                      </a:pPr>
                      <a:r>
                        <a:rPr lang="en-US" sz="1200" b="1" dirty="0">
                          <a:solidFill>
                            <a:schemeClr val="tx1"/>
                          </a:solidFill>
                        </a:rPr>
                        <a:t>CIS 13.10</a:t>
                      </a:r>
                      <a:pPr indent="0" marL="0">
                        <a:buNone/>
                      </a:pPr>
                      <a:r>
                        <a:rPr lang="en-US" sz="1200" dirty="0">
                          <a:solidFill>
                            <a:schemeClr val="tx1"/>
                          </a:solidFill>
                        </a:rPr>
                        <a:t> application-layer filtering.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Identity provider, adaptive authentication, bot mitigation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IdP with passkeys and conditional access (for example Entra ID), WAF bot manager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MFA enrolment report, conditional access policy export, blocked-attempt logs in SIEM</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500" b="1" dirty="0">
                          <a:solidFill>
                            <a:schemeClr val="tx1"/>
                          </a:solidFill>
                        </a:rPr>
                        <a:t>20 → 6</a:t>
                      </a:r>
                      <a:endParaRPr lang="en-US" sz="1200" dirty="0"/>
                    </a:p>
                    <a:p>
                      <a:pPr indent="0" marL="0">
                        <a:buNone/>
                      </a:pPr>
                      <a:r>
                        <a:rPr lang="en-US" sz="1100" b="1" dirty="0">
                          <a:solidFill>
                            <a:schemeClr val="accent1"/>
                          </a:solidFill>
                        </a:rPr>
                        <a:t>Critical to Medium</a:t>
                      </a:r>
                      <a:endParaRPr lang="en-US" sz="1200" dirty="0"/>
                    </a:p>
                    <a:p>
                      <a:pPr indent="0" marL="0">
                        <a:buNone/>
                      </a:pPr>
                      <a:r>
                        <a:rPr lang="en-US" sz="1200" dirty="0">
                          <a:solidFill>
                            <a:schemeClr val="tx1"/>
                          </a:solidFill>
                        </a:rPr>
                        <a:t>Session-token theft and MFA fatigue remain.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1097280">
                <a:tc>
                  <a:txBody>
                    <a:bodyPr/>
                    <a:lstStyle/>
                    <a:p>
                      <a:pPr indent="0" marL="0">
                        <a:buNone/>
                      </a:pPr>
                      <a:r>
                        <a:rPr lang="en-US" sz="1200" b="1" dirty="0">
                          <a:solidFill>
                            <a:schemeClr val="tx1"/>
                          </a:solidFill>
                        </a:rPr>
                        <a:t>SCM-002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Ransomware operator encrypting servers and backups for extortion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Flat network, unpatched servers, backups reachable from the production domain.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 phished workstation leads to domain-wide encryption. Payment services stop.</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Critical function down beyond its tolerance. Recovery cost. Art. 19 major incident.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Segregated, restorable backups and tested recovery.</a:t>
                      </a:r>
                      <a:endParaRPr lang="en-US" sz="1200" dirty="0"/>
                    </a:p>
                    <a:p>
                      <a:pPr indent="0" marL="0">
                        <a:buNone/>
                      </a:pPr>
                      <a:r>
                        <a:rPr lang="en-US" sz="1100" b="1" dirty="0">
                          <a:solidFill>
                            <a:schemeClr val="accent2"/>
                          </a:solidFill>
                        </a:rPr>
                        <a:t>DORA Art. 11, Art. 12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CIS 11.3</a:t>
                      </a:r>
                      <a:pPr indent="0" marL="0">
                        <a:buNone/>
                      </a:pPr>
                      <a:r>
                        <a:rPr lang="en-US" sz="1200" dirty="0">
                          <a:solidFill>
                            <a:schemeClr val="tx1"/>
                          </a:solidFill>
                        </a:rPr>
                        <a:t> protect recovery data. </a:t>
                      </a:r>
                      <a:pPr indent="0" marL="0">
                        <a:buNone/>
                      </a:pPr>
                      <a:r>
                        <a:rPr lang="en-US" sz="1200" b="1" dirty="0">
                          <a:solidFill>
                            <a:schemeClr val="tx1"/>
                          </a:solidFill>
                        </a:rPr>
                        <a:t>CIS 11.4</a:t>
                      </a:r>
                      <a:pPr indent="0" marL="0">
                        <a:buNone/>
                      </a:pPr>
                      <a:r>
                        <a:rPr lang="en-US" sz="1200" dirty="0">
                          <a:solidFill>
                            <a:schemeClr val="tx1"/>
                          </a:solidFill>
                        </a:rPr>
                        <a:t> isolated copy. </a:t>
                      </a:r>
                      <a:pPr indent="0" marL="0">
                        <a:buNone/>
                      </a:pPr>
                      <a:r>
                        <a:rPr lang="en-US" sz="1200" b="1" dirty="0">
                          <a:solidFill>
                            <a:schemeClr val="tx1"/>
                          </a:solidFill>
                        </a:rPr>
                        <a:t>CIS 11.5</a:t>
                      </a:r>
                      <a:pPr indent="0" marL="0">
                        <a:buNone/>
                      </a:pPr>
                      <a:r>
                        <a:rPr lang="en-US" sz="1200" dirty="0">
                          <a:solidFill>
                            <a:schemeClr val="tx1"/>
                          </a:solidFill>
                        </a:rPr>
                        <a:t> test recovery. </a:t>
                      </a:r>
                      <a:pPr indent="0" marL="0">
                        <a:buNone/>
                      </a:pPr>
                      <a:r>
                        <a:rPr lang="en-US" sz="1200" b="1" dirty="0">
                          <a:solidFill>
                            <a:schemeClr val="tx1"/>
                          </a:solidFill>
                        </a:rPr>
                        <a:t>CIS 10.7</a:t>
                      </a:r>
                      <a:pPr indent="0" marL="0">
                        <a:buNone/>
                      </a:pPr>
                      <a:r>
                        <a:rPr lang="en-US" sz="1200" dirty="0">
                          <a:solidFill>
                            <a:schemeClr val="tx1"/>
                          </a:solidFill>
                        </a:rPr>
                        <a:t> behaviour-based anti-malware.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Backup and recovery, endpoint detection, network segmentation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Immutable backup vault, EDR agent, segmentation firewall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Restore test report against RTO and RPO, EDR coverage report, segmentation rule review</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500" b="1" dirty="0">
                          <a:solidFill>
                            <a:schemeClr val="tx1"/>
                          </a:solidFill>
                        </a:rPr>
                        <a:t>15 → 6</a:t>
                      </a:r>
                      <a:endParaRPr lang="en-US" sz="1200" dirty="0"/>
                    </a:p>
                    <a:p>
                      <a:pPr indent="0" marL="0">
                        <a:buNone/>
                      </a:pPr>
                      <a:r>
                        <a:rPr lang="en-US" sz="1100" b="1" dirty="0">
                          <a:solidFill>
                            <a:schemeClr val="accent1"/>
                          </a:solidFill>
                        </a:rPr>
                        <a:t>High to Medium</a:t>
                      </a:r>
                      <a:endParaRPr lang="en-US" sz="1200" dirty="0"/>
                    </a:p>
                    <a:p>
                      <a:pPr indent="0" marL="0">
                        <a:buNone/>
                      </a:pPr>
                      <a:r>
                        <a:rPr lang="en-US" sz="1200" dirty="0">
                          <a:solidFill>
                            <a:schemeClr val="tx1"/>
                          </a:solidFill>
                        </a:rPr>
                        <a:t>Zero-day entry and insider help remain.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1097280">
                <a:tc>
                  <a:txBody>
                    <a:bodyPr/>
                    <a:lstStyle/>
                    <a:p>
                      <a:pPr indent="0" marL="0">
                        <a:buNone/>
                      </a:pPr>
                      <a:r>
                        <a:rPr lang="en-US" sz="1200" b="1" dirty="0">
                          <a:solidFill>
                            <a:schemeClr val="tx1"/>
                          </a:solidFill>
                        </a:rPr>
                        <a:t>SCM-003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Outage or compromise at a critical ICT third-party provider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Concentration on one cloud provider. No exit plan. Weak contract clauses.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The provider fails and a critical or important function has no fallback.</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Service outage, supervisory findings, contractual and regulatory exposure.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Third-party ICT risk managed through the contract lifecycle, with exit strategies.</a:t>
                      </a:r>
                      <a:endParaRPr lang="en-US" sz="1200" dirty="0"/>
                    </a:p>
                    <a:p>
                      <a:pPr indent="0" marL="0">
                        <a:buNone/>
                      </a:pPr>
                      <a:r>
                        <a:rPr lang="en-US" sz="1100" b="1" dirty="0">
                          <a:solidFill>
                            <a:schemeClr val="accent2"/>
                          </a:solidFill>
                        </a:rPr>
                        <a:t>DORA Art. 28, Art. 30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CIS 15.1</a:t>
                      </a:r>
                      <a:pPr indent="0" marL="0">
                        <a:buNone/>
                      </a:pPr>
                      <a:r>
                        <a:rPr lang="en-US" sz="1200" dirty="0">
                          <a:solidFill>
                            <a:schemeClr val="tx1"/>
                          </a:solidFill>
                        </a:rPr>
                        <a:t> provider inventory. </a:t>
                      </a:r>
                      <a:pPr indent="0" marL="0">
                        <a:buNone/>
                      </a:pPr>
                      <a:r>
                        <a:rPr lang="en-US" sz="1200" b="1" dirty="0">
                          <a:solidFill>
                            <a:schemeClr val="tx1"/>
                          </a:solidFill>
                        </a:rPr>
                        <a:t>CIS 15.4</a:t>
                      </a:r>
                      <a:pPr indent="0" marL="0">
                        <a:buNone/>
                      </a:pPr>
                      <a:r>
                        <a:rPr lang="en-US" sz="1200" dirty="0">
                          <a:solidFill>
                            <a:schemeClr val="tx1"/>
                          </a:solidFill>
                        </a:rPr>
                        <a:t> security in contracts. </a:t>
                      </a:r>
                      <a:pPr indent="0" marL="0">
                        <a:buNone/>
                      </a:pPr>
                      <a:r>
                        <a:rPr lang="en-US" sz="1200" b="1" dirty="0">
                          <a:solidFill>
                            <a:schemeClr val="tx1"/>
                          </a:solidFill>
                        </a:rPr>
                        <a:t>CIS 15.6</a:t>
                      </a:r>
                      <a:pPr indent="0" marL="0">
                        <a:buNone/>
                      </a:pPr>
                      <a:r>
                        <a:rPr lang="en-US" sz="1200" dirty="0">
                          <a:solidFill>
                            <a:schemeClr val="tx1"/>
                          </a:solidFill>
                        </a:rPr>
                        <a:t> monitor providers. </a:t>
                      </a:r>
                      <a:pPr indent="0" marL="0">
                        <a:buNone/>
                      </a:pPr>
                      <a:r>
                        <a:rPr lang="en-US" sz="1200" b="1" dirty="0">
                          <a:solidFill>
                            <a:schemeClr val="tx1"/>
                          </a:solidFill>
                        </a:rPr>
                        <a:t>CIS 15.7</a:t>
                      </a:r>
                      <a:pPr indent="0" marL="0">
                        <a:buNone/>
                      </a:pPr>
                      <a:r>
                        <a:rPr lang="en-US" sz="1200" dirty="0">
                          <a:solidFill>
                            <a:schemeClr val="tx1"/>
                          </a:solidFill>
                        </a:rPr>
                        <a:t> secure decommissioning.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Supplier governance, register of information, exit and portability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Third-party risk platform, contract repository, secondary region or provider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Register of information (Art. 28(3)), contract clause checklist, exit test results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500" b="1" dirty="0">
                          <a:solidFill>
                            <a:schemeClr val="tx1"/>
                          </a:solidFill>
                        </a:rPr>
                        <a:t>12 → 8</a:t>
                      </a:r>
                      <a:endParaRPr lang="en-US" sz="1200" dirty="0"/>
                    </a:p>
                    <a:p>
                      <a:pPr indent="0" marL="0">
                        <a:buNone/>
                      </a:pPr>
                      <a:r>
                        <a:rPr lang="en-US" sz="1100" b="1" dirty="0">
                          <a:solidFill>
                            <a:schemeClr val="accent1"/>
                          </a:solidFill>
                        </a:rPr>
                        <a:t>High to Medium</a:t>
                      </a:r>
                      <a:endParaRPr lang="en-US" sz="1200" dirty="0"/>
                    </a:p>
                    <a:p>
                      <a:pPr indent="0" marL="0">
                        <a:buNone/>
                      </a:pPr>
                      <a:r>
                        <a:rPr lang="en-US" sz="1200" dirty="0">
                          <a:solidFill>
                            <a:schemeClr val="tx1"/>
                          </a:solidFill>
                        </a:rPr>
                        <a:t>Concentration risk persists.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1097280">
                <a:tc>
                  <a:txBody>
                    <a:bodyPr/>
                    <a:lstStyle/>
                    <a:p>
                      <a:pPr indent="0" marL="0">
                        <a:buNone/>
                      </a:pPr>
                      <a:r>
                        <a:rPr lang="en-US" sz="1200" b="1" dirty="0">
                          <a:solidFill>
                            <a:schemeClr val="tx1"/>
                          </a:solidFill>
                        </a:rPr>
                        <a:t>SCM-004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Insider or intruder abusing administrator credentials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Standing admin rights, shared accounts, no session recording.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 compromised admin account alters payment system settings without detection.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Integrity loss in a critical function, fraud, data breach.</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Least privilege and controlled privileged access.</a:t>
                      </a:r>
                      <a:endParaRPr lang="en-US" sz="1200" dirty="0"/>
                    </a:p>
                    <a:p>
                      <a:pPr indent="0" marL="0">
                        <a:buNone/>
                      </a:pPr>
                      <a:r>
                        <a:rPr lang="en-US" sz="1100" b="1" dirty="0">
                          <a:solidFill>
                            <a:schemeClr val="accent2"/>
                          </a:solidFill>
                        </a:rPr>
                        <a:t>DORA Art. 9(4)(c), RTS 2024/1774 Art. 21</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CIS 5.4</a:t>
                      </a:r>
                      <a:pPr indent="0" marL="0">
                        <a:buNone/>
                      </a:pPr>
                      <a:r>
                        <a:rPr lang="en-US" sz="1200" dirty="0">
                          <a:solidFill>
                            <a:schemeClr val="tx1"/>
                          </a:solidFill>
                        </a:rPr>
                        <a:t> dedicated admin accounts. </a:t>
                      </a:r>
                      <a:pPr indent="0" marL="0">
                        <a:buNone/>
                      </a:pPr>
                      <a:r>
                        <a:rPr lang="en-US" sz="1200" b="1" dirty="0">
                          <a:solidFill>
                            <a:schemeClr val="tx1"/>
                          </a:solidFill>
                        </a:rPr>
                        <a:t>CIS 6.5</a:t>
                      </a:r>
                      <a:pPr indent="0" marL="0">
                        <a:buNone/>
                      </a:pPr>
                      <a:r>
                        <a:rPr lang="en-US" sz="1200" dirty="0">
                          <a:solidFill>
                            <a:schemeClr val="tx1"/>
                          </a:solidFill>
                        </a:rPr>
                        <a:t> MFA for admin access. </a:t>
                      </a:r>
                      <a:pPr indent="0" marL="0">
                        <a:buNone/>
                      </a:pPr>
                      <a:r>
                        <a:rPr lang="en-US" sz="1200" b="1" dirty="0">
                          <a:solidFill>
                            <a:schemeClr val="tx1"/>
                          </a:solidFill>
                        </a:rPr>
                        <a:t>CIS 6.8</a:t>
                      </a:r>
                      <a:pPr indent="0" marL="0">
                        <a:buNone/>
                      </a:pPr>
                      <a:r>
                        <a:rPr lang="en-US" sz="1200" dirty="0">
                          <a:solidFill>
                            <a:schemeClr val="tx1"/>
                          </a:solidFill>
                        </a:rPr>
                        <a:t> role-based access control. </a:t>
                      </a:r>
                      <a:pPr indent="0" marL="0">
                        <a:buNone/>
                      </a:pPr>
                      <a:r>
                        <a:rPr lang="en-US" sz="1200" b="1" dirty="0">
                          <a:solidFill>
                            <a:schemeClr val="tx1"/>
                          </a:solidFill>
                        </a:rPr>
                        <a:t>CIS 12.8</a:t>
                      </a:r>
                      <a:pPr indent="0" marL="0">
                        <a:buNone/>
                      </a:pPr>
                      <a:r>
                        <a:rPr lang="en-US" sz="1200" dirty="0">
                          <a:solidFill>
                            <a:schemeClr val="tx1"/>
                          </a:solidFill>
                        </a:rPr>
                        <a:t> admin workstations.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Privileged access management, RBAC, privileged access workstations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PAM vault with just-in-time elevation, hardened admin workstations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Access recertification records, PAM session logs, role catalogue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500" b="1" dirty="0">
                          <a:solidFill>
                            <a:schemeClr val="tx1"/>
                          </a:solidFill>
                        </a:rPr>
                        <a:t>15 → 4</a:t>
                      </a:r>
                      <a:endParaRPr lang="en-US" sz="1200" dirty="0"/>
                    </a:p>
                    <a:p>
                      <a:pPr indent="0" marL="0">
                        <a:buNone/>
                      </a:pPr>
                      <a:r>
                        <a:rPr lang="en-US" sz="1100" b="1" dirty="0">
                          <a:solidFill>
                            <a:schemeClr val="accent1"/>
                          </a:solidFill>
                        </a:rPr>
                        <a:t>High to Low</a:t>
                      </a:r>
                      <a:endParaRPr lang="en-US" sz="1200" dirty="0"/>
                    </a:p>
                    <a:p>
                      <a:pPr indent="0" marL="0">
                        <a:buNone/>
                      </a:pPr>
                      <a:r>
                        <a:rPr lang="en-US" sz="1200" dirty="0">
                          <a:solidFill>
                            <a:schemeClr val="tx1"/>
                          </a:solidFill>
                        </a:rPr>
                        <a:t>Collusion between administrators remains.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1097280">
                <a:tc>
                  <a:txBody>
                    <a:bodyPr/>
                    <a:lstStyle/>
                    <a:p>
                      <a:pPr indent="0" marL="0">
                        <a:buNone/>
                      </a:pPr>
                      <a:r>
                        <a:rPr lang="en-US" sz="1200" b="1" dirty="0">
                          <a:solidFill>
                            <a:schemeClr val="tx1"/>
                          </a:solidFill>
                        </a:rPr>
                        <a:t>SCM-005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Exploitation of a known vulnerability in an internet-facing system</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Incomplete asset inventory, patching outside SLA, end-of-life software.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An unpatched VPN gateway is exploited and gives a foothold in the internal network.</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Network intrusion, data theft, service disruption.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Vulnerabilities identified, prioritised and remediated on time.</a:t>
                      </a:r>
                      <a:endParaRPr lang="en-US" sz="1200" dirty="0"/>
                    </a:p>
                    <a:p>
                      <a:pPr indent="0" marL="0">
                        <a:buNone/>
                      </a:pPr>
                      <a:r>
                        <a:rPr lang="en-US" sz="1100" b="1" dirty="0">
                          <a:solidFill>
                            <a:schemeClr val="accent2"/>
                          </a:solidFill>
                        </a:rPr>
                        <a:t>DORA Art. 9(4)(f), RTS 2024/1774 Art. 10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CIS 1.1</a:t>
                      </a:r>
                      <a:pPr indent="0" marL="0">
                        <a:buNone/>
                      </a:pPr>
                      <a:r>
                        <a:rPr lang="en-US" sz="1200" dirty="0">
                          <a:solidFill>
                            <a:schemeClr val="tx1"/>
                          </a:solidFill>
                        </a:rPr>
                        <a:t> asset inventory. </a:t>
                      </a:r>
                      <a:pPr indent="0" marL="0">
                        <a:buNone/>
                      </a:pPr>
                      <a:r>
                        <a:rPr lang="en-US" sz="1200" b="1" dirty="0">
                          <a:solidFill>
                            <a:schemeClr val="tx1"/>
                          </a:solidFill>
                        </a:rPr>
                        <a:t>CIS 7.4</a:t>
                      </a:r>
                      <a:pPr indent="0" marL="0">
                        <a:buNone/>
                      </a:pPr>
                      <a:r>
                        <a:rPr lang="en-US" sz="1200" dirty="0">
                          <a:solidFill>
                            <a:schemeClr val="tx1"/>
                          </a:solidFill>
                        </a:rPr>
                        <a:t> automated patching. </a:t>
                      </a:r>
                      <a:pPr indent="0" marL="0">
                        <a:buNone/>
                      </a:pPr>
                      <a:r>
                        <a:rPr lang="en-US" sz="1200" b="1" dirty="0">
                          <a:solidFill>
                            <a:schemeClr val="tx1"/>
                          </a:solidFill>
                        </a:rPr>
                        <a:t>CIS 7.6</a:t>
                      </a:r>
                      <a:pPr indent="0" marL="0">
                        <a:buNone/>
                      </a:pPr>
                      <a:r>
                        <a:rPr lang="en-US" sz="1200" dirty="0">
                          <a:solidFill>
                            <a:schemeClr val="tx1"/>
                          </a:solidFill>
                        </a:rPr>
                        <a:t> external vulnerability scans. </a:t>
                      </a:r>
                      <a:pPr indent="0" marL="0">
                        <a:buNone/>
                      </a:pPr>
                      <a:r>
                        <a:rPr lang="en-US" sz="1200" b="1" dirty="0">
                          <a:solidFill>
                            <a:schemeClr val="tx1"/>
                          </a:solidFill>
                        </a:rPr>
                        <a:t>CIS 7.7</a:t>
                      </a:r>
                      <a:pPr indent="0" marL="0">
                        <a:buNone/>
                      </a:pPr>
                      <a:r>
                        <a:rPr lang="en-US" sz="1200" dirty="0">
                          <a:solidFill>
                            <a:schemeClr val="tx1"/>
                          </a:solidFill>
                        </a:rPr>
                        <a:t> remediation.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Asset management, vulnerability management, patch orchestration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CMDB, vulnerability scanner, patch management tooling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Scan reports, patch SLA dashboard, exception register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500" b="1" dirty="0">
                          <a:solidFill>
                            <a:schemeClr val="tx1"/>
                          </a:solidFill>
                        </a:rPr>
                        <a:t>16 → 6</a:t>
                      </a:r>
                      <a:endParaRPr lang="en-US" sz="1200" dirty="0"/>
                    </a:p>
                    <a:p>
                      <a:pPr indent="0" marL="0">
                        <a:buNone/>
                      </a:pPr>
                      <a:r>
                        <a:rPr lang="en-US" sz="1100" b="1" dirty="0">
                          <a:solidFill>
                            <a:schemeClr val="accent1"/>
                          </a:solidFill>
                        </a:rPr>
                        <a:t>Critical to Medium</a:t>
                      </a:r>
                      <a:endParaRPr lang="en-US" sz="1200" dirty="0"/>
                    </a:p>
                    <a:p>
                      <a:pPr indent="0" marL="0">
                        <a:buNone/>
                      </a:pPr>
                      <a:r>
                        <a:rPr lang="en-US" sz="1200" dirty="0">
                          <a:solidFill>
                            <a:schemeClr val="tx1"/>
                          </a:solidFill>
                        </a:rPr>
                        <a:t>Zero-day vulnerabilities remain.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2920">
                <a:tc>
                  <a:txBody>
                    <a:bodyPr/>
                    <a:lstStyle/>
                    <a:p>
                      <a:pPr indent="0" marL="0">
                        <a:buNone/>
                      </a:pPr>
                      <a:r>
                        <a:rPr lang="en-US" sz="1200" b="1" dirty="0">
                          <a:solidFill>
                            <a:schemeClr val="tx2"/>
                          </a:solidFill>
                        </a:rPr>
                        <a:t>SCM-0NN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i="1" dirty="0">
                          <a:solidFill>
                            <a:schemeClr val="tx2"/>
                          </a:solidFill>
                        </a:rPr>
                        <a:t>[Your threat]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i="1" dirty="0">
                          <a:solidFill>
                            <a:schemeClr val="tx2"/>
                          </a:solidFill>
                        </a:rPr>
                        <a:t>[Weakness or exposure]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i="1" dirty="0">
                          <a:solidFill>
                            <a:schemeClr val="tx2"/>
                          </a:solidFill>
                        </a:rPr>
                        <a:t>[Threat exploits vulnerability]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i="1" dirty="0">
                          <a:solidFill>
                            <a:schemeClr val="tx2"/>
                          </a:solidFill>
                        </a:rPr>
                        <a:t>[Business consequence]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i="1" dirty="0">
                          <a:solidFill>
                            <a:schemeClr val="tx2"/>
                          </a:solidFill>
                        </a:rPr>
                        <a:t>[What must be true, with DORA article]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i="1" dirty="0">
                          <a:solidFill>
                            <a:schemeClr val="tx2"/>
                          </a:solidFill>
                        </a:rPr>
                        <a:t>[CIS safeguard numbers]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i="1" dirty="0">
                          <a:solidFill>
                            <a:schemeClr val="tx2"/>
                          </a:solidFill>
                        </a:rPr>
                        <a:t>[Capability]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i="1" dirty="0">
                          <a:solidFill>
                            <a:schemeClr val="tx2"/>
                          </a:solidFill>
                        </a:rPr>
                        <a:t>[Product or technology]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i="1" dirty="0">
                          <a:solidFill>
                            <a:schemeClr val="tx2"/>
                          </a:solidFill>
                        </a:rPr>
                        <a:t>[Proof of design and operation]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i="1" dirty="0">
                          <a:solidFill>
                            <a:schemeClr val="tx2"/>
                          </a:solidFill>
                        </a:rPr>
                        <a:t>[Score before → after]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56" name="Text 44"/>
          <p:cNvSpPr txBox="1"/>
          <p:nvPr/>
        </p:nvSpPr>
        <p:spPr>
          <a:xfrm>
            <a:off x="667512" y="19339560"/>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2</a:t>
            </a:r>
            <a:endParaRPr lang="en-US" sz="1000" dirty="0"/>
          </a:p>
        </p:txBody>
      </p:sp>
      <p:sp>
        <p:nvSpPr>
          <p:cNvPr id="57" name="Text 45"/>
          <p:cNvSpPr txBox="1"/>
          <p:nvPr/>
        </p:nvSpPr>
        <p:spPr>
          <a:xfrm>
            <a:off x="667512" y="19577304"/>
            <a:ext cx="8686800" cy="457200"/>
          </a:xfrm>
          <a:prstGeom prst="rect">
            <a:avLst/>
          </a:prstGeom>
          <a:noFill/>
          <a:ln/>
        </p:spPr>
        <p:txBody>
          <a:bodyPr wrap="square" lIns="0" tIns="0" rIns="0" bIns="0" rtlCol="0" anchor="ctr"/>
          <a:lstStyle/>
          <a:p>
            <a:pPr indent="0" marL="0">
              <a:buNone/>
            </a:pPr>
            <a:r>
              <a:rPr lang="en-US" sz="2800" b="1" dirty="0">
                <a:solidFill>
                  <a:schemeClr val="tx1"/>
                </a:solidFill>
                <a:latin typeface="+mj-lt" pitchFamily="34" charset="0"/>
                <a:ea typeface="+mj-lt" pitchFamily="34" charset="-122"/>
                <a:cs typeface="+mj-lt" pitchFamily="34" charset="-120"/>
              </a:rPr>
              <a:t>Security architecture layers</a:t>
            </a:r>
            <a:endParaRPr lang="en-US" sz="2800" dirty="0"/>
          </a:p>
        </p:txBody>
      </p:sp>
      <p:sp>
        <p:nvSpPr>
          <p:cNvPr id="58" name="Text 46"/>
          <p:cNvSpPr txBox="1"/>
          <p:nvPr/>
        </p:nvSpPr>
        <p:spPr>
          <a:xfrm>
            <a:off x="10241280" y="19339560"/>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3</a:t>
            </a:r>
            <a:endParaRPr lang="en-US" sz="1000" dirty="0"/>
          </a:p>
        </p:txBody>
      </p:sp>
      <p:sp>
        <p:nvSpPr>
          <p:cNvPr id="59" name="Text 47"/>
          <p:cNvSpPr txBox="1"/>
          <p:nvPr/>
        </p:nvSpPr>
        <p:spPr>
          <a:xfrm>
            <a:off x="10241280" y="19577304"/>
            <a:ext cx="8686800" cy="457200"/>
          </a:xfrm>
          <a:prstGeom prst="rect">
            <a:avLst/>
          </a:prstGeom>
          <a:noFill/>
          <a:ln/>
        </p:spPr>
        <p:txBody>
          <a:bodyPr wrap="square" lIns="0" tIns="0" rIns="0" bIns="0" rtlCol="0" anchor="ctr"/>
          <a:lstStyle/>
          <a:p>
            <a:pPr indent="0" marL="0">
              <a:buNone/>
            </a:pPr>
            <a:r>
              <a:rPr lang="en-US" sz="2800" b="1" dirty="0">
                <a:solidFill>
                  <a:schemeClr val="tx1"/>
                </a:solidFill>
                <a:latin typeface="+mj-lt" pitchFamily="34" charset="0"/>
                <a:ea typeface="+mj-lt" pitchFamily="34" charset="-122"/>
                <a:cs typeface="+mj-lt" pitchFamily="34" charset="-120"/>
              </a:rPr>
              <a:t>Control types · Defense in depth</a:t>
            </a:r>
            <a:endParaRPr lang="en-US" sz="2800" dirty="0"/>
          </a:p>
        </p:txBody>
      </p:sp>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667512" y="20253960"/>
          <a:ext cx="15087600" cy="914400"/>
        </p:xfrm>
        <a:graphic>
          <a:graphicData uri="http://schemas.openxmlformats.org/drawingml/2006/table">
            <a:tbl>
              <a:tblPr/>
              <a:tblGrid>
                <a:gridCol w="2011680"/>
                <a:gridCol w="7196328"/>
              </a:tblGrid>
              <a:tr h="384048">
                <a:tc>
                  <a:txBody>
                    <a:bodyPr/>
                    <a:lstStyle/>
                    <a:p>
                      <a:pPr indent="0" marL="0">
                        <a:buNone/>
                      </a:pPr>
                      <a:r>
                        <a:rPr lang="en-US" sz="1200" b="1" dirty="0">
                          <a:solidFill>
                            <a:schemeClr val="bg1"/>
                          </a:solidFill>
                        </a:rPr>
                        <a:t>Layer</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Building blocks</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457200">
                <a:tc>
                  <a:txBody>
                    <a:bodyPr/>
                    <a:lstStyle/>
                    <a:p>
                      <a:pPr indent="0" marL="0">
                        <a:buNone/>
                      </a:pPr>
                      <a:r>
                        <a:rPr lang="en-US" sz="1200" b="1" dirty="0">
                          <a:solidFill>
                            <a:schemeClr val="tx1"/>
                          </a:solidFill>
                        </a:rPr>
                        <a:t>Governance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Policies, ICT risk register, control ownership, exceptions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Identity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MFA, RBAC, PAM, SSO, conditional access, joiner-mover-leaver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Endpoint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EDR, CIS Benchmark hardening, patching, disk encryption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Network</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Segmentation, firewalls, ZTNA, IDS and IPS, DDoS protection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Application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WAF, API gateway, SAST and DAST, secrets management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Data</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Classification, encryption, key management, DLP</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Monitoring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SIEM, SOAR, UEBA, threat intelligence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Resilience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Immutable backup, disaster recovery, continuity tests, TLPT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Third party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Register of information, contract clauses, exit plans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graphicFrame>
        <p:nvGraphicFramePr>
          <p:cNvPr id="4" name="Table 2"/>
          <p:cNvGraphicFramePr>
            <a:graphicFrameLocks noGrp="1"/>
          </p:cNvGraphicFramePr>
          <p:nvPr>
            <p:extLst>
              <p:ext uri="{D42A27DB-BD31-4B8C-83A1-F6EECF244321}">
                <p14:modId xmlns:p14="http://schemas.microsoft.com/office/powerpoint/2010/main" val="1579011935"/>
              </p:ext>
            </p:extLst>
          </p:nvPr>
        </p:nvGraphicFramePr>
        <p:xfrm>
          <a:off x="10241280" y="20253960"/>
          <a:ext cx="15087600" cy="914400"/>
        </p:xfrm>
        <a:graphic>
          <a:graphicData uri="http://schemas.openxmlformats.org/drawingml/2006/table">
            <a:tbl>
              <a:tblPr/>
              <a:tblGrid>
                <a:gridCol w="1737360"/>
                <a:gridCol w="3291840"/>
                <a:gridCol w="4178808"/>
              </a:tblGrid>
              <a:tr h="384048">
                <a:tc>
                  <a:txBody>
                    <a:bodyPr/>
                    <a:lstStyle/>
                    <a:p>
                      <a:pPr indent="0" marL="0">
                        <a:buNone/>
                      </a:pPr>
                      <a:r>
                        <a:rPr lang="en-US" sz="1200" b="1" dirty="0">
                          <a:solidFill>
                            <a:schemeClr val="bg1"/>
                          </a:solidFill>
                        </a:rPr>
                        <a:t>Type</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does</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Credential stuffing example</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585216">
                <a:tc>
                  <a:txBody>
                    <a:bodyPr/>
                    <a:lstStyle/>
                    <a:p>
                      <a:pPr indent="0" marL="0">
                        <a:buNone/>
                      </a:pPr>
                      <a:r>
                        <a:rPr lang="en-US" sz="1200" b="1" dirty="0">
                          <a:solidFill>
                            <a:schemeClr val="tx1"/>
                          </a:solidFill>
                        </a:rPr>
                        <a:t>Directive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Sets the rule people and systems must follow.</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Authentication policy that mandates MFA.</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85216">
                <a:tc>
                  <a:txBody>
                    <a:bodyPr/>
                    <a:lstStyle/>
                    <a:p>
                      <a:pPr indent="0" marL="0">
                        <a:buNone/>
                      </a:pPr>
                      <a:r>
                        <a:rPr lang="en-US" sz="1200" b="1" dirty="0">
                          <a:solidFill>
                            <a:schemeClr val="tx1"/>
                          </a:solidFill>
                        </a:rPr>
                        <a:t>Deterrent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Raises the cost of trying.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CAPTCHA and progressive login delays.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85216">
                <a:tc>
                  <a:txBody>
                    <a:bodyPr/>
                    <a:lstStyle/>
                    <a:p>
                      <a:pPr indent="0" marL="0">
                        <a:buNone/>
                      </a:pPr>
                      <a:r>
                        <a:rPr lang="en-US" sz="1200" b="1" dirty="0">
                          <a:solidFill>
                            <a:schemeClr val="tx1"/>
                          </a:solidFill>
                        </a:rPr>
                        <a:t>Preventive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Stops the event from happening.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MFA, breached-password screening, rate limiting.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85216">
                <a:tc>
                  <a:txBody>
                    <a:bodyPr/>
                    <a:lstStyle/>
                    <a:p>
                      <a:pPr indent="0" marL="0">
                        <a:buNone/>
                      </a:pPr>
                      <a:r>
                        <a:rPr lang="en-US" sz="1200" b="1" dirty="0">
                          <a:solidFill>
                            <a:schemeClr val="tx1"/>
                          </a:solidFill>
                        </a:rPr>
                        <a:t>Detective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Spots the event when it happens.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SIEM alert on failed-login spikes and impossible travel.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85216">
                <a:tc>
                  <a:txBody>
                    <a:bodyPr/>
                    <a:lstStyle/>
                    <a:p>
                      <a:pPr indent="0" marL="0">
                        <a:buNone/>
                      </a:pPr>
                      <a:r>
                        <a:rPr lang="en-US" sz="1200" b="1" dirty="0">
                          <a:solidFill>
                            <a:schemeClr val="tx1"/>
                          </a:solidFill>
                        </a:rPr>
                        <a:t>Corrective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Limits damage and fixes the cause.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Forced password reset and session revocation.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85216">
                <a:tc>
                  <a:txBody>
                    <a:bodyPr/>
                    <a:lstStyle/>
                    <a:p>
                      <a:pPr indent="0" marL="0">
                        <a:buNone/>
                      </a:pPr>
                      <a:r>
                        <a:rPr lang="en-US" sz="1200" b="1" dirty="0">
                          <a:solidFill>
                            <a:schemeClr val="tx1"/>
                          </a:solidFill>
                        </a:rPr>
                        <a:t>Recovery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Restores normal service.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Account restoration and fraud reimbursement process.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85216">
                <a:tc>
                  <a:txBody>
                    <a:bodyPr/>
                    <a:lstStyle/>
                    <a:p>
                      <a:pPr indent="0" marL="0">
                        <a:buNone/>
                      </a:pPr>
                      <a:r>
                        <a:rPr lang="en-US" sz="1200" b="1" dirty="0">
                          <a:solidFill>
                            <a:schemeClr val="tx1"/>
                          </a:solidFill>
                        </a:rPr>
                        <a:t>Compensating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Covers a gap where the primary control is not feasible.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Transaction monitoring on a legacy channel that cannot support MFA.</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62" name="Text 48"/>
          <p:cNvSpPr txBox="1"/>
          <p:nvPr/>
        </p:nvSpPr>
        <p:spPr>
          <a:xfrm>
            <a:off x="667512" y="25530048"/>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4</a:t>
            </a:r>
            <a:endParaRPr lang="en-US" sz="1000" dirty="0"/>
          </a:p>
        </p:txBody>
      </p:sp>
      <p:sp>
        <p:nvSpPr>
          <p:cNvPr id="63" name="Text 49"/>
          <p:cNvSpPr txBox="1"/>
          <p:nvPr/>
        </p:nvSpPr>
        <p:spPr>
          <a:xfrm>
            <a:off x="667512" y="25767792"/>
            <a:ext cx="8686800" cy="457200"/>
          </a:xfrm>
          <a:prstGeom prst="rect">
            <a:avLst/>
          </a:prstGeom>
          <a:noFill/>
          <a:ln/>
        </p:spPr>
        <p:txBody>
          <a:bodyPr wrap="square" lIns="0" tIns="0" rIns="0" bIns="0" rtlCol="0" anchor="ctr"/>
          <a:lstStyle/>
          <a:p>
            <a:pPr indent="0" marL="0">
              <a:buNone/>
            </a:pPr>
            <a:r>
              <a:rPr lang="en-US" sz="2800" b="1" dirty="0">
                <a:solidFill>
                  <a:schemeClr val="tx1"/>
                </a:solidFill>
                <a:latin typeface="+mj-lt" pitchFamily="34" charset="0"/>
                <a:ea typeface="+mj-lt" pitchFamily="34" charset="-122"/>
                <a:cs typeface="+mj-lt" pitchFamily="34" charset="-120"/>
              </a:rPr>
              <a:t>Risk scoring · Hybrid model</a:t>
            </a:r>
            <a:endParaRPr lang="en-US" sz="2800" dirty="0"/>
          </a:p>
        </p:txBody>
      </p:sp>
      <p:sp>
        <p:nvSpPr>
          <p:cNvPr id="64" name="Text 50"/>
          <p:cNvSpPr txBox="1"/>
          <p:nvPr/>
        </p:nvSpPr>
        <p:spPr>
          <a:xfrm>
            <a:off x="10853928" y="25548336"/>
            <a:ext cx="8595360" cy="694944"/>
          </a:xfrm>
          <a:prstGeom prst="rect">
            <a:avLst/>
          </a:prstGeom>
          <a:noFill/>
          <a:ln/>
        </p:spPr>
        <p:txBody>
          <a:bodyPr wrap="square" lIns="0" tIns="0" rIns="0" bIns="0" rtlCol="0" anchor="b"/>
          <a:lstStyle/>
          <a:p>
            <a:pPr algn="r" indent="0" marL="0">
              <a:buNone/>
            </a:pPr>
            <a:r>
              <a:rPr lang="en-US" sz="1200" dirty="0">
                <a:solidFill>
                  <a:schemeClr val="tx2"/>
                </a:solidFill>
              </a:rPr>
              <a:t>Rate a scenario by descriptor, by numbers, or both. The two routes share one calibrated scale and land on the same four ratings. Every value here is an example: set the scales, bands and currency to your own risk appetite.</a:t>
            </a:r>
            <a:endParaRPr lang="en-US" sz="1200" dirty="0"/>
          </a:p>
        </p:txBody>
      </p:sp>
      <p:sp>
        <p:nvSpPr>
          <p:cNvPr id="65" name="Text 51"/>
          <p:cNvSpPr txBox="1"/>
          <p:nvPr/>
        </p:nvSpPr>
        <p:spPr>
          <a:xfrm>
            <a:off x="667512" y="26444448"/>
            <a:ext cx="7223760" cy="310896"/>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Step 1 · Calibrate the scales</a:t>
            </a:r>
            <a:endParaRPr lang="en-US" sz="1500" dirty="0"/>
          </a:p>
        </p:txBody>
      </p:sp>
      <p:sp>
        <p:nvSpPr>
          <p:cNvPr id="66" name="Text 52"/>
          <p:cNvSpPr txBox="1"/>
          <p:nvPr/>
        </p:nvSpPr>
        <p:spPr>
          <a:xfrm>
            <a:off x="8257032" y="26444448"/>
            <a:ext cx="5120640" cy="310896"/>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Step 2 · Score the scenario</a:t>
            </a:r>
            <a:endParaRPr lang="en-US" sz="1500" dirty="0"/>
          </a:p>
        </p:txBody>
      </p:sp>
      <p:sp>
        <p:nvSpPr>
          <p:cNvPr id="67" name="Text 53"/>
          <p:cNvSpPr txBox="1"/>
          <p:nvPr/>
        </p:nvSpPr>
        <p:spPr>
          <a:xfrm>
            <a:off x="13743432" y="26444448"/>
            <a:ext cx="5705856" cy="310896"/>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Step 3 · Rate and respond</a:t>
            </a:r>
            <a:endParaRPr lang="en-US" sz="1500" dirty="0"/>
          </a:p>
        </p:txBody>
      </p:sp>
      <p:graphicFrame>
        <p:nvGraphicFramePr>
          <p:cNvPr id="5" name="Table 3"/>
          <p:cNvGraphicFramePr>
            <a:graphicFrameLocks noGrp="1"/>
          </p:cNvGraphicFramePr>
          <p:nvPr>
            <p:extLst>
              <p:ext uri="{D42A27DB-BD31-4B8C-83A1-F6EECF244321}">
                <p14:modId xmlns:p14="http://schemas.microsoft.com/office/powerpoint/2010/main" val="1579011935"/>
              </p:ext>
            </p:extLst>
          </p:nvPr>
        </p:nvGraphicFramePr>
        <p:xfrm>
          <a:off x="667512" y="26855928"/>
          <a:ext cx="15087600" cy="914400"/>
        </p:xfrm>
        <a:graphic>
          <a:graphicData uri="http://schemas.openxmlformats.org/drawingml/2006/table">
            <a:tbl>
              <a:tblPr/>
              <a:tblGrid>
                <a:gridCol w="822960"/>
                <a:gridCol w="1554480"/>
                <a:gridCol w="1828800"/>
                <a:gridCol w="1371600"/>
                <a:gridCol w="1645920"/>
              </a:tblGrid>
              <a:tr h="365760">
                <a:tc>
                  <a:txBody>
                    <a:bodyPr/>
                    <a:lstStyle/>
                    <a:p>
                      <a:pPr indent="0" marL="0">
                        <a:buNone/>
                      </a:pP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gridSpan="2">
                  <a:txBody>
                    <a:bodyPr/>
                    <a:lstStyle/>
                    <a:p>
                      <a:pPr indent="0" marL="0">
                        <a:buNone/>
                      </a:pPr>
                      <a:r>
                        <a:rPr lang="en-US" sz="1200" b="1" dirty="0">
                          <a:solidFill>
                            <a:schemeClr val="bg1"/>
                          </a:solidFill>
                        </a:rPr>
                        <a:t>Likelihood</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hMerge="1">
                  <a:tcPr/>
                </a:tc>
                <a:tc gridSpan="2">
                  <a:txBody>
                    <a:bodyPr/>
                    <a:lstStyle/>
                    <a:p>
                      <a:pPr indent="0" marL="0">
                        <a:buNone/>
                      </a:pPr>
                      <a:r>
                        <a:rPr lang="en-US" sz="1200" b="1" dirty="0">
                          <a:solidFill>
                            <a:schemeClr val="bg1"/>
                          </a:solidFill>
                        </a:rPr>
                        <a:t>Impact</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hMerge="1">
                  <a:tcPr/>
                </a:tc>
              </a:tr>
              <a:tr h="548640">
                <a:tc>
                  <a:txBody>
                    <a:bodyPr/>
                    <a:lstStyle/>
                    <a:p>
                      <a:pPr indent="0" marL="0">
                        <a:buNone/>
                      </a:pPr>
                      <a:r>
                        <a:rPr lang="en-US" sz="1200" b="1" dirty="0">
                          <a:solidFill>
                            <a:schemeClr val="tx1"/>
                          </a:solidFill>
                        </a:rPr>
                        <a:t>Level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Qualitative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Quantitative: events a year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b="1" dirty="0">
                          <a:solidFill>
                            <a:schemeClr val="tx1"/>
                          </a:solidFill>
                        </a:rPr>
                        <a:t>Qualitative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Quantitative: loss per event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402336">
                <a:tc>
                  <a:txBody>
                    <a:bodyPr/>
                    <a:lstStyle/>
                    <a:p>
                      <a:pPr indent="0" marL="0">
                        <a:buNone/>
                      </a:pPr>
                      <a:r>
                        <a:rPr lang="en-US" sz="1200" b="1" dirty="0">
                          <a:solidFill>
                            <a:schemeClr val="tx1"/>
                          </a:solidFill>
                        </a:rPr>
                        <a:t>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Almost certain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More than 4 a year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Severe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Over €5M</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402336">
                <a:tc>
                  <a:txBody>
                    <a:bodyPr/>
                    <a:lstStyle/>
                    <a:p>
                      <a:pPr indent="0" marL="0">
                        <a:buNone/>
                      </a:pPr>
                      <a:r>
                        <a:rPr lang="en-US" sz="1200" b="1" dirty="0">
                          <a:solidFill>
                            <a:schemeClr val="tx1"/>
                          </a:solidFill>
                        </a:rPr>
                        <a:t>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Likely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 to 4 a year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Major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€1M to €5M</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402336">
                <a:tc>
                  <a:txBody>
                    <a:bodyPr/>
                    <a:lstStyle/>
                    <a:p>
                      <a:pPr indent="0" marL="0">
                        <a:buNone/>
                      </a:pPr>
                      <a:r>
                        <a:rPr lang="en-US" sz="1200" b="1" dirty="0">
                          <a:solidFill>
                            <a:schemeClr val="tx1"/>
                          </a:solidFill>
                        </a:rPr>
                        <a:t>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Possible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 in 1 to 3 years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Moderate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€250k to €1M</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402336">
                <a:tc>
                  <a:txBody>
                    <a:bodyPr/>
                    <a:lstStyle/>
                    <a:p>
                      <a:pPr indent="0" marL="0">
                        <a:buNone/>
                      </a:pPr>
                      <a:r>
                        <a:rPr lang="en-US" sz="1200" b="1" dirty="0">
                          <a:solidFill>
                            <a:schemeClr val="tx1"/>
                          </a:solidFill>
                        </a:rPr>
                        <a:t>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Unlikely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 in 3 to 10 years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Minor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€50k to €250k</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402336">
                <a:tc>
                  <a:txBody>
                    <a:bodyPr/>
                    <a:lstStyle/>
                    <a:p>
                      <a:pPr indent="0" marL="0">
                        <a:buNone/>
                      </a:pPr>
                      <a:r>
                        <a:rPr lang="en-US" sz="1200" b="1" dirty="0">
                          <a:solidFill>
                            <a:schemeClr val="tx1"/>
                          </a:solidFill>
                        </a:rPr>
                        <a:t>1</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Rare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Under 1 in 10 years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Negligible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Under €50k</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bl>
          </a:graphicData>
        </a:graphic>
      </p:graphicFrame>
      <p:sp>
        <p:nvSpPr>
          <p:cNvPr id="69" name="Text 54"/>
          <p:cNvSpPr txBox="1"/>
          <p:nvPr/>
        </p:nvSpPr>
        <p:spPr>
          <a:xfrm>
            <a:off x="667512" y="29919168"/>
            <a:ext cx="7223760" cy="457200"/>
          </a:xfrm>
          <a:prstGeom prst="rect">
            <a:avLst/>
          </a:prstGeom>
          <a:noFill/>
          <a:ln/>
        </p:spPr>
        <p:txBody>
          <a:bodyPr wrap="square" lIns="0" tIns="0" rIns="0" bIns="0" rtlCol="0" anchor="t"/>
          <a:lstStyle/>
          <a:p>
            <a:pPr indent="0" marL="0">
              <a:buNone/>
            </a:pPr>
            <a:r>
              <a:rPr lang="en-US" sz="1100" dirty="0">
                <a:solidFill>
                  <a:schemeClr val="tx2"/>
                </a:solidFill>
              </a:rPr>
              <a:t>Add the measures that matter to you, such as downtime against impact tolerance, clients affected or records exposed. Keep five levels so both routes stay aligned.</a:t>
            </a:r>
            <a:endParaRPr lang="en-US" sz="1100" dirty="0"/>
          </a:p>
        </p:txBody>
      </p:sp>
      <p:graphicFrame>
        <p:nvGraphicFramePr>
          <p:cNvPr id="6" name="Table 4"/>
          <p:cNvGraphicFramePr>
            <a:graphicFrameLocks noGrp="1"/>
          </p:cNvGraphicFramePr>
          <p:nvPr>
            <p:extLst>
              <p:ext uri="{D42A27DB-BD31-4B8C-83A1-F6EECF244321}">
                <p14:modId xmlns:p14="http://schemas.microsoft.com/office/powerpoint/2010/main" val="1579011935"/>
              </p:ext>
            </p:extLst>
          </p:nvPr>
        </p:nvGraphicFramePr>
        <p:xfrm>
          <a:off x="8257032" y="26855928"/>
          <a:ext cx="15087600" cy="914400"/>
        </p:xfrm>
        <a:graphic>
          <a:graphicData uri="http://schemas.openxmlformats.org/drawingml/2006/table">
            <a:tbl>
              <a:tblPr/>
              <a:tblGrid>
                <a:gridCol w="1463040"/>
                <a:gridCol w="731520"/>
                <a:gridCol w="731520"/>
                <a:gridCol w="731520"/>
                <a:gridCol w="731520"/>
                <a:gridCol w="731520"/>
              </a:tblGrid>
              <a:tr h="384048">
                <a:tc>
                  <a:txBody>
                    <a:bodyPr/>
                    <a:lstStyle/>
                    <a:p>
                      <a:pPr indent="0" marL="0">
                        <a:buNone/>
                      </a:pPr>
                      <a:r>
                        <a:rPr lang="en-US" sz="1050" dirty="0">
                          <a:solidFill>
                            <a:schemeClr val="tx2"/>
                          </a:solidFill>
                        </a:rPr>
                        <a:t>Likelihood / Impact</a:t>
                      </a:r>
                      <a:endParaRPr lang="en-US" sz="105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EEF1F4"/>
                    </a:solidFill>
                  </a:tcPr>
                </a:tc>
                <a:tc>
                  <a:txBody>
                    <a:bodyPr/>
                    <a:lstStyle/>
                    <a:p>
                      <a:pPr algn="ctr" indent="0" marL="0">
                        <a:buNone/>
                      </a:pPr>
                      <a:r>
                        <a:rPr lang="en-US" sz="1200" b="1" dirty="0">
                          <a:solidFill>
                            <a:schemeClr val="tx1"/>
                          </a:solidFill>
                        </a:rPr>
                        <a:t>1</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EEF1F4"/>
                    </a:solidFill>
                  </a:tcPr>
                </a:tc>
                <a:tc>
                  <a:txBody>
                    <a:bodyPr/>
                    <a:lstStyle/>
                    <a:p>
                      <a:pPr algn="ctr" indent="0" marL="0">
                        <a:buNone/>
                      </a:pPr>
                      <a:r>
                        <a:rPr lang="en-US" sz="1200" b="1" dirty="0">
                          <a:solidFill>
                            <a:schemeClr val="tx1"/>
                          </a:solidFill>
                        </a:rPr>
                        <a:t>2</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EEF1F4"/>
                    </a:solidFill>
                  </a:tcPr>
                </a:tc>
                <a:tc>
                  <a:txBody>
                    <a:bodyPr/>
                    <a:lstStyle/>
                    <a:p>
                      <a:pPr algn="ctr" indent="0" marL="0">
                        <a:buNone/>
                      </a:pPr>
                      <a:r>
                        <a:rPr lang="en-US" sz="1200" b="1" dirty="0">
                          <a:solidFill>
                            <a:schemeClr val="tx1"/>
                          </a:solidFill>
                        </a:rPr>
                        <a:t>3</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EEF1F4"/>
                    </a:solidFill>
                  </a:tcPr>
                </a:tc>
                <a:tc>
                  <a:txBody>
                    <a:bodyPr/>
                    <a:lstStyle/>
                    <a:p>
                      <a:pPr algn="ctr" indent="0" marL="0">
                        <a:buNone/>
                      </a:pPr>
                      <a:r>
                        <a:rPr lang="en-US" sz="1200" b="1" dirty="0">
                          <a:solidFill>
                            <a:schemeClr val="tx1"/>
                          </a:solidFill>
                        </a:rPr>
                        <a:t>4</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EEF1F4"/>
                    </a:solidFill>
                  </a:tcPr>
                </a:tc>
                <a:tc>
                  <a:txBody>
                    <a:bodyPr/>
                    <a:lstStyle/>
                    <a:p>
                      <a:pPr algn="ctr" indent="0" marL="0">
                        <a:buNone/>
                      </a:pPr>
                      <a:r>
                        <a:rPr lang="en-US" sz="1200" b="1" dirty="0">
                          <a:solidFill>
                            <a:schemeClr val="tx1"/>
                          </a:solidFill>
                        </a:rPr>
                        <a:t>5</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EEF1F4"/>
                    </a:solidFill>
                  </a:tcPr>
                </a:tc>
              </a:tr>
              <a:tr h="384048">
                <a:tc>
                  <a:txBody>
                    <a:bodyPr/>
                    <a:lstStyle/>
                    <a:p>
                      <a:pPr indent="0" marL="0">
                        <a:buNone/>
                      </a:pPr>
                      <a:r>
                        <a:rPr lang="en-US" sz="1200" dirty="0">
                          <a:solidFill>
                            <a:schemeClr val="tx1"/>
                          </a:solidFill>
                        </a:rPr>
                        <a:t>5 Almost certain</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EEF1F4"/>
                    </a:solidFill>
                  </a:tcPr>
                </a:tc>
                <a:tc>
                  <a:txBody>
                    <a:bodyPr/>
                    <a:lstStyle/>
                    <a:p>
                      <a:pPr algn="ctr" indent="0" marL="0">
                        <a:buNone/>
                      </a:pPr>
                      <a:r>
                        <a:rPr lang="en-US" sz="1200" dirty="0">
                          <a:solidFill>
                            <a:schemeClr val="tx1"/>
                          </a:solidFill>
                        </a:rPr>
                        <a:t>5</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F4BF9A"/>
                    </a:solidFill>
                  </a:tcPr>
                </a:tc>
                <a:tc>
                  <a:txBody>
                    <a:bodyPr/>
                    <a:lstStyle/>
                    <a:p>
                      <a:pPr algn="ctr" indent="0" marL="0">
                        <a:buNone/>
                      </a:pPr>
                      <a:r>
                        <a:rPr lang="en-US" sz="1200" dirty="0">
                          <a:solidFill>
                            <a:schemeClr val="tx1"/>
                          </a:solidFill>
                        </a:rPr>
                        <a:t>10</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5"/>
                    </a:solidFill>
                  </a:tcPr>
                </a:tc>
                <a:tc>
                  <a:txBody>
                    <a:bodyPr/>
                    <a:lstStyle/>
                    <a:p>
                      <a:pPr algn="ctr" indent="0" marL="0">
                        <a:buNone/>
                      </a:pPr>
                      <a:r>
                        <a:rPr lang="en-US" sz="1200" dirty="0">
                          <a:solidFill>
                            <a:schemeClr val="tx1"/>
                          </a:solidFill>
                        </a:rPr>
                        <a:t>15</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5"/>
                    </a:solidFill>
                  </a:tcPr>
                </a:tc>
                <a:tc>
                  <a:txBody>
                    <a:bodyPr/>
                    <a:lstStyle/>
                    <a:p>
                      <a:pPr algn="ctr" indent="0" marL="0">
                        <a:buNone/>
                      </a:pPr>
                      <a:r>
                        <a:rPr lang="en-US" sz="1200" dirty="0">
                          <a:solidFill>
                            <a:schemeClr val="bg1"/>
                          </a:solidFill>
                        </a:rPr>
                        <a:t>20</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6"/>
                    </a:solidFill>
                  </a:tcPr>
                </a:tc>
                <a:tc>
                  <a:txBody>
                    <a:bodyPr/>
                    <a:lstStyle/>
                    <a:p>
                      <a:pPr algn="ctr" indent="0" marL="0">
                        <a:buNone/>
                      </a:pPr>
                      <a:r>
                        <a:rPr lang="en-US" sz="1200" dirty="0">
                          <a:solidFill>
                            <a:schemeClr val="bg1"/>
                          </a:solidFill>
                        </a:rPr>
                        <a:t>25</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6"/>
                    </a:solidFill>
                  </a:tcPr>
                </a:tc>
              </a:tr>
              <a:tr h="384048">
                <a:tc>
                  <a:txBody>
                    <a:bodyPr/>
                    <a:lstStyle/>
                    <a:p>
                      <a:pPr indent="0" marL="0">
                        <a:buNone/>
                      </a:pPr>
                      <a:r>
                        <a:rPr lang="en-US" sz="1200" dirty="0">
                          <a:solidFill>
                            <a:schemeClr val="tx1"/>
                          </a:solidFill>
                        </a:rPr>
                        <a:t>4 Likely</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EEF1F4"/>
                    </a:solidFill>
                  </a:tcPr>
                </a:tc>
                <a:tc>
                  <a:txBody>
                    <a:bodyPr/>
                    <a:lstStyle/>
                    <a:p>
                      <a:pPr algn="ctr" indent="0" marL="0">
                        <a:buNone/>
                      </a:pPr>
                      <a:r>
                        <a:rPr lang="en-US" sz="1200" dirty="0">
                          <a:solidFill>
                            <a:schemeClr val="tx1"/>
                          </a:solidFill>
                        </a:rPr>
                        <a:t>4</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3"/>
                    </a:solidFill>
                  </a:tcPr>
                </a:tc>
                <a:tc>
                  <a:txBody>
                    <a:bodyPr/>
                    <a:lstStyle/>
                    <a:p>
                      <a:pPr algn="ctr" indent="0" marL="0">
                        <a:buNone/>
                      </a:pPr>
                      <a:r>
                        <a:rPr lang="en-US" sz="1200" dirty="0">
                          <a:solidFill>
                            <a:schemeClr val="tx1"/>
                          </a:solidFill>
                        </a:rPr>
                        <a:t>8</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F4BF9A"/>
                    </a:solidFill>
                  </a:tcPr>
                </a:tc>
                <a:tc>
                  <a:txBody>
                    <a:bodyPr/>
                    <a:lstStyle/>
                    <a:p>
                      <a:pPr algn="ctr" indent="0" marL="0">
                        <a:buNone/>
                      </a:pPr>
                      <a:r>
                        <a:rPr lang="en-US" sz="1200" dirty="0">
                          <a:solidFill>
                            <a:schemeClr val="tx1"/>
                          </a:solidFill>
                        </a:rPr>
                        <a:t>12</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5"/>
                    </a:solidFill>
                  </a:tcPr>
                </a:tc>
                <a:tc>
                  <a:txBody>
                    <a:bodyPr/>
                    <a:lstStyle/>
                    <a:p>
                      <a:pPr algn="ctr" indent="0" marL="0">
                        <a:buNone/>
                      </a:pPr>
                      <a:r>
                        <a:rPr lang="en-US" sz="1200" dirty="0">
                          <a:solidFill>
                            <a:schemeClr val="bg1"/>
                          </a:solidFill>
                        </a:rPr>
                        <a:t>16</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6"/>
                    </a:solidFill>
                  </a:tcPr>
                </a:tc>
                <a:tc>
                  <a:txBody>
                    <a:bodyPr/>
                    <a:lstStyle/>
                    <a:p>
                      <a:pPr algn="ctr" indent="0" marL="0">
                        <a:buNone/>
                      </a:pPr>
                      <a:r>
                        <a:rPr lang="en-US" sz="1300" b="1" dirty="0">
                          <a:solidFill>
                            <a:schemeClr val="bg1"/>
                          </a:solidFill>
                        </a:rPr>
                        <a:t>20</a:t>
                      </a:r>
                      <a:endParaRPr lang="en-US" sz="1300" dirty="0"/>
                    </a:p>
                  </a:txBody>
                  <a:tcPr marL="54864" marR="54864" marT="18288" marB="18288" anchor="ctr">
                    <a:lnL w="38100" cap="flat" cmpd="sng" algn="ctr">
                      <a:solidFill>
                        <a:srgbClr val="0E1C2A"/>
                      </a:solidFill>
                      <a:prstDash val="solid"/>
                      <a:round/>
                      <a:headEnd type="none" w="med" len="med"/>
                      <a:tailEnd type="none" w="med" len="med"/>
                    </a:lnL>
                    <a:lnR w="38100" cap="flat" cmpd="sng" algn="ctr">
                      <a:solidFill>
                        <a:srgbClr val="0E1C2A"/>
                      </a:solidFill>
                      <a:prstDash val="solid"/>
                      <a:round/>
                      <a:headEnd type="none" w="med" len="med"/>
                      <a:tailEnd type="none" w="med" len="med"/>
                    </a:lnR>
                    <a:lnT w="38100" cap="flat" cmpd="sng" algn="ctr">
                      <a:solidFill>
                        <a:srgbClr val="0E1C2A"/>
                      </a:solidFill>
                      <a:prstDash val="solid"/>
                      <a:round/>
                      <a:headEnd type="none" w="med" len="med"/>
                      <a:tailEnd type="none" w="med" len="med"/>
                    </a:lnT>
                    <a:lnB w="38100" cap="flat" cmpd="sng" algn="ctr">
                      <a:solidFill>
                        <a:srgbClr val="0E1C2A"/>
                      </a:solidFill>
                      <a:prstDash val="solid"/>
                      <a:round/>
                      <a:headEnd type="none" w="med" len="med"/>
                      <a:tailEnd type="none" w="med" len="med"/>
                    </a:lnB>
                    <a:solidFill>
                      <a:schemeClr val="accent6"/>
                    </a:solidFill>
                  </a:tcPr>
                </a:tc>
              </a:tr>
              <a:tr h="384048">
                <a:tc>
                  <a:txBody>
                    <a:bodyPr/>
                    <a:lstStyle/>
                    <a:p>
                      <a:pPr indent="0" marL="0">
                        <a:buNone/>
                      </a:pPr>
                      <a:r>
                        <a:rPr lang="en-US" sz="1200" dirty="0">
                          <a:solidFill>
                            <a:schemeClr val="tx1"/>
                          </a:solidFill>
                        </a:rPr>
                        <a:t>3 Possible</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EEF1F4"/>
                    </a:solidFill>
                  </a:tcPr>
                </a:tc>
                <a:tc>
                  <a:txBody>
                    <a:bodyPr/>
                    <a:lstStyle/>
                    <a:p>
                      <a:pPr algn="ctr" indent="0" marL="0">
                        <a:buNone/>
                      </a:pPr>
                      <a:r>
                        <a:rPr lang="en-US" sz="1200" dirty="0">
                          <a:solidFill>
                            <a:schemeClr val="tx1"/>
                          </a:solidFill>
                        </a:rPr>
                        <a:t>3</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3"/>
                    </a:solidFill>
                  </a:tcPr>
                </a:tc>
                <a:tc>
                  <a:txBody>
                    <a:bodyPr/>
                    <a:lstStyle/>
                    <a:p>
                      <a:pPr algn="ctr" indent="0" marL="0">
                        <a:buNone/>
                      </a:pPr>
                      <a:r>
                        <a:rPr lang="en-US" sz="1200" dirty="0">
                          <a:solidFill>
                            <a:schemeClr val="tx1"/>
                          </a:solidFill>
                        </a:rPr>
                        <a:t>6</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F4BF9A"/>
                    </a:solidFill>
                  </a:tcPr>
                </a:tc>
                <a:tc>
                  <a:txBody>
                    <a:bodyPr/>
                    <a:lstStyle/>
                    <a:p>
                      <a:pPr algn="ctr" indent="0" marL="0">
                        <a:buNone/>
                      </a:pPr>
                      <a:r>
                        <a:rPr lang="en-US" sz="1200" dirty="0">
                          <a:solidFill>
                            <a:schemeClr val="tx1"/>
                          </a:solidFill>
                        </a:rPr>
                        <a:t>9</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F4BF9A"/>
                    </a:solidFill>
                  </a:tcPr>
                </a:tc>
                <a:tc>
                  <a:txBody>
                    <a:bodyPr/>
                    <a:lstStyle/>
                    <a:p>
                      <a:pPr algn="ctr" indent="0" marL="0">
                        <a:buNone/>
                      </a:pPr>
                      <a:r>
                        <a:rPr lang="en-US" sz="1200" dirty="0">
                          <a:solidFill>
                            <a:schemeClr val="tx1"/>
                          </a:solidFill>
                        </a:rPr>
                        <a:t>12</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5"/>
                    </a:solidFill>
                  </a:tcPr>
                </a:tc>
                <a:tc>
                  <a:txBody>
                    <a:bodyPr/>
                    <a:lstStyle/>
                    <a:p>
                      <a:pPr algn="ctr" indent="0" marL="0">
                        <a:buNone/>
                      </a:pPr>
                      <a:r>
                        <a:rPr lang="en-US" sz="1200" dirty="0">
                          <a:solidFill>
                            <a:schemeClr val="tx1"/>
                          </a:solidFill>
                        </a:rPr>
                        <a:t>15</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5"/>
                    </a:solidFill>
                  </a:tcPr>
                </a:tc>
              </a:tr>
              <a:tr h="384048">
                <a:tc>
                  <a:txBody>
                    <a:bodyPr/>
                    <a:lstStyle/>
                    <a:p>
                      <a:pPr indent="0" marL="0">
                        <a:buNone/>
                      </a:pPr>
                      <a:r>
                        <a:rPr lang="en-US" sz="1200" dirty="0">
                          <a:solidFill>
                            <a:schemeClr val="tx1"/>
                          </a:solidFill>
                        </a:rPr>
                        <a:t>2 Unlikely</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EEF1F4"/>
                    </a:solidFill>
                  </a:tcPr>
                </a:tc>
                <a:tc>
                  <a:txBody>
                    <a:bodyPr/>
                    <a:lstStyle/>
                    <a:p>
                      <a:pPr algn="ctr" indent="0" marL="0">
                        <a:buNone/>
                      </a:pPr>
                      <a:r>
                        <a:rPr lang="en-US" sz="1200" dirty="0">
                          <a:solidFill>
                            <a:schemeClr val="tx1"/>
                          </a:solidFill>
                        </a:rPr>
                        <a:t>2</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3"/>
                    </a:solidFill>
                  </a:tcPr>
                </a:tc>
                <a:tc>
                  <a:txBody>
                    <a:bodyPr/>
                    <a:lstStyle/>
                    <a:p>
                      <a:pPr algn="ctr" indent="0" marL="0">
                        <a:buNone/>
                      </a:pPr>
                      <a:r>
                        <a:rPr lang="en-US" sz="1200" dirty="0">
                          <a:solidFill>
                            <a:schemeClr val="tx1"/>
                          </a:solidFill>
                        </a:rPr>
                        <a:t>4</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3"/>
                    </a:solidFill>
                  </a:tcPr>
                </a:tc>
                <a:tc>
                  <a:txBody>
                    <a:bodyPr/>
                    <a:lstStyle/>
                    <a:p>
                      <a:pPr algn="ctr" indent="0" marL="0">
                        <a:buNone/>
                      </a:pPr>
                      <a:r>
                        <a:rPr lang="en-US" sz="1300" b="1" dirty="0">
                          <a:solidFill>
                            <a:schemeClr val="tx1"/>
                          </a:solidFill>
                        </a:rPr>
                        <a:t>6</a:t>
                      </a:r>
                      <a:endParaRPr lang="en-US" sz="1300" dirty="0"/>
                    </a:p>
                  </a:txBody>
                  <a:tcPr marL="54864" marR="54864" marT="18288" marB="18288" anchor="ctr">
                    <a:lnL w="38100" cap="flat" cmpd="sng" algn="ctr">
                      <a:solidFill>
                        <a:srgbClr val="0E1C2A"/>
                      </a:solidFill>
                      <a:prstDash val="solid"/>
                      <a:round/>
                      <a:headEnd type="none" w="med" len="med"/>
                      <a:tailEnd type="none" w="med" len="med"/>
                    </a:lnL>
                    <a:lnR w="38100" cap="flat" cmpd="sng" algn="ctr">
                      <a:solidFill>
                        <a:srgbClr val="0E1C2A"/>
                      </a:solidFill>
                      <a:prstDash val="solid"/>
                      <a:round/>
                      <a:headEnd type="none" w="med" len="med"/>
                      <a:tailEnd type="none" w="med" len="med"/>
                    </a:lnR>
                    <a:lnT w="38100" cap="flat" cmpd="sng" algn="ctr">
                      <a:solidFill>
                        <a:srgbClr val="0E1C2A"/>
                      </a:solidFill>
                      <a:prstDash val="solid"/>
                      <a:round/>
                      <a:headEnd type="none" w="med" len="med"/>
                      <a:tailEnd type="none" w="med" len="med"/>
                    </a:lnT>
                    <a:lnB w="38100" cap="flat" cmpd="sng" algn="ctr">
                      <a:solidFill>
                        <a:srgbClr val="0E1C2A"/>
                      </a:solidFill>
                      <a:prstDash val="solid"/>
                      <a:round/>
                      <a:headEnd type="none" w="med" len="med"/>
                      <a:tailEnd type="none" w="med" len="med"/>
                    </a:lnB>
                    <a:solidFill>
                      <a:srgbClr val="F4BF9A"/>
                    </a:solidFill>
                  </a:tcPr>
                </a:tc>
                <a:tc>
                  <a:txBody>
                    <a:bodyPr/>
                    <a:lstStyle/>
                    <a:p>
                      <a:pPr algn="ctr" indent="0" marL="0">
                        <a:buNone/>
                      </a:pPr>
                      <a:r>
                        <a:rPr lang="en-US" sz="1200" dirty="0">
                          <a:solidFill>
                            <a:schemeClr val="tx1"/>
                          </a:solidFill>
                        </a:rPr>
                        <a:t>8</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F4BF9A"/>
                    </a:solidFill>
                  </a:tcPr>
                </a:tc>
                <a:tc>
                  <a:txBody>
                    <a:bodyPr/>
                    <a:lstStyle/>
                    <a:p>
                      <a:pPr algn="ctr" indent="0" marL="0">
                        <a:buNone/>
                      </a:pPr>
                      <a:r>
                        <a:rPr lang="en-US" sz="1200" dirty="0">
                          <a:solidFill>
                            <a:schemeClr val="tx1"/>
                          </a:solidFill>
                        </a:rPr>
                        <a:t>10</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5"/>
                    </a:solidFill>
                  </a:tcPr>
                </a:tc>
              </a:tr>
              <a:tr h="384048">
                <a:tc>
                  <a:txBody>
                    <a:bodyPr/>
                    <a:lstStyle/>
                    <a:p>
                      <a:pPr indent="0" marL="0">
                        <a:buNone/>
                      </a:pPr>
                      <a:r>
                        <a:rPr lang="en-US" sz="1200" dirty="0">
                          <a:solidFill>
                            <a:schemeClr val="tx1"/>
                          </a:solidFill>
                        </a:rPr>
                        <a:t>1 Rare</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EEF1F4"/>
                    </a:solidFill>
                  </a:tcPr>
                </a:tc>
                <a:tc>
                  <a:txBody>
                    <a:bodyPr/>
                    <a:lstStyle/>
                    <a:p>
                      <a:pPr algn="ctr" indent="0" marL="0">
                        <a:buNone/>
                      </a:pPr>
                      <a:r>
                        <a:rPr lang="en-US" sz="1200" dirty="0">
                          <a:solidFill>
                            <a:schemeClr val="tx1"/>
                          </a:solidFill>
                        </a:rPr>
                        <a:t>1</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3"/>
                    </a:solidFill>
                  </a:tcPr>
                </a:tc>
                <a:tc>
                  <a:txBody>
                    <a:bodyPr/>
                    <a:lstStyle/>
                    <a:p>
                      <a:pPr algn="ctr" indent="0" marL="0">
                        <a:buNone/>
                      </a:pPr>
                      <a:r>
                        <a:rPr lang="en-US" sz="1200" dirty="0">
                          <a:solidFill>
                            <a:schemeClr val="tx1"/>
                          </a:solidFill>
                        </a:rPr>
                        <a:t>2</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3"/>
                    </a:solidFill>
                  </a:tcPr>
                </a:tc>
                <a:tc>
                  <a:txBody>
                    <a:bodyPr/>
                    <a:lstStyle/>
                    <a:p>
                      <a:pPr algn="ctr" indent="0" marL="0">
                        <a:buNone/>
                      </a:pPr>
                      <a:r>
                        <a:rPr lang="en-US" sz="1200" dirty="0">
                          <a:solidFill>
                            <a:schemeClr val="tx1"/>
                          </a:solidFill>
                        </a:rPr>
                        <a:t>3</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3"/>
                    </a:solidFill>
                  </a:tcPr>
                </a:tc>
                <a:tc>
                  <a:txBody>
                    <a:bodyPr/>
                    <a:lstStyle/>
                    <a:p>
                      <a:pPr algn="ctr" indent="0" marL="0">
                        <a:buNone/>
                      </a:pPr>
                      <a:r>
                        <a:rPr lang="en-US" sz="1200" dirty="0">
                          <a:solidFill>
                            <a:schemeClr val="tx1"/>
                          </a:solidFill>
                        </a:rPr>
                        <a:t>4</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3"/>
                    </a:solidFill>
                  </a:tcPr>
                </a:tc>
                <a:tc>
                  <a:txBody>
                    <a:bodyPr/>
                    <a:lstStyle/>
                    <a:p>
                      <a:pPr algn="ctr" indent="0" marL="0">
                        <a:buNone/>
                      </a:pPr>
                      <a:r>
                        <a:rPr lang="en-US" sz="1200" dirty="0">
                          <a:solidFill>
                            <a:schemeClr val="tx1"/>
                          </a:solidFill>
                        </a:rPr>
                        <a:t>5</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F4BF9A"/>
                    </a:solidFill>
                  </a:tcPr>
                </a:tc>
              </a:tr>
            </a:tbl>
          </a:graphicData>
        </a:graphic>
      </p:graphicFrame>
      <p:sp>
        <p:nvSpPr>
          <p:cNvPr id="71" name="Text 55"/>
          <p:cNvSpPr txBox="1"/>
          <p:nvPr/>
        </p:nvSpPr>
        <p:spPr>
          <a:xfrm>
            <a:off x="8257032" y="29251656"/>
            <a:ext cx="5120640" cy="228600"/>
          </a:xfrm>
          <a:prstGeom prst="rect">
            <a:avLst/>
          </a:prstGeom>
          <a:noFill/>
          <a:ln/>
        </p:spPr>
        <p:txBody>
          <a:bodyPr wrap="square" lIns="0" tIns="0" rIns="0" bIns="0" rtlCol="0" anchor="t"/>
          <a:lstStyle/>
          <a:p>
            <a:pPr indent="0" marL="0">
              <a:buNone/>
            </a:pPr>
            <a:r>
              <a:rPr lang="en-US" sz="1100" dirty="0">
                <a:solidFill>
                  <a:schemeClr val="tx2"/>
                </a:solidFill>
              </a:rPr>
              <a:t>Outlined cells show SCM-001 before controls (20) and after (6).</a:t>
            </a:r>
            <a:endParaRPr lang="en-US" sz="1100" dirty="0"/>
          </a:p>
        </p:txBody>
      </p:sp>
      <p:sp>
        <p:nvSpPr>
          <p:cNvPr id="72" name="Text 56"/>
          <p:cNvSpPr txBox="1"/>
          <p:nvPr/>
        </p:nvSpPr>
        <p:spPr>
          <a:xfrm>
            <a:off x="8257032" y="29571696"/>
            <a:ext cx="5120640" cy="868680"/>
          </a:xfrm>
          <a:prstGeom prst="rect">
            <a:avLst/>
          </a:prstGeom>
          <a:noFill/>
          <a:ln/>
        </p:spPr>
        <p:txBody>
          <a:bodyPr wrap="square" lIns="0" tIns="0" rIns="0" bIns="0" rtlCol="0" anchor="t"/>
          <a:lstStyle/>
          <a:p>
            <a:pPr indent="0" marL="0">
              <a:spcAft>
                <a:spcPts val="600"/>
              </a:spcAft>
              <a:buNone/>
            </a:pPr>
            <a:r>
              <a:rPr lang="en-US" sz="1200" b="1" dirty="0">
                <a:solidFill>
                  <a:schemeClr val="tx1"/>
                </a:solidFill>
              </a:rPr>
              <a:t>Qualitative  </a:t>
            </a:r>
            <a:pPr indent="0" marL="0">
              <a:spcAft>
                <a:spcPts val="600"/>
              </a:spcAft>
              <a:buNone/>
            </a:pPr>
            <a:r>
              <a:rPr lang="en-US" sz="1200" dirty="0">
                <a:solidFill>
                  <a:schemeClr val="tx1"/>
                </a:solidFill>
              </a:rPr>
              <a:t>Likelihood level × impact level = score from 1 to 25</a:t>
            </a:r>
            <a:endParaRPr lang="en-US" sz="1200" dirty="0"/>
          </a:p>
          <a:p>
            <a:pPr indent="0" marL="0">
              <a:spcAft>
                <a:spcPts val="600"/>
              </a:spcAft>
              <a:buNone/>
            </a:pPr>
            <a:r>
              <a:rPr lang="en-US" sz="1200" b="1" dirty="0">
                <a:solidFill>
                  <a:schemeClr val="accent2"/>
                </a:solidFill>
              </a:rPr>
              <a:t>Quantitative  </a:t>
            </a:r>
            <a:pPr indent="0" marL="0">
              <a:spcAft>
                <a:spcPts val="600"/>
              </a:spcAft>
              <a:buNone/>
            </a:pPr>
            <a:r>
              <a:rPr lang="en-US" sz="1200" dirty="0">
                <a:solidFill>
                  <a:schemeClr val="tx1"/>
                </a:solidFill>
              </a:rPr>
              <a:t>Events a year × loss per event = annual loss expectancy (ALE)</a:t>
            </a:r>
            <a:endParaRPr lang="en-US" sz="1200" dirty="0"/>
          </a:p>
        </p:txBody>
      </p:sp>
      <p:graphicFrame>
        <p:nvGraphicFramePr>
          <p:cNvPr id="7" name="Table 5"/>
          <p:cNvGraphicFramePr>
            <a:graphicFrameLocks noGrp="1"/>
          </p:cNvGraphicFramePr>
          <p:nvPr>
            <p:extLst>
              <p:ext uri="{D42A27DB-BD31-4B8C-83A1-F6EECF244321}">
                <p14:modId xmlns:p14="http://schemas.microsoft.com/office/powerpoint/2010/main" val="1579011935"/>
              </p:ext>
            </p:extLst>
          </p:nvPr>
        </p:nvGraphicFramePr>
        <p:xfrm>
          <a:off x="13743432" y="26855928"/>
          <a:ext cx="15087600" cy="914400"/>
        </p:xfrm>
        <a:graphic>
          <a:graphicData uri="http://schemas.openxmlformats.org/drawingml/2006/table">
            <a:tbl>
              <a:tblPr/>
              <a:tblGrid>
                <a:gridCol w="1143000"/>
                <a:gridCol w="777240"/>
                <a:gridCol w="1371600"/>
                <a:gridCol w="2414016"/>
              </a:tblGrid>
              <a:tr h="365760">
                <a:tc>
                  <a:txBody>
                    <a:bodyPr/>
                    <a:lstStyle/>
                    <a:p>
                      <a:pPr indent="0" marL="0">
                        <a:buNone/>
                      </a:pPr>
                      <a:r>
                        <a:rPr lang="en-US" sz="1200" b="1" dirty="0">
                          <a:solidFill>
                            <a:schemeClr val="bg1"/>
                          </a:solidFill>
                        </a:rPr>
                        <a:t>Rating</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Score</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ALE a year</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00" b="1" dirty="0">
                          <a:solidFill>
                            <a:schemeClr val="bg1"/>
                          </a:solidFill>
                        </a:rPr>
                        <a:t>Response</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457200">
                <a:tc>
                  <a:txBody>
                    <a:bodyPr/>
                    <a:lstStyle/>
                    <a:p>
                      <a:pPr indent="0" marL="0">
                        <a:buNone/>
                      </a:pPr>
                      <a:r>
                        <a:rPr lang="en-US" sz="1200" b="1" dirty="0">
                          <a:solidFill>
                            <a:schemeClr val="bg1"/>
                          </a:solidFill>
                        </a:rPr>
                        <a:t>Critical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16–25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Over €5M</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Treat now. Management body informed.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High</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c>
                  <a:txBody>
                    <a:bodyPr/>
                    <a:lstStyle/>
                    <a:p>
                      <a:pPr indent="0" marL="0">
                        <a:buNone/>
                      </a:pPr>
                      <a:r>
                        <a:rPr lang="en-US" sz="1200" dirty="0">
                          <a:solidFill>
                            <a:schemeClr val="tx1"/>
                          </a:solidFill>
                        </a:rPr>
                        <a:t>10–15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€500k to €5M</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Treatment plan with an owner and a date.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Medium</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c>
                  <a:txBody>
                    <a:bodyPr/>
                    <a:lstStyle/>
                    <a:p>
                      <a:pPr indent="0" marL="0">
                        <a:buNone/>
                      </a:pPr>
                      <a:r>
                        <a:rPr lang="en-US" sz="1200" dirty="0">
                          <a:solidFill>
                            <a:schemeClr val="tx1"/>
                          </a:solidFill>
                        </a:rPr>
                        <a:t>5–9</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€50k to €500k</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Treat, or accept with risk owner sign-off.</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Low</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3"/>
                    </a:solidFill>
                  </a:tcPr>
                </a:tc>
                <a:tc>
                  <a:txBody>
                    <a:bodyPr/>
                    <a:lstStyle/>
                    <a:p>
                      <a:pPr indent="0" marL="0">
                        <a:buNone/>
                      </a:pPr>
                      <a:r>
                        <a:rPr lang="en-US" sz="1200" dirty="0">
                          <a:solidFill>
                            <a:schemeClr val="tx1"/>
                          </a:solidFill>
                        </a:rPr>
                        <a:t>1–4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Under €50k</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Accept and monitor.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graphicFrame>
        <p:nvGraphicFramePr>
          <p:cNvPr id="8" name="Table 6"/>
          <p:cNvGraphicFramePr>
            <a:graphicFrameLocks noGrp="1"/>
          </p:cNvGraphicFramePr>
          <p:nvPr>
            <p:extLst>
              <p:ext uri="{D42A27DB-BD31-4B8C-83A1-F6EECF244321}">
                <p14:modId xmlns:p14="http://schemas.microsoft.com/office/powerpoint/2010/main" val="1579011935"/>
              </p:ext>
            </p:extLst>
          </p:nvPr>
        </p:nvGraphicFramePr>
        <p:xfrm>
          <a:off x="13743432" y="29233368"/>
          <a:ext cx="15087600" cy="914400"/>
        </p:xfrm>
        <a:graphic>
          <a:graphicData uri="http://schemas.openxmlformats.org/drawingml/2006/table">
            <a:tbl>
              <a:tblPr/>
              <a:tblGrid>
                <a:gridCol w="1371600"/>
                <a:gridCol w="1005840"/>
                <a:gridCol w="2103120"/>
                <a:gridCol w="1225296"/>
              </a:tblGrid>
              <a:tr h="365760">
                <a:tc>
                  <a:txBody>
                    <a:bodyPr/>
                    <a:lstStyle/>
                    <a:p>
                      <a:pPr indent="0" marL="0">
                        <a:buNone/>
                      </a:pPr>
                      <a:r>
                        <a:rPr lang="en-US" sz="1200" b="1" dirty="0">
                          <a:solidFill>
                            <a:schemeClr val="bg1"/>
                          </a:solidFill>
                        </a:rPr>
                        <a:t>SCM-001</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Score</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ALE</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00" b="1" dirty="0">
                          <a:solidFill>
                            <a:schemeClr val="bg1"/>
                          </a:solidFill>
                        </a:rPr>
                        <a:t>Rating</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384048">
                <a:tc>
                  <a:txBody>
                    <a:bodyPr/>
                    <a:lstStyle/>
                    <a:p>
                      <a:pPr indent="0" marL="0">
                        <a:buNone/>
                      </a:pPr>
                      <a:r>
                        <a:rPr lang="en-US" sz="1200" b="1" dirty="0">
                          <a:solidFill>
                            <a:schemeClr val="tx1"/>
                          </a:solidFill>
                        </a:rPr>
                        <a:t>Before controls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4 × 5 = 20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1.5 × €6M = €9M a year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b="1" dirty="0">
                          <a:solidFill>
                            <a:schemeClr val="tx1"/>
                          </a:solidFill>
                        </a:rPr>
                        <a:t>Critical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84048">
                <a:tc>
                  <a:txBody>
                    <a:bodyPr/>
                    <a:lstStyle/>
                    <a:p>
                      <a:pPr indent="0" marL="0">
                        <a:buNone/>
                      </a:pPr>
                      <a:r>
                        <a:rPr lang="en-US" sz="1200" b="1" dirty="0">
                          <a:solidFill>
                            <a:schemeClr val="tx1"/>
                          </a:solidFill>
                        </a:rPr>
                        <a:t>After controls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 × 3 = 6</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0.2 × €500k = €100k a year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b="1" dirty="0">
                          <a:solidFill>
                            <a:schemeClr val="tx1"/>
                          </a:solidFill>
                        </a:rPr>
                        <a:t>Medium</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75" name="Text 57"/>
          <p:cNvSpPr txBox="1"/>
          <p:nvPr/>
        </p:nvSpPr>
        <p:spPr>
          <a:xfrm>
            <a:off x="13743432" y="30476952"/>
            <a:ext cx="5705856" cy="228600"/>
          </a:xfrm>
          <a:prstGeom prst="rect">
            <a:avLst/>
          </a:prstGeom>
          <a:noFill/>
          <a:ln/>
        </p:spPr>
        <p:txBody>
          <a:bodyPr wrap="square" lIns="0" tIns="0" rIns="0" bIns="0" rtlCol="0" anchor="t"/>
          <a:lstStyle/>
          <a:p>
            <a:pPr indent="0" marL="0">
              <a:buNone/>
            </a:pPr>
            <a:r>
              <a:rPr lang="en-US" sz="1100" dirty="0">
                <a:solidFill>
                  <a:schemeClr val="tx2"/>
                </a:solidFill>
              </a:rPr>
              <a:t>If the two routes disagree, record both and take the higher rating.</a:t>
            </a:r>
            <a:endParaRPr lang="en-US" sz="1100" dirty="0"/>
          </a:p>
        </p:txBody>
      </p:sp>
      <p:sp>
        <p:nvSpPr>
          <p:cNvPr id="76" name="Text 58"/>
          <p:cNvSpPr txBox="1"/>
          <p:nvPr/>
        </p:nvSpPr>
        <p:spPr>
          <a:xfrm>
            <a:off x="667512" y="31510224"/>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5</a:t>
            </a:r>
            <a:endParaRPr lang="en-US" sz="1000" dirty="0"/>
          </a:p>
        </p:txBody>
      </p:sp>
      <p:sp>
        <p:nvSpPr>
          <p:cNvPr id="77" name="Text 59"/>
          <p:cNvSpPr txBox="1"/>
          <p:nvPr/>
        </p:nvSpPr>
        <p:spPr>
          <a:xfrm>
            <a:off x="667512" y="31747968"/>
            <a:ext cx="8686800" cy="457200"/>
          </a:xfrm>
          <a:prstGeom prst="rect">
            <a:avLst/>
          </a:prstGeom>
          <a:noFill/>
          <a:ln/>
        </p:spPr>
        <p:txBody>
          <a:bodyPr wrap="square" lIns="0" tIns="0" rIns="0" bIns="0" rtlCol="0" anchor="ctr"/>
          <a:lstStyle/>
          <a:p>
            <a:pPr indent="0" marL="0">
              <a:buNone/>
            </a:pPr>
            <a:r>
              <a:rPr lang="en-US" sz="2800" b="1" dirty="0">
                <a:solidFill>
                  <a:schemeClr val="tx1"/>
                </a:solidFill>
                <a:latin typeface="+mj-lt" pitchFamily="34" charset="0"/>
                <a:ea typeface="+mj-lt" pitchFamily="34" charset="-122"/>
                <a:cs typeface="+mj-lt" pitchFamily="34" charset="-120"/>
              </a:rPr>
              <a:t>Control framework cross-mapping</a:t>
            </a:r>
            <a:endParaRPr lang="en-US" sz="2800" dirty="0"/>
          </a:p>
        </p:txBody>
      </p:sp>
      <p:sp>
        <p:nvSpPr>
          <p:cNvPr id="78" name="Text 60"/>
          <p:cNvSpPr txBox="1"/>
          <p:nvPr/>
        </p:nvSpPr>
        <p:spPr>
          <a:xfrm>
            <a:off x="10853928" y="31528512"/>
            <a:ext cx="8595360" cy="694944"/>
          </a:xfrm>
          <a:prstGeom prst="rect">
            <a:avLst/>
          </a:prstGeom>
          <a:noFill/>
          <a:ln/>
        </p:spPr>
        <p:txBody>
          <a:bodyPr wrap="square" lIns="0" tIns="0" rIns="0" bIns="0" rtlCol="0" anchor="b"/>
          <a:lstStyle/>
          <a:p>
            <a:pPr algn="r" indent="0" marL="0">
              <a:buNone/>
            </a:pPr>
            <a:r>
              <a:rPr lang="en-US" sz="1200" dirty="0">
                <a:solidFill>
                  <a:schemeClr val="tx2"/>
                </a:solidFill>
              </a:rPr>
              <a:t>Implement once against CIS IG3, then report against every regime. The CRA, the EU AI Act and ISO/IEC 42001 apply only where the entity makes or uses in-scope products and AI systems.</a:t>
            </a:r>
            <a:endParaRPr lang="en-US" sz="1200" dirty="0"/>
          </a:p>
        </p:txBody>
      </p:sp>
      <p:graphicFrame>
        <p:nvGraphicFramePr>
          <p:cNvPr id="9" name="Table 7"/>
          <p:cNvGraphicFramePr>
            <a:graphicFrameLocks noGrp="1"/>
          </p:cNvGraphicFramePr>
          <p:nvPr>
            <p:extLst>
              <p:ext uri="{D42A27DB-BD31-4B8C-83A1-F6EECF244321}">
                <p14:modId xmlns:p14="http://schemas.microsoft.com/office/powerpoint/2010/main" val="1579011935"/>
              </p:ext>
            </p:extLst>
          </p:nvPr>
        </p:nvGraphicFramePr>
        <p:xfrm>
          <a:off x="667512" y="32424624"/>
          <a:ext cx="15087600" cy="914400"/>
        </p:xfrm>
        <a:graphic>
          <a:graphicData uri="http://schemas.openxmlformats.org/drawingml/2006/table">
            <a:tbl>
              <a:tblPr/>
              <a:tblGrid>
                <a:gridCol w="2263875"/>
                <a:gridCol w="1844639"/>
                <a:gridCol w="2096180"/>
                <a:gridCol w="2431569"/>
                <a:gridCol w="1844639"/>
                <a:gridCol w="2180028"/>
                <a:gridCol w="2180028"/>
                <a:gridCol w="1676944"/>
                <a:gridCol w="2263875"/>
              </a:tblGrid>
              <a:tr h="603504">
                <a:tc>
                  <a:txBody>
                    <a:bodyPr/>
                    <a:lstStyle/>
                    <a:p>
                      <a:pPr indent="0" marL="0">
                        <a:buNone/>
                      </a:pPr>
                      <a:r>
                        <a:rPr lang="en-US" sz="1200" b="1" dirty="0">
                          <a:solidFill>
                            <a:schemeClr val="bg1"/>
                          </a:solidFill>
                        </a:rPr>
                        <a:t>Control theme</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NIST CSF 2.0</a:t>
                      </a:r>
                      <a:endParaRPr lang="en-US" sz="1200" dirty="0"/>
                    </a:p>
                    <a:p>
                      <a:pPr indent="0" marL="0">
                        <a:buNone/>
                      </a:pPr>
                      <a:r>
                        <a:rPr lang="en-US" sz="1050" b="1" dirty="0">
                          <a:solidFill>
                            <a:schemeClr val="bg1"/>
                          </a:solidFill>
                        </a:rPr>
                        <a:t>Categories</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ISO/IEC 27001:2022</a:t>
                      </a:r>
                      <a:endParaRPr lang="en-US" sz="1200" dirty="0"/>
                    </a:p>
                    <a:p>
                      <a:pPr indent="0" marL="0">
                        <a:buNone/>
                      </a:pPr>
                      <a:r>
                        <a:rPr lang="en-US" sz="1050" b="1" dirty="0">
                          <a:solidFill>
                            <a:schemeClr val="bg1"/>
                          </a:solidFill>
                        </a:rPr>
                        <a:t>Annex A</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DORA · Driver</a:t>
                      </a:r>
                      <a:endParaRPr lang="en-US" sz="1200" dirty="0"/>
                    </a:p>
                    <a:p>
                      <a:pPr indent="0" marL="0">
                        <a:buNone/>
                      </a:pPr>
                      <a:r>
                        <a:rPr lang="en-US" sz="1050" b="1" dirty="0">
                          <a:solidFill>
                            <a:schemeClr val="bg1"/>
                          </a:solidFill>
                        </a:rPr>
                        <a:t>Reg. (EU) 2022/2554</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GDPR</a:t>
                      </a:r>
                      <a:endParaRPr lang="en-US" sz="1200" dirty="0"/>
                    </a:p>
                    <a:p>
                      <a:pPr indent="0" marL="0">
                        <a:buNone/>
                      </a:pPr>
                      <a:r>
                        <a:rPr lang="en-US" sz="1050" b="1" dirty="0">
                          <a:solidFill>
                            <a:schemeClr val="bg1"/>
                          </a:solidFill>
                        </a:rPr>
                        <a:t>Reg. (EU) 2016/679</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CIS IG3 · Baseline</a:t>
                      </a:r>
                      <a:endParaRPr lang="en-US" sz="1200" dirty="0"/>
                    </a:p>
                    <a:p>
                      <a:pPr indent="0" marL="0">
                        <a:buNone/>
                      </a:pPr>
                      <a:r>
                        <a:rPr lang="en-US" sz="1050" b="1" dirty="0">
                          <a:solidFill>
                            <a:schemeClr val="bg1"/>
                          </a:solidFill>
                        </a:rPr>
                        <a:t>CIS Controls v8.1</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00" b="1" dirty="0">
                          <a:solidFill>
                            <a:schemeClr val="bg1"/>
                          </a:solidFill>
                        </a:rPr>
                        <a:t>CRA</a:t>
                      </a:r>
                      <a:endParaRPr lang="en-US" sz="1200" dirty="0"/>
                    </a:p>
                    <a:p>
                      <a:pPr indent="0" marL="0">
                        <a:buNone/>
                      </a:pPr>
                      <a:r>
                        <a:rPr lang="en-US" sz="1050" b="1" dirty="0">
                          <a:solidFill>
                            <a:schemeClr val="bg1"/>
                          </a:solidFill>
                        </a:rPr>
                        <a:t>Reg. (EU) 2024/2847</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EU AI Act</a:t>
                      </a:r>
                      <a:endParaRPr lang="en-US" sz="1200" dirty="0"/>
                    </a:p>
                    <a:p>
                      <a:pPr indent="0" marL="0">
                        <a:buNone/>
                      </a:pPr>
                      <a:r>
                        <a:rPr lang="en-US" sz="1050" b="1" dirty="0">
                          <a:solidFill>
                            <a:schemeClr val="bg1"/>
                          </a:solidFill>
                        </a:rPr>
                        <a:t>Reg. (EU) 2024/1689</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ISO/IEC 42001:2023</a:t>
                      </a:r>
                      <a:endParaRPr lang="en-US" sz="1200" dirty="0"/>
                    </a:p>
                    <a:p>
                      <a:pPr indent="0" marL="0">
                        <a:buNone/>
                      </a:pPr>
                      <a:r>
                        <a:rPr lang="en-US" sz="1050" b="1" dirty="0">
                          <a:solidFill>
                            <a:schemeClr val="bg1"/>
                          </a:solidFill>
                        </a:rPr>
                        <a:t>AI management system</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r>
              <a:tr h="475488">
                <a:tc>
                  <a:txBody>
                    <a:bodyPr/>
                    <a:lstStyle/>
                    <a:p>
                      <a:pPr indent="0" marL="0">
                        <a:buNone/>
                      </a:pPr>
                      <a:r>
                        <a:rPr lang="en-US" sz="1200" b="1" dirty="0">
                          <a:solidFill>
                            <a:schemeClr val="tx1"/>
                          </a:solidFill>
                        </a:rPr>
                        <a:t>Governance and risk management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GV.RM, GV.PO, GV.OV</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Clauses 5 and 6, A.5.1, A.5.2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5, Art. 6</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5(2), Art. 24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Process safeguards 3.1, 7.1, 17.4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Art. 13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9, Art. 17</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Clauses 5 and 6, A.2, A.3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75488">
                <a:tc>
                  <a:txBody>
                    <a:bodyPr/>
                    <a:lstStyle/>
                    <a:p>
                      <a:pPr indent="0" marL="0">
                        <a:buNone/>
                      </a:pPr>
                      <a:r>
                        <a:rPr lang="en-US" sz="1200" b="1" dirty="0">
                          <a:solidFill>
                            <a:schemeClr val="tx1"/>
                          </a:solidFill>
                        </a:rPr>
                        <a:t>Asset and data inventory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ID.AM</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A.5.9, A.5.12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8</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30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 2, 3.2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Annex I Part II: SBOM</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11</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A.4 resources for AI systems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75488">
                <a:tc>
                  <a:txBody>
                    <a:bodyPr/>
                    <a:lstStyle/>
                    <a:p>
                      <a:pPr indent="0" marL="0">
                        <a:buNone/>
                      </a:pPr>
                      <a:r>
                        <a:rPr lang="en-US" sz="1200" b="1" dirty="0">
                          <a:solidFill>
                            <a:schemeClr val="tx1"/>
                          </a:solidFill>
                        </a:rPr>
                        <a:t>Identity and access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PR.AA</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A.5.15 to A.5.18, A.8.2, A.8.5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9(4)(c) and (d), RTS 2024/1774 Art. 20, 21</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32(1)(b)</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5, 6</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Annex I Part I: access control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15(5)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Via ISO/IEC 27001</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75488">
                <a:tc>
                  <a:txBody>
                    <a:bodyPr/>
                    <a:lstStyle/>
                    <a:p>
                      <a:pPr indent="0" marL="0">
                        <a:buNone/>
                      </a:pPr>
                      <a:r>
                        <a:rPr lang="en-US" sz="1200" b="1" dirty="0">
                          <a:solidFill>
                            <a:schemeClr val="tx1"/>
                          </a:solidFill>
                        </a:rPr>
                        <a:t>Data protection and cryptography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PR.DS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A.5.34, A.8.12, A.8.24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9(2) and (3), RTS 2024/1774 Art. 6, 7</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25, Art. 32(1)(a)</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Annex I Part I: confidentiality, integrity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A.7 data for AI systems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75488">
                <a:tc>
                  <a:txBody>
                    <a:bodyPr/>
                    <a:lstStyle/>
                    <a:p>
                      <a:pPr indent="0" marL="0">
                        <a:buNone/>
                      </a:pPr>
                      <a:r>
                        <a:rPr lang="en-US" sz="1200" b="1" dirty="0">
                          <a:solidFill>
                            <a:schemeClr val="tx1"/>
                          </a:solidFill>
                        </a:rPr>
                        <a:t>Vulnerability and configuration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ID.RA, PR.PS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A.8.8, A.8.9</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9(4)(f), RTS 2024/1774 Art. 10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32(1)(d)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4, 7, 16</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Annex I Part II: vulnerability handling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A.6.2.4, A.6.2.5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75488">
                <a:tc>
                  <a:txBody>
                    <a:bodyPr/>
                    <a:lstStyle/>
                    <a:p>
                      <a:pPr indent="0" marL="0">
                        <a:buNone/>
                      </a:pPr>
                      <a:r>
                        <a:rPr lang="en-US" sz="1200" b="1" dirty="0">
                          <a:solidFill>
                            <a:schemeClr val="tx1"/>
                          </a:solidFill>
                        </a:rPr>
                        <a:t>Logging, monitoring and detection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DE.CM, DE.AE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A.8.15, A.8.16</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32, Art. 33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8, 13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Annex I Part I: monitoring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A.6.2.6, A.6.2.8</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75488">
                <a:tc>
                  <a:txBody>
                    <a:bodyPr/>
                    <a:lstStyle/>
                    <a:p>
                      <a:pPr indent="0" marL="0">
                        <a:buNone/>
                      </a:pPr>
                      <a:r>
                        <a:rPr lang="en-US" sz="1200" b="1" dirty="0">
                          <a:solidFill>
                            <a:schemeClr val="tx1"/>
                          </a:solidFill>
                        </a:rPr>
                        <a:t>Incident response and reporting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RS.MA, RS.CO</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A.5.24 to A.5.28</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17, 18, 19</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33, Art. 34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17</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Art. 14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73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A.3.3, A.8.4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75488">
                <a:tc>
                  <a:txBody>
                    <a:bodyPr/>
                    <a:lstStyle/>
                    <a:p>
                      <a:pPr indent="0" marL="0">
                        <a:buNone/>
                      </a:pPr>
                      <a:r>
                        <a:rPr lang="en-US" sz="1200" b="1" dirty="0">
                          <a:solidFill>
                            <a:schemeClr val="tx1"/>
                          </a:solidFill>
                        </a:rPr>
                        <a:t>Backup, recovery and continuity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PR.IR, RC.RP</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A.5.29, A.5.30, A.8.13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11, Art. 12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32(1)(b) and (c)</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11</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Annex I Part I: availability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Via ISO/IEC 27001</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75488">
                <a:tc>
                  <a:txBody>
                    <a:bodyPr/>
                    <a:lstStyle/>
                    <a:p>
                      <a:pPr indent="0" marL="0">
                        <a:buNone/>
                      </a:pPr>
                      <a:r>
                        <a:rPr lang="en-US" sz="1200" b="1" dirty="0">
                          <a:solidFill>
                            <a:schemeClr val="tx1"/>
                          </a:solidFill>
                        </a:rPr>
                        <a:t>Third party and supply chain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GV.SC</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A.5.19 to A.5.23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28, 29, 30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28</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Art. 13(5)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A.10.2, A.10.3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75488">
                <a:tc>
                  <a:txBody>
                    <a:bodyPr/>
                    <a:lstStyle/>
                    <a:p>
                      <a:pPr indent="0" marL="0">
                        <a:buNone/>
                      </a:pPr>
                      <a:r>
                        <a:rPr lang="en-US" sz="1200" b="1" dirty="0">
                          <a:solidFill>
                            <a:schemeClr val="tx1"/>
                          </a:solidFill>
                        </a:rPr>
                        <a:t>Resilience and security testing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ID.IM</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A.5.35, A.8.29</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24, 25, 26 (TLPT)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32(1)(d)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18</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Annex I Part II: regular testing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A.6.2.4, Clause 9</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80" name="Text 61"/>
          <p:cNvSpPr txBox="1"/>
          <p:nvPr/>
        </p:nvSpPr>
        <p:spPr>
          <a:xfrm>
            <a:off x="667512" y="38560248"/>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6</a:t>
            </a:r>
            <a:endParaRPr lang="en-US" sz="1000" dirty="0"/>
          </a:p>
        </p:txBody>
      </p:sp>
      <p:sp>
        <p:nvSpPr>
          <p:cNvPr id="81" name="Text 62"/>
          <p:cNvSpPr txBox="1"/>
          <p:nvPr/>
        </p:nvSpPr>
        <p:spPr>
          <a:xfrm>
            <a:off x="667512" y="38797992"/>
            <a:ext cx="8686800" cy="457200"/>
          </a:xfrm>
          <a:prstGeom prst="rect">
            <a:avLst/>
          </a:prstGeom>
          <a:noFill/>
          <a:ln/>
        </p:spPr>
        <p:txBody>
          <a:bodyPr wrap="square" lIns="0" tIns="0" rIns="0" bIns="0" rtlCol="0" anchor="ctr"/>
          <a:lstStyle/>
          <a:p>
            <a:pPr indent="0" marL="0">
              <a:buNone/>
            </a:pPr>
            <a:r>
              <a:rPr lang="en-US" sz="2800" b="1" dirty="0">
                <a:solidFill>
                  <a:schemeClr val="tx1"/>
                </a:solidFill>
                <a:latin typeface="+mj-lt" pitchFamily="34" charset="0"/>
                <a:ea typeface="+mj-lt" pitchFamily="34" charset="-122"/>
                <a:cs typeface="+mj-lt" pitchFamily="34" charset="-120"/>
              </a:rPr>
              <a:t>Architecture governance lifecycle</a:t>
            </a:r>
            <a:endParaRPr lang="en-US" sz="2800" dirty="0"/>
          </a:p>
        </p:txBody>
      </p:sp>
      <p:sp>
        <p:nvSpPr>
          <p:cNvPr id="82" name="Text 63"/>
          <p:cNvSpPr txBox="1"/>
          <p:nvPr/>
        </p:nvSpPr>
        <p:spPr>
          <a:xfrm>
            <a:off x="10853928" y="38578536"/>
            <a:ext cx="8595360" cy="694944"/>
          </a:xfrm>
          <a:prstGeom prst="rect">
            <a:avLst/>
          </a:prstGeom>
          <a:noFill/>
          <a:ln/>
        </p:spPr>
        <p:txBody>
          <a:bodyPr wrap="square" lIns="0" tIns="0" rIns="0" bIns="0" rtlCol="0" anchor="b"/>
          <a:lstStyle/>
          <a:p>
            <a:pPr algn="r" indent="0" marL="0">
              <a:buNone/>
            </a:pPr>
            <a:r>
              <a:rPr lang="en-US" sz="1200" dirty="0">
                <a:solidFill>
                  <a:schemeClr val="tx2"/>
                </a:solidFill>
              </a:rPr>
              <a:t>Ten steps fill the matrix one field at a time, then loop. Each step has a deliverable and an anchor in DORA.</a:t>
            </a:r>
            <a:endParaRPr lang="en-US" sz="1200" dirty="0"/>
          </a:p>
        </p:txBody>
      </p:sp>
      <p:graphicFrame>
        <p:nvGraphicFramePr>
          <p:cNvPr id="10" name="Table 8"/>
          <p:cNvGraphicFramePr>
            <a:graphicFrameLocks noGrp="1"/>
          </p:cNvGraphicFramePr>
          <p:nvPr>
            <p:extLst>
              <p:ext uri="{D42A27DB-BD31-4B8C-83A1-F6EECF244321}">
                <p14:modId xmlns:p14="http://schemas.microsoft.com/office/powerpoint/2010/main" val="1579011935"/>
              </p:ext>
            </p:extLst>
          </p:nvPr>
        </p:nvGraphicFramePr>
        <p:xfrm>
          <a:off x="667512" y="39474648"/>
          <a:ext cx="15087600" cy="914400"/>
        </p:xfrm>
        <a:graphic>
          <a:graphicData uri="http://schemas.openxmlformats.org/drawingml/2006/table">
            <a:tbl>
              <a:tblPr/>
              <a:tblGrid>
                <a:gridCol w="1188720"/>
                <a:gridCol w="1759306"/>
                <a:gridCol w="1759306"/>
                <a:gridCol w="1759306"/>
                <a:gridCol w="1759306"/>
                <a:gridCol w="1759306"/>
                <a:gridCol w="1759306"/>
                <a:gridCol w="1759306"/>
                <a:gridCol w="1759306"/>
                <a:gridCol w="1759306"/>
                <a:gridCol w="1759306"/>
              </a:tblGrid>
              <a:tr h="548640">
                <a:tc>
                  <a:txBody>
                    <a:bodyPr/>
                    <a:lstStyle/>
                    <a:p>
                      <a:pPr indent="0" marL="0">
                        <a:buNone/>
                      </a:pPr>
                      <a:r>
                        <a:rPr lang="en-US" sz="1200" b="1" dirty="0">
                          <a:solidFill>
                            <a:schemeClr val="bg1"/>
                          </a:solidFill>
                        </a:rPr>
                        <a:t>Stage</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1 Discover</a:t>
                      </a:r>
                      <a:endParaRPr lang="en-US" sz="14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2 Assess</a:t>
                      </a:r>
                      <a:endParaRPr lang="en-US" sz="14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3 Define</a:t>
                      </a:r>
                      <a:endParaRPr lang="en-US" sz="14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4 Select</a:t>
                      </a:r>
                      <a:endParaRPr lang="en-US" sz="14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5 Design</a:t>
                      </a:r>
                      <a:endParaRPr lang="en-US" sz="14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6 Implement</a:t>
                      </a:r>
                      <a:endParaRPr lang="en-US" sz="14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7 Validate</a:t>
                      </a:r>
                      <a:endParaRPr lang="en-US" sz="14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8 Evidence</a:t>
                      </a:r>
                      <a:endParaRPr lang="en-US" sz="14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9 Assess</a:t>
                      </a:r>
                      <a:endParaRPr lang="en-US" sz="14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10 Govern</a:t>
                      </a:r>
                      <a:endParaRPr lang="en-US" sz="14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1005840">
                <a:tc>
                  <a:txBody>
                    <a:bodyPr/>
                    <a:lstStyle/>
                    <a:p>
                      <a:pPr indent="0" marL="0">
                        <a:buNone/>
                      </a:pPr>
                      <a:r>
                        <a:rPr lang="en-US" sz="1200" b="1" dirty="0">
                          <a:solidFill>
                            <a:schemeClr val="tx1"/>
                          </a:solidFill>
                        </a:rPr>
                        <a:t>Activity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Inventory assets and critical functions. Identify threats and exposures.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Build risk scenarios. Score inherent likelihood and impact.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State the security requirement and tie it to a DORA article.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Pick the CIS IG3 safeguards that satisfy the requirement.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Place each control in an architecture building block.</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Deploy and configure the solution building block.</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Test that the control works: scans, drills, penetration tests.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Collect artefacts that prove design and operation.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Re-score the scenario and record the residual risk.</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Report to the management body. Accept or treat. Review at least yearly.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658368">
                <a:tc>
                  <a:txBody>
                    <a:bodyPr/>
                    <a:lstStyle/>
                    <a:p>
                      <a:pPr indent="0" marL="0">
                        <a:buNone/>
                      </a:pPr>
                      <a:r>
                        <a:rPr lang="en-US" sz="1200" b="1" dirty="0">
                          <a:solidFill>
                            <a:schemeClr val="tx1"/>
                          </a:solidFill>
                        </a:rPr>
                        <a:t>Output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Asset register, threat catalogue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Scored risk register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Requirements catalogue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Control baseline with scope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Reference architecture, ABB catalogue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Configured SBBs, change records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Test and assurance reports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Evidence pack per control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Residual risk statement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Risk acceptance, framework review</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12064">
                <a:tc>
                  <a:txBody>
                    <a:bodyPr/>
                    <a:lstStyle/>
                    <a:p>
                      <a:pPr indent="0" marL="0">
                        <a:buNone/>
                      </a:pPr>
                      <a:r>
                        <a:rPr lang="en-US" sz="1200" b="1" dirty="0">
                          <a:solidFill>
                            <a:schemeClr val="tx1"/>
                          </a:solidFill>
                        </a:rPr>
                        <a:t>Matrix field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Threat, Vulnerability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Risk scenario, Impact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Security requirement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Control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ABB</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SBB</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Evidence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Evidence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Residual risk</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Whole row</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DORA anchor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2"/>
                          </a:solidFill>
                        </a:rPr>
                        <a:t>Art. 8(1), 8(4)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2"/>
                          </a:solidFill>
                        </a:rPr>
                        <a:t>Art. 8(2)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2"/>
                          </a:solidFill>
                        </a:rPr>
                        <a:t>Art. 9(2)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2"/>
                          </a:solidFill>
                        </a:rPr>
                        <a:t>Art. 9(4)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2"/>
                          </a:solidFill>
                        </a:rPr>
                        <a:t>Art. 7</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2"/>
                          </a:solidFill>
                        </a:rPr>
                        <a:t>Art. 9(3)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2"/>
                          </a:solidFill>
                        </a:rPr>
                        <a:t>Art. 24, 25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2"/>
                          </a:solidFill>
                        </a:rPr>
                        <a:t>Art. 6(5), 6(6)</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2"/>
                          </a:solidFill>
                        </a:rPr>
                        <a:t>Art. 8(2), 8(3)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2"/>
                          </a:solidFill>
                        </a:rPr>
                        <a:t>Art. 5, Art. 13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84" name="Shape 64"/>
          <p:cNvSpPr/>
          <p:nvPr/>
        </p:nvSpPr>
        <p:spPr>
          <a:xfrm>
            <a:off x="667512" y="43296840"/>
            <a:ext cx="18781776" cy="0"/>
          </a:xfrm>
          <a:prstGeom prst="line">
            <a:avLst/>
          </a:prstGeom>
          <a:noFill/>
          <a:ln w="19050">
            <a:solidFill>
              <a:schemeClr val="tx1"/>
            </a:solidFill>
            <a:prstDash val="solid"/>
          </a:ln>
        </p:spPr>
      </p:sp>
      <p:sp>
        <p:nvSpPr>
          <p:cNvPr id="85" name="Text 65"/>
          <p:cNvSpPr txBox="1"/>
          <p:nvPr/>
        </p:nvSpPr>
        <p:spPr>
          <a:xfrm>
            <a:off x="667512" y="43479720"/>
            <a:ext cx="10515600" cy="594360"/>
          </a:xfrm>
          <a:prstGeom prst="rect">
            <a:avLst/>
          </a:prstGeom>
          <a:noFill/>
          <a:ln/>
        </p:spPr>
        <p:txBody>
          <a:bodyPr wrap="square" lIns="0" tIns="0" rIns="0" bIns="0" rtlCol="0" anchor="t"/>
          <a:lstStyle/>
          <a:p>
            <a:pPr indent="0" marL="0">
              <a:buNone/>
            </a:pPr>
            <a:r>
              <a:rPr lang="en-US" sz="1100" dirty="0">
                <a:solidFill>
                  <a:schemeClr val="tx2"/>
                </a:solidFill>
              </a:rPr>
              <a:t>Illustrative template. Scores, products and thresholds are examples, so replace them with your own register entries and risk appetite. Article and safeguard numbers are pointers. Check them against the official texts before using them in an audit.</a:t>
            </a:r>
            <a:endParaRPr lang="en-US" sz="1100" dirty="0"/>
          </a:p>
        </p:txBody>
      </p:sp>
      <p:sp>
        <p:nvSpPr>
          <p:cNvPr id="86" name="Text 66"/>
          <p:cNvSpPr txBox="1"/>
          <p:nvPr/>
        </p:nvSpPr>
        <p:spPr>
          <a:xfrm>
            <a:off x="13048488" y="43479720"/>
            <a:ext cx="6400800" cy="594360"/>
          </a:xfrm>
          <a:prstGeom prst="rect">
            <a:avLst/>
          </a:prstGeom>
          <a:noFill/>
          <a:ln/>
        </p:spPr>
        <p:txBody>
          <a:bodyPr wrap="square" lIns="0" tIns="0" rIns="0" bIns="0" rtlCol="0" anchor="t"/>
          <a:lstStyle/>
          <a:p>
            <a:pPr algn="r" indent="0" marL="0">
              <a:buNone/>
            </a:pPr>
            <a:r>
              <a:rPr lang="en-US" sz="1100" b="1" dirty="0">
                <a:solidFill>
                  <a:schemeClr val="tx1"/>
                </a:solidFill>
              </a:rPr>
              <a:t>ABB </a:t>
            </a:r>
            <a:pPr algn="r" indent="0" marL="0">
              <a:buNone/>
            </a:pPr>
            <a:r>
              <a:rPr lang="en-US" sz="1100" dirty="0">
                <a:solidFill>
                  <a:schemeClr val="tx2"/>
                </a:solidFill>
              </a:rPr>
              <a:t>Architecture building block: the capability</a:t>
            </a:r>
            <a:endParaRPr lang="en-US" sz="1100" dirty="0"/>
          </a:p>
          <a:p>
            <a:pPr algn="r" indent="0" marL="0">
              <a:buNone/>
            </a:pPr>
            <a:r>
              <a:rPr lang="en-US" sz="1100" b="1" dirty="0">
                <a:solidFill>
                  <a:schemeClr val="tx1"/>
                </a:solidFill>
              </a:rPr>
              <a:t>SBB </a:t>
            </a:r>
            <a:pPr algn="r" indent="0" marL="0">
              <a:buNone/>
            </a:pPr>
            <a:r>
              <a:rPr lang="en-US" sz="1100" dirty="0">
                <a:solidFill>
                  <a:schemeClr val="tx2"/>
                </a:solidFill>
              </a:rPr>
              <a:t>Solution building block: the product or technology</a:t>
            </a:r>
            <a:endParaRPr lang="en-US" sz="1100" dirty="0"/>
          </a:p>
        </p:txBody>
      </p:sp>
    </p:spTree>
  </p:cSld>
  <p:clrMapOvr>
    <a:masterClrMapping/>
  </p:clrMapOvr>
</p:sld>
</file>

<file path=ppt/theme/theme1.xml><?xml version="1.0" encoding="utf-8"?>
<a:theme xmlns:a="http://schemas.openxmlformats.org/drawingml/2006/main" name="Traceability">
  <a:themeElements>
    <a:clrScheme name="Traceability">
      <a:dk1>
        <a:srgbClr val="0E1C2A"/>
      </a:dk1>
      <a:lt1>
        <a:srgbClr val="FFFFFF"/>
      </a:lt1>
      <a:dk2>
        <a:srgbClr val="43525F"/>
      </a:dk2>
      <a:lt2>
        <a:srgbClr val="EEF1F4"/>
      </a:lt2>
      <a:accent1>
        <a:srgbClr val="B5450F"/>
      </a:accent1>
      <a:accent2>
        <a:srgbClr val="0D5C75"/>
      </a:accent2>
      <a:accent3>
        <a:srgbClr val="FBE9DD"/>
      </a:accent3>
      <a:accent4>
        <a:srgbClr val="DDEEF3"/>
      </a:accent4>
      <a:accent5>
        <a:srgbClr val="D9682B"/>
      </a:accent5>
      <a:accent6>
        <a:srgbClr val="8F2F06"/>
      </a:accent6>
      <a:hlink>
        <a:srgbClr val="0D5C75"/>
      </a:hlink>
      <a:folHlink>
        <a:srgbClr val="43525F"/>
      </a:folHlink>
    </a:clrScheme>
    <a:fontScheme name="Traceabilit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Security Architecture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Threat, Risk, Control, Architecture Traceability</dc:title>
  <dc:subject>Threat to control traceability</dc:subject>
  <dc:creator>Security Architecture</dc:creator>
  <cp:lastModifiedBy>Security Architecture</cp:lastModifiedBy>
  <cp:revision>1</cp:revision>
  <dcterms:created xsi:type="dcterms:W3CDTF">2026-10-04T18:36:09Z</dcterms:created>
  <dcterms:modified xsi:type="dcterms:W3CDTF">2026-10-04T18:36:09Z</dcterms:modified>
</cp:coreProperties>
</file>