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1c745f9-098c-85a7-6334-fcd5894ef231}">
          <p14:sldIdLst>
            <p14:sldId id="256"/>
            <p14:sldId id="257"/>
            <p14:sldId id="258"/>
          </p14:sldIdLst>
        </p14:section>
        <p14:section name="Tables" id="{af61239c-7b3d-24cd-b19f-1edb2b14d0de}">
          <p14:sldIdLst>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AI use case. Each row runs from the AI Act classification to the guardrails, oversight and evidence that keep the risk within appetite.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AI use case. Each row runs from the AI Act classification to the guardrails, oversight and evidence that keep the risk within appetite.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governance functions against the same framework set. Under DORA an AI system is an ICT asset, so the ICT risk framework applies to it. The CRA applies only to products with digital elements. A dash means no direct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E1C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463040"/>
            <a:ext cx="11277295" cy="201168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1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txBox="1"/>
          <p:nvPr/>
        </p:nvSpPr>
        <p:spPr>
          <a:xfrm>
            <a:off x="457200" y="6446520"/>
            <a:ext cx="8229600" cy="256032"/>
          </a:xfrm>
          <a:prstGeom prst="rect">
            <a:avLst/>
          </a:prstGeom>
          <a:noFill/>
          <a:ln/>
        </p:spPr>
        <p:txBody>
          <a:bodyPr wrap="square" lIns="0" tIns="0" rIns="0" bIns="0" rtlCol="0" anchor="ctr"/>
          <a:lstStyle/>
          <a:p>
            <a:pPr indent="0" marL="0">
              <a:buNone/>
            </a:pPr>
            <a:r>
              <a:rPr lang="en-US" sz="900" dirty="0">
                <a:solidFill>
                  <a:schemeClr val="tx2"/>
                </a:solidFill>
              </a:rPr>
              <a:t>AI governance operating model · EU AI Act · DORA · CIS Controls IG3</a:t>
            </a:r>
            <a:endParaRPr lang="en-US" sz="9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60120"/>
            <a:ext cx="11277295" cy="320040"/>
          </a:xfrm>
          <a:prstGeom prst="rect">
            <a:avLst/>
          </a:prstGeom>
          <a:noFill/>
          <a:ln/>
        </p:spPr>
        <p:txBody>
          <a:bodyPr wrap="square" lIns="0" tIns="0" rIns="0" bIns="0" rtlCol="0" anchor="t"/>
          <a:lstStyle/>
          <a:p>
            <a:pPr indent="0" marL="0">
              <a:buNone/>
            </a:pPr>
            <a:r>
              <a:rPr lang="en-US" sz="1200" spc="300" kern="0" dirty="0">
                <a:solidFill>
                  <a:srgbClr val="9FB0BF"/>
                </a:solidFill>
              </a:rPr>
              <a:t>AI GOVERNANCE, ADOPTION AND IMPLEMENTATION · OPERATING MODEL TEMPLATE</a:t>
            </a:r>
            <a:endParaRPr lang="en-US" sz="1200" dirty="0"/>
          </a:p>
        </p:txBody>
      </p:sp>
      <p:sp>
        <p:nvSpPr>
          <p:cNvPr id="3" name="Text 0"/>
          <p:cNvSpPr/>
          <p:nvPr>
            <p:ph idx="100" type="title" hasCustomPrompt="1"/>
          </p:nvPr>
        </p:nvSpPr>
        <p:spPr>
          <a:xfrm>
            <a:off x="457200" y="1463040"/>
            <a:ext cx="11277295" cy="2011680"/>
          </a:xfrm>
          <a:prstGeom prst="rect">
            <a:avLst/>
          </a:prstGeom>
          <a:noFill/>
          <a:ln/>
        </p:spPr>
        <p:txBody>
          <a:bodyPr wrap="square" lIns="0" tIns="0" rIns="0" bIns="0" rtlCol="0" anchor="t"/>
          <a:lstStyle/>
          <a:p>
            <a:pPr algn="l" indent="0" marL="0">
              <a:buNone/>
            </a:pPr>
            <a:r>
              <a:rPr lang="en-US" sz="4200" b="1" dirty="0">
                <a:solidFill>
                  <a:srgbClr val="FF9A5C"/>
                </a:solidFill>
              </a:rPr>
              <a:t>Govern</a:t>
            </a:r>
            <a:pPr algn="l" indent="0" marL="0">
              <a:buNone/>
            </a:pPr>
            <a:r>
              <a:rPr lang="en-US" sz="4200" b="1" dirty="0">
                <a:solidFill>
                  <a:srgbClr val="5D7183"/>
                </a:solidFill>
              </a:rPr>
              <a:t>  ›  </a:t>
            </a:r>
            <a:pPr algn="l" indent="0" marL="0">
              <a:buNone/>
            </a:pPr>
            <a:r>
              <a:rPr lang="en-US" sz="4200" b="1" dirty="0">
                <a:solidFill>
                  <a:srgbClr val="FF9A5C"/>
                </a:solidFill>
              </a:rPr>
              <a:t>Adopt</a:t>
            </a:r>
            <a:pPr algn="l" indent="0" marL="0">
              <a:buNone/>
            </a:pPr>
            <a:r>
              <a:rPr lang="en-US" sz="4200" b="1" dirty="0">
                <a:solidFill>
                  <a:srgbClr val="5D7183"/>
                </a:solidFill>
              </a:rPr>
              <a:t>  ›  </a:t>
            </a:r>
            <a:pPr algn="l" indent="0" marL="0">
              <a:buNone/>
            </a:pPr>
            <a:r>
              <a:rPr lang="en-US" sz="4200" b="1" dirty="0">
                <a:solidFill>
                  <a:srgbClr val="6CCBDF"/>
                </a:solidFill>
              </a:rPr>
              <a:t>Implement</a:t>
            </a:r>
            <a:pPr algn="l" indent="0" marL="0">
              <a:buNone/>
            </a:pPr>
            <a:r>
              <a:rPr lang="en-US" sz="4200" b="1" dirty="0">
                <a:solidFill>
                  <a:srgbClr val="5D7183"/>
                </a:solidFill>
              </a:rPr>
              <a:t>  ›  </a:t>
            </a:r>
            <a:pPr algn="l" indent="0" marL="0">
              <a:buNone/>
            </a:pPr>
            <a:r>
              <a:rPr lang="en-US" sz="4200" b="1" dirty="0">
                <a:solidFill>
                  <a:srgbClr val="6CCBDF"/>
                </a:solidFill>
              </a:rPr>
              <a:t>Monitor</a:t>
            </a:r>
            <a:endParaRPr lang="en-US" sz="4200" dirty="0"/>
          </a:p>
          <a:p>
            <a:pPr algn="l" indent="0" marL="0">
              <a:buNone/>
            </a:pPr>
            <a:r>
              <a:rPr lang="en-US" sz="4200" b="1" dirty="0">
                <a:solidFill>
                  <a:schemeClr val="bg1"/>
                </a:solidFill>
              </a:rPr>
              <a:t>AI Governance Operating Model</a:t>
            </a:r>
            <a:endParaRPr lang="en-US" sz="4200" dirty="0"/>
          </a:p>
        </p:txBody>
      </p:sp>
      <p:sp>
        <p:nvSpPr>
          <p:cNvPr id="4" name="Text 2"/>
          <p:cNvSpPr txBox="1"/>
          <p:nvPr/>
        </p:nvSpPr>
        <p:spPr>
          <a:xfrm>
            <a:off x="457200" y="3840480"/>
            <a:ext cx="5120640" cy="2011680"/>
          </a:xfrm>
          <a:prstGeom prst="rect">
            <a:avLst/>
          </a:prstGeom>
          <a:noFill/>
          <a:ln/>
        </p:spPr>
        <p:txBody>
          <a:bodyPr wrap="square" lIns="0" tIns="0" rIns="0" bIns="0" rtlCol="0" anchor="t"/>
          <a:lstStyle/>
          <a:p>
            <a:pPr indent="0" marL="0">
              <a:lnSpc>
                <a:spcPct val="115000"/>
              </a:lnSpc>
              <a:buNone/>
            </a:pPr>
            <a:r>
              <a:rPr lang="en-US" sz="1400" dirty="0">
                <a:solidFill>
                  <a:srgbClr val="C9D5DF"/>
                </a:solidFill>
              </a:rPr>
              <a:t>One line of sight from the idea for an AI use case to its risk tier, the decision to approve it, the guardrails built around it and the monitoring that keeps it safe. Built for the EU AI Act and DORA, with ISO/IEC 42001 as the management system and CIS Controls Implementation Group 3 as the control baseline.</a:t>
            </a:r>
            <a:endParaRPr lang="en-US" sz="1400" dirty="0"/>
          </a:p>
        </p:txBody>
      </p:sp>
      <p:sp>
        <p:nvSpPr>
          <p:cNvPr id="5" name="Shape 3"/>
          <p:cNvSpPr/>
          <p:nvPr/>
        </p:nvSpPr>
        <p:spPr>
          <a:xfrm>
            <a:off x="5943600" y="3840480"/>
            <a:ext cx="1828800" cy="1828800"/>
          </a:xfrm>
          <a:prstGeom prst="rect">
            <a:avLst/>
          </a:prstGeom>
          <a:ln w="12700">
            <a:solidFill>
              <a:srgbClr val="3A4F62"/>
            </a:solidFill>
            <a:prstDash val="solid"/>
          </a:ln>
        </p:spPr>
      </p:sp>
      <p:sp>
        <p:nvSpPr>
          <p:cNvPr id="6" name="Text 4"/>
          <p:cNvSpPr txBox="1"/>
          <p:nvPr/>
        </p:nvSpPr>
        <p:spPr>
          <a:xfrm>
            <a:off x="6071616" y="3931920"/>
            <a:ext cx="1572768" cy="1645920"/>
          </a:xfrm>
          <a:prstGeom prst="rect">
            <a:avLst/>
          </a:prstGeom>
          <a:noFill/>
          <a:ln/>
        </p:spPr>
        <p:txBody>
          <a:bodyPr wrap="square" lIns="0" tIns="0" rIns="0" bIns="0" rtlCol="0" anchor="ctr"/>
          <a:lstStyle/>
          <a:p>
            <a:pPr indent="0" marL="0">
              <a:spcAft>
                <a:spcPts val="500"/>
              </a:spcAft>
              <a:buNone/>
            </a:pPr>
            <a:r>
              <a:rPr lang="en-US" sz="900" spc="200" kern="0" dirty="0">
                <a:solidFill>
                  <a:srgbClr val="9FB0BF"/>
                </a:solidFill>
              </a:rPr>
              <a:t>REGULATORY DRIVERS</a:t>
            </a:r>
            <a:endParaRPr lang="en-US" sz="900" dirty="0"/>
          </a:p>
          <a:p>
            <a:pPr indent="0" marL="0">
              <a:spcAft>
                <a:spcPts val="500"/>
              </a:spcAft>
              <a:buNone/>
            </a:pPr>
            <a:r>
              <a:rPr lang="en-US" sz="1500" b="1" dirty="0">
                <a:solidFill>
                  <a:schemeClr val="bg1"/>
                </a:solidFill>
                <a:latin typeface="+mj-lt" pitchFamily="34" charset="0"/>
                <a:ea typeface="+mj-lt" pitchFamily="34" charset="-122"/>
                <a:cs typeface="+mj-lt" pitchFamily="34" charset="-120"/>
              </a:rPr>
              <a:t>EU AI Act · DORA</a:t>
            </a:r>
            <a:endParaRPr lang="en-US" sz="900" dirty="0"/>
          </a:p>
          <a:p>
            <a:pPr indent="0" marL="0">
              <a:spcAft>
                <a:spcPts val="500"/>
              </a:spcAft>
              <a:buNone/>
            </a:pPr>
            <a:r>
              <a:rPr lang="en-US" sz="1100" dirty="0">
                <a:solidFill>
                  <a:srgbClr val="C9D5DF"/>
                </a:solidFill>
              </a:rPr>
              <a:t>Regulations (EU) 2024/1689 and 2022/2554</a:t>
            </a:r>
            <a:endParaRPr lang="en-US" sz="900" dirty="0"/>
          </a:p>
        </p:txBody>
      </p:sp>
      <p:sp>
        <p:nvSpPr>
          <p:cNvPr id="7" name="Shape 5"/>
          <p:cNvSpPr/>
          <p:nvPr/>
        </p:nvSpPr>
        <p:spPr>
          <a:xfrm>
            <a:off x="7909560" y="3840480"/>
            <a:ext cx="1828800" cy="1828800"/>
          </a:xfrm>
          <a:prstGeom prst="rect">
            <a:avLst/>
          </a:prstGeom>
          <a:ln w="12700">
            <a:solidFill>
              <a:srgbClr val="3A4F62"/>
            </a:solidFill>
            <a:prstDash val="solid"/>
          </a:ln>
        </p:spPr>
      </p:sp>
      <p:sp>
        <p:nvSpPr>
          <p:cNvPr id="8" name="Text 6"/>
          <p:cNvSpPr txBox="1"/>
          <p:nvPr/>
        </p:nvSpPr>
        <p:spPr>
          <a:xfrm>
            <a:off x="8037576" y="3931920"/>
            <a:ext cx="1572768" cy="1645920"/>
          </a:xfrm>
          <a:prstGeom prst="rect">
            <a:avLst/>
          </a:prstGeom>
          <a:noFill/>
          <a:ln/>
        </p:spPr>
        <p:txBody>
          <a:bodyPr wrap="square" lIns="0" tIns="0" rIns="0" bIns="0" rtlCol="0" anchor="ctr"/>
          <a:lstStyle/>
          <a:p>
            <a:pPr indent="0" marL="0">
              <a:spcAft>
                <a:spcPts val="500"/>
              </a:spcAft>
              <a:buNone/>
            </a:pPr>
            <a:r>
              <a:rPr lang="en-US" sz="900" spc="200" kern="0" dirty="0">
                <a:solidFill>
                  <a:srgbClr val="9FB0BF"/>
                </a:solidFill>
              </a:rPr>
              <a:t>MANAGEMENT SYSTEM</a:t>
            </a:r>
            <a:endParaRPr lang="en-US" sz="900" dirty="0"/>
          </a:p>
          <a:p>
            <a:pPr indent="0" marL="0">
              <a:spcAft>
                <a:spcPts val="500"/>
              </a:spcAft>
              <a:buNone/>
            </a:pPr>
            <a:r>
              <a:rPr lang="en-US" sz="1500" b="1" dirty="0">
                <a:solidFill>
                  <a:schemeClr val="bg1"/>
                </a:solidFill>
                <a:latin typeface="+mj-lt" pitchFamily="34" charset="0"/>
                <a:ea typeface="+mj-lt" pitchFamily="34" charset="-122"/>
                <a:cs typeface="+mj-lt" pitchFamily="34" charset="-120"/>
              </a:rPr>
              <a:t>ISO/IEC 42001:2023</a:t>
            </a:r>
            <a:endParaRPr lang="en-US" sz="900" dirty="0"/>
          </a:p>
          <a:p>
            <a:pPr indent="0" marL="0">
              <a:spcAft>
                <a:spcPts val="500"/>
              </a:spcAft>
              <a:buNone/>
            </a:pPr>
            <a:r>
              <a:rPr lang="en-US" sz="1100" dirty="0">
                <a:solidFill>
                  <a:srgbClr val="C9D5DF"/>
                </a:solidFill>
              </a:rPr>
              <a:t>AI management system</a:t>
            </a:r>
            <a:endParaRPr lang="en-US" sz="900" dirty="0"/>
          </a:p>
        </p:txBody>
      </p:sp>
      <p:sp>
        <p:nvSpPr>
          <p:cNvPr id="9" name="Shape 7"/>
          <p:cNvSpPr/>
          <p:nvPr/>
        </p:nvSpPr>
        <p:spPr>
          <a:xfrm>
            <a:off x="9875520" y="3840480"/>
            <a:ext cx="1828800" cy="1828800"/>
          </a:xfrm>
          <a:prstGeom prst="rect">
            <a:avLst/>
          </a:prstGeom>
          <a:ln w="12700">
            <a:solidFill>
              <a:srgbClr val="3A4F62"/>
            </a:solidFill>
            <a:prstDash val="solid"/>
          </a:ln>
        </p:spPr>
      </p:sp>
      <p:sp>
        <p:nvSpPr>
          <p:cNvPr id="10" name="Text 8"/>
          <p:cNvSpPr txBox="1"/>
          <p:nvPr/>
        </p:nvSpPr>
        <p:spPr>
          <a:xfrm>
            <a:off x="10003536" y="3931920"/>
            <a:ext cx="1572768" cy="1645920"/>
          </a:xfrm>
          <a:prstGeom prst="rect">
            <a:avLst/>
          </a:prstGeom>
          <a:noFill/>
          <a:ln/>
        </p:spPr>
        <p:txBody>
          <a:bodyPr wrap="square" lIns="0" tIns="0" rIns="0" bIns="0" rtlCol="0" anchor="ctr"/>
          <a:lstStyle/>
          <a:p>
            <a:pPr indent="0" marL="0">
              <a:spcAft>
                <a:spcPts val="500"/>
              </a:spcAft>
              <a:buNone/>
            </a:pPr>
            <a:r>
              <a:rPr lang="en-US" sz="900" spc="200" kern="0" dirty="0">
                <a:solidFill>
                  <a:srgbClr val="9FB0BF"/>
                </a:solidFill>
              </a:rPr>
              <a:t>CONTROL BASELINE</a:t>
            </a:r>
            <a:endParaRPr lang="en-US" sz="900" dirty="0"/>
          </a:p>
          <a:p>
            <a:pPr indent="0" marL="0">
              <a:spcAft>
                <a:spcPts val="500"/>
              </a:spcAft>
              <a:buNone/>
            </a:pPr>
            <a:r>
              <a:rPr lang="en-US" sz="1500" b="1" dirty="0">
                <a:solidFill>
                  <a:schemeClr val="bg1"/>
                </a:solidFill>
                <a:latin typeface="+mj-lt" pitchFamily="34" charset="0"/>
                <a:ea typeface="+mj-lt" pitchFamily="34" charset="-122"/>
                <a:cs typeface="+mj-lt" pitchFamily="34" charset="-120"/>
              </a:rPr>
              <a:t>CIS Controls v8.1 · IG3</a:t>
            </a:r>
            <a:endParaRPr lang="en-US" sz="900" dirty="0"/>
          </a:p>
          <a:p>
            <a:pPr indent="0" marL="0">
              <a:spcAft>
                <a:spcPts val="500"/>
              </a:spcAft>
              <a:buNone/>
            </a:pPr>
            <a:r>
              <a:rPr lang="en-US" sz="1100" dirty="0">
                <a:solidFill>
                  <a:srgbClr val="C9D5DF"/>
                </a:solidFill>
              </a:rPr>
              <a:t>Implementation Group 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Nine linked steps, from idea to monitoring</a:t>
            </a:r>
            <a:endParaRPr lang="en-US" sz="3000" dirty="0"/>
          </a:p>
        </p:txBody>
      </p:sp>
      <p:sp>
        <p:nvSpPr>
          <p:cNvPr id="3" name="Text 1"/>
          <p:cNvSpPr txBox="1"/>
          <p:nvPr/>
        </p:nvSpPr>
        <p:spPr>
          <a:xfrm>
            <a:off x="457200" y="1005840"/>
            <a:ext cx="11277295" cy="365760"/>
          </a:xfrm>
          <a:prstGeom prst="rect">
            <a:avLst/>
          </a:prstGeom>
          <a:noFill/>
          <a:ln/>
        </p:spPr>
        <p:txBody>
          <a:bodyPr wrap="square" lIns="0" tIns="0" rIns="0" bIns="0" rtlCol="0" anchor="t"/>
          <a:lstStyle/>
          <a:p>
            <a:pPr indent="0" marL="0">
              <a:buNone/>
            </a:pPr>
            <a:r>
              <a:rPr lang="en-US" sz="1400" dirty="0">
                <a:solidFill>
                  <a:schemeClr val="accent1"/>
                </a:solidFill>
              </a:rPr>
              <a:t>■ </a:t>
            </a:r>
            <a:pPr indent="0" marL="0">
              <a:buNone/>
            </a:pPr>
            <a:r>
              <a:rPr lang="en-US" sz="1400" dirty="0">
                <a:solidFill>
                  <a:schemeClr val="tx2"/>
                </a:solidFill>
              </a:rPr>
              <a:t>Govern and decide      </a:t>
            </a:r>
            <a:pPr indent="0" marL="0">
              <a:buNone/>
            </a:pPr>
            <a:r>
              <a:rPr lang="en-US" sz="1400" dirty="0">
                <a:solidFill>
                  <a:schemeClr val="accent2"/>
                </a:solidFill>
              </a:rPr>
              <a:t>■ </a:t>
            </a:r>
            <a:pPr indent="0" marL="0">
              <a:buNone/>
            </a:pPr>
            <a:r>
              <a:rPr lang="en-US" sz="1400" dirty="0">
                <a:solidFill>
                  <a:schemeClr val="tx2"/>
                </a:solidFill>
              </a:rPr>
              <a:t>Implement, adopt and monitor</a:t>
            </a:r>
            <a:endParaRPr lang="en-US" sz="1400" dirty="0"/>
          </a:p>
        </p:txBody>
      </p:sp>
      <p:sp>
        <p:nvSpPr>
          <p:cNvPr id="4" name="Stage 1"/>
          <p:cNvSpPr/>
          <p:nvPr/>
        </p:nvSpPr>
        <p:spPr>
          <a:xfrm>
            <a:off x="457200" y="1645920"/>
            <a:ext cx="1598473" cy="868680"/>
          </a:xfrm>
          <a:prstGeom prst="homePlate">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01</a:t>
            </a:r>
            <a:endParaRPr lang="en-US" sz="2000" dirty="0"/>
          </a:p>
        </p:txBody>
      </p:sp>
      <p:sp>
        <p:nvSpPr>
          <p:cNvPr id="5" name="Stage 2"/>
          <p:cNvSpPr/>
          <p:nvPr/>
        </p:nvSpPr>
        <p:spPr>
          <a:xfrm>
            <a:off x="1667053"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02</a:t>
            </a:r>
            <a:endParaRPr lang="en-US" sz="2000" dirty="0"/>
          </a:p>
        </p:txBody>
      </p:sp>
      <p:sp>
        <p:nvSpPr>
          <p:cNvPr id="6" name="Stage 3"/>
          <p:cNvSpPr/>
          <p:nvPr/>
        </p:nvSpPr>
        <p:spPr>
          <a:xfrm>
            <a:off x="2876906"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03</a:t>
            </a:r>
            <a:endParaRPr lang="en-US" sz="2000" dirty="0"/>
          </a:p>
        </p:txBody>
      </p:sp>
      <p:sp>
        <p:nvSpPr>
          <p:cNvPr id="7" name="Stage 4"/>
          <p:cNvSpPr/>
          <p:nvPr/>
        </p:nvSpPr>
        <p:spPr>
          <a:xfrm>
            <a:off x="4086758"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04</a:t>
            </a:r>
            <a:endParaRPr lang="en-US" sz="2000" dirty="0"/>
          </a:p>
        </p:txBody>
      </p:sp>
      <p:sp>
        <p:nvSpPr>
          <p:cNvPr id="8" name="Stage 5"/>
          <p:cNvSpPr/>
          <p:nvPr/>
        </p:nvSpPr>
        <p:spPr>
          <a:xfrm>
            <a:off x="5296611"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05</a:t>
            </a:r>
            <a:endParaRPr lang="en-US" sz="2000" dirty="0"/>
          </a:p>
        </p:txBody>
      </p:sp>
      <p:sp>
        <p:nvSpPr>
          <p:cNvPr id="9" name="Stage 6"/>
          <p:cNvSpPr/>
          <p:nvPr/>
        </p:nvSpPr>
        <p:spPr>
          <a:xfrm>
            <a:off x="6506464"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06</a:t>
            </a:r>
            <a:endParaRPr lang="en-US" sz="2000" dirty="0"/>
          </a:p>
        </p:txBody>
      </p:sp>
      <p:sp>
        <p:nvSpPr>
          <p:cNvPr id="10" name="Stage 7"/>
          <p:cNvSpPr/>
          <p:nvPr/>
        </p:nvSpPr>
        <p:spPr>
          <a:xfrm>
            <a:off x="7716317"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07</a:t>
            </a:r>
            <a:endParaRPr lang="en-US" sz="2000" dirty="0"/>
          </a:p>
        </p:txBody>
      </p:sp>
      <p:sp>
        <p:nvSpPr>
          <p:cNvPr id="11" name="Stage 8"/>
          <p:cNvSpPr/>
          <p:nvPr/>
        </p:nvSpPr>
        <p:spPr>
          <a:xfrm>
            <a:off x="8926170"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08</a:t>
            </a:r>
            <a:endParaRPr lang="en-US" sz="2000" dirty="0"/>
          </a:p>
        </p:txBody>
      </p:sp>
      <p:sp>
        <p:nvSpPr>
          <p:cNvPr id="12" name="Stage 9"/>
          <p:cNvSpPr/>
          <p:nvPr/>
        </p:nvSpPr>
        <p:spPr>
          <a:xfrm>
            <a:off x="10136022"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09</a:t>
            </a:r>
            <a:endParaRPr lang="en-US" sz="2000" dirty="0"/>
          </a:p>
        </p:txBody>
      </p:sp>
      <p:sp>
        <p:nvSpPr>
          <p:cNvPr id="13" name="Text 11"/>
          <p:cNvSpPr txBox="1"/>
          <p:nvPr/>
        </p:nvSpPr>
        <p:spPr>
          <a:xfrm>
            <a:off x="493776"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Intake</a:t>
            </a:r>
            <a:endParaRPr lang="en-US" sz="1250" dirty="0"/>
          </a:p>
        </p:txBody>
      </p:sp>
      <p:pic>
        <p:nvPicPr>
          <p:cNvPr id="14" name="Image 0" descr="preencoded.png">    </p:cNvPr>
          <p:cNvPicPr>
            <a:picLocks noChangeAspect="1"/>
          </p:cNvPicPr>
          <p:nvPr/>
        </p:nvPicPr>
        <p:blipFill>
          <a:blip r:embed="rId1"/>
          <a:stretch>
            <a:fillRect/>
          </a:stretch>
        </p:blipFill>
        <p:spPr>
          <a:xfrm>
            <a:off x="493776" y="3429000"/>
            <a:ext cx="502920" cy="502920"/>
          </a:xfrm>
          <a:prstGeom prst="rect">
            <a:avLst/>
          </a:prstGeom>
        </p:spPr>
      </p:pic>
      <p:sp>
        <p:nvSpPr>
          <p:cNvPr id="15" name="Text 12"/>
          <p:cNvSpPr txBox="1"/>
          <p:nvPr/>
        </p:nvSpPr>
        <p:spPr>
          <a:xfrm>
            <a:off x="493776"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The business problem, the owner and the expected benefit.</a:t>
            </a:r>
            <a:endParaRPr lang="en-US" sz="1300" dirty="0"/>
          </a:p>
        </p:txBody>
      </p:sp>
      <p:sp>
        <p:nvSpPr>
          <p:cNvPr id="16" name="Text 13"/>
          <p:cNvSpPr txBox="1"/>
          <p:nvPr/>
        </p:nvSpPr>
        <p:spPr>
          <a:xfrm>
            <a:off x="1703629"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Inventory</a:t>
            </a:r>
            <a:endParaRPr lang="en-US" sz="1250" dirty="0"/>
          </a:p>
        </p:txBody>
      </p:sp>
      <p:pic>
        <p:nvPicPr>
          <p:cNvPr id="17" name="Image 1" descr="preencoded.png">    </p:cNvPr>
          <p:cNvPicPr>
            <a:picLocks noChangeAspect="1"/>
          </p:cNvPicPr>
          <p:nvPr/>
        </p:nvPicPr>
        <p:blipFill>
          <a:blip r:embed="rId2"/>
          <a:stretch>
            <a:fillRect/>
          </a:stretch>
        </p:blipFill>
        <p:spPr>
          <a:xfrm>
            <a:off x="1703629" y="3429000"/>
            <a:ext cx="502920" cy="502920"/>
          </a:xfrm>
          <a:prstGeom prst="rect">
            <a:avLst/>
          </a:prstGeom>
        </p:spPr>
      </p:pic>
      <p:sp>
        <p:nvSpPr>
          <p:cNvPr id="18" name="Text 14"/>
          <p:cNvSpPr txBox="1"/>
          <p:nvPr/>
        </p:nvSpPr>
        <p:spPr>
          <a:xfrm>
            <a:off x="1703629"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Every AI system registered: purpose, provider, data and users.</a:t>
            </a:r>
            <a:endParaRPr lang="en-US" sz="1300" dirty="0"/>
          </a:p>
        </p:txBody>
      </p:sp>
      <p:sp>
        <p:nvSpPr>
          <p:cNvPr id="19" name="Text 15"/>
          <p:cNvSpPr txBox="1"/>
          <p:nvPr/>
        </p:nvSpPr>
        <p:spPr>
          <a:xfrm>
            <a:off x="2913482"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Risk tier</a:t>
            </a:r>
            <a:endParaRPr lang="en-US" sz="1250" dirty="0"/>
          </a:p>
        </p:txBody>
      </p:sp>
      <p:pic>
        <p:nvPicPr>
          <p:cNvPr id="20" name="Image 2" descr="preencoded.png">    </p:cNvPr>
          <p:cNvPicPr>
            <a:picLocks noChangeAspect="1"/>
          </p:cNvPicPr>
          <p:nvPr/>
        </p:nvPicPr>
        <p:blipFill>
          <a:blip r:embed="rId3"/>
          <a:stretch>
            <a:fillRect/>
          </a:stretch>
        </p:blipFill>
        <p:spPr>
          <a:xfrm>
            <a:off x="2913482" y="3429000"/>
            <a:ext cx="502920" cy="502920"/>
          </a:xfrm>
          <a:prstGeom prst="rect">
            <a:avLst/>
          </a:prstGeom>
        </p:spPr>
      </p:pic>
      <p:sp>
        <p:nvSpPr>
          <p:cNvPr id="21" name="Text 16"/>
          <p:cNvSpPr txBox="1"/>
          <p:nvPr/>
        </p:nvSpPr>
        <p:spPr>
          <a:xfrm>
            <a:off x="2913482"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The AI Act role and tier: prohibited, high-risk, transparency or minimal.</a:t>
            </a:r>
            <a:endParaRPr lang="en-US" sz="1300" dirty="0"/>
          </a:p>
        </p:txBody>
      </p:sp>
      <p:sp>
        <p:nvSpPr>
          <p:cNvPr id="22" name="Text 17"/>
          <p:cNvSpPr txBox="1"/>
          <p:nvPr/>
        </p:nvSpPr>
        <p:spPr>
          <a:xfrm>
            <a:off x="4123334"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Assessment</a:t>
            </a:r>
            <a:endParaRPr lang="en-US" sz="1250" dirty="0"/>
          </a:p>
        </p:txBody>
      </p:sp>
      <p:pic>
        <p:nvPicPr>
          <p:cNvPr id="23" name="Image 3" descr="preencoded.png">    </p:cNvPr>
          <p:cNvPicPr>
            <a:picLocks noChangeAspect="1"/>
          </p:cNvPicPr>
          <p:nvPr/>
        </p:nvPicPr>
        <p:blipFill>
          <a:blip r:embed="rId4"/>
          <a:stretch>
            <a:fillRect/>
          </a:stretch>
        </p:blipFill>
        <p:spPr>
          <a:xfrm>
            <a:off x="4123334" y="3429000"/>
            <a:ext cx="502920" cy="502920"/>
          </a:xfrm>
          <a:prstGeom prst="rect">
            <a:avLst/>
          </a:prstGeom>
        </p:spPr>
      </p:pic>
      <p:sp>
        <p:nvSpPr>
          <p:cNvPr id="24" name="Text 18"/>
          <p:cNvSpPr txBox="1"/>
          <p:nvPr/>
        </p:nvSpPr>
        <p:spPr>
          <a:xfrm>
            <a:off x="4123334"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Risks to people, data and the business. A DPIA where personal data is involved.</a:t>
            </a:r>
            <a:endParaRPr lang="en-US" sz="1300" dirty="0"/>
          </a:p>
        </p:txBody>
      </p:sp>
      <p:sp>
        <p:nvSpPr>
          <p:cNvPr id="25" name="Text 19"/>
          <p:cNvSpPr txBox="1"/>
          <p:nvPr/>
        </p:nvSpPr>
        <p:spPr>
          <a:xfrm>
            <a:off x="5333187"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Approval</a:t>
            </a:r>
            <a:endParaRPr lang="en-US" sz="1250" dirty="0"/>
          </a:p>
        </p:txBody>
      </p:sp>
      <p:pic>
        <p:nvPicPr>
          <p:cNvPr id="26" name="Image 4" descr="preencoded.png">    </p:cNvPr>
          <p:cNvPicPr>
            <a:picLocks noChangeAspect="1"/>
          </p:cNvPicPr>
          <p:nvPr/>
        </p:nvPicPr>
        <p:blipFill>
          <a:blip r:embed="rId5"/>
          <a:stretch>
            <a:fillRect/>
          </a:stretch>
        </p:blipFill>
        <p:spPr>
          <a:xfrm>
            <a:off x="5333187" y="3429000"/>
            <a:ext cx="502920" cy="502920"/>
          </a:xfrm>
          <a:prstGeom prst="rect">
            <a:avLst/>
          </a:prstGeom>
        </p:spPr>
      </p:pic>
      <p:sp>
        <p:nvSpPr>
          <p:cNvPr id="27" name="Text 20"/>
          <p:cNvSpPr txBox="1"/>
          <p:nvPr/>
        </p:nvSpPr>
        <p:spPr>
          <a:xfrm>
            <a:off x="5333187"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The AI committee accepts, sets conditions or rejects the use case.</a:t>
            </a:r>
            <a:endParaRPr lang="en-US" sz="1300" dirty="0"/>
          </a:p>
        </p:txBody>
      </p:sp>
      <p:sp>
        <p:nvSpPr>
          <p:cNvPr id="28" name="Text 21"/>
          <p:cNvSpPr txBox="1"/>
          <p:nvPr/>
        </p:nvSpPr>
        <p:spPr>
          <a:xfrm>
            <a:off x="6543040"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Build</a:t>
            </a:r>
            <a:endParaRPr lang="en-US" sz="1250" dirty="0"/>
          </a:p>
        </p:txBody>
      </p:sp>
      <p:pic>
        <p:nvPicPr>
          <p:cNvPr id="29" name="Image 5" descr="preencoded.png">    </p:cNvPr>
          <p:cNvPicPr>
            <a:picLocks noChangeAspect="1"/>
          </p:cNvPicPr>
          <p:nvPr/>
        </p:nvPicPr>
        <p:blipFill>
          <a:blip r:embed="rId6"/>
          <a:stretch>
            <a:fillRect/>
          </a:stretch>
        </p:blipFill>
        <p:spPr>
          <a:xfrm>
            <a:off x="6543040" y="3429000"/>
            <a:ext cx="502920" cy="502920"/>
          </a:xfrm>
          <a:prstGeom prst="rect">
            <a:avLst/>
          </a:prstGeom>
        </p:spPr>
      </p:pic>
      <p:sp>
        <p:nvSpPr>
          <p:cNvPr id="30" name="Text 22"/>
          <p:cNvSpPr txBox="1"/>
          <p:nvPr/>
        </p:nvSpPr>
        <p:spPr>
          <a:xfrm>
            <a:off x="6543040"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Data, model, guardrails and human oversight configured and documented.</a:t>
            </a:r>
            <a:endParaRPr lang="en-US" sz="1300" dirty="0"/>
          </a:p>
        </p:txBody>
      </p:sp>
      <p:sp>
        <p:nvSpPr>
          <p:cNvPr id="31" name="Text 23"/>
          <p:cNvSpPr txBox="1"/>
          <p:nvPr/>
        </p:nvSpPr>
        <p:spPr>
          <a:xfrm>
            <a:off x="7752893"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Validation</a:t>
            </a:r>
            <a:endParaRPr lang="en-US" sz="1250" dirty="0"/>
          </a:p>
        </p:txBody>
      </p:sp>
      <p:pic>
        <p:nvPicPr>
          <p:cNvPr id="32" name="Image 6" descr="preencoded.png">    </p:cNvPr>
          <p:cNvPicPr>
            <a:picLocks noChangeAspect="1"/>
          </p:cNvPicPr>
          <p:nvPr/>
        </p:nvPicPr>
        <p:blipFill>
          <a:blip r:embed="rId7"/>
          <a:stretch>
            <a:fillRect/>
          </a:stretch>
        </p:blipFill>
        <p:spPr>
          <a:xfrm>
            <a:off x="7752893" y="3429000"/>
            <a:ext cx="502920" cy="502920"/>
          </a:xfrm>
          <a:prstGeom prst="rect">
            <a:avLst/>
          </a:prstGeom>
        </p:spPr>
      </p:pic>
      <p:sp>
        <p:nvSpPr>
          <p:cNvPr id="33" name="Text 24"/>
          <p:cNvSpPr txBox="1"/>
          <p:nvPr/>
        </p:nvSpPr>
        <p:spPr>
          <a:xfrm>
            <a:off x="7752893"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Accuracy, robustness, bias and security tested before release.</a:t>
            </a:r>
            <a:endParaRPr lang="en-US" sz="1300" dirty="0"/>
          </a:p>
        </p:txBody>
      </p:sp>
      <p:sp>
        <p:nvSpPr>
          <p:cNvPr id="34" name="Text 25"/>
          <p:cNvSpPr txBox="1"/>
          <p:nvPr/>
        </p:nvSpPr>
        <p:spPr>
          <a:xfrm>
            <a:off x="8962746"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Rollout</a:t>
            </a:r>
            <a:endParaRPr lang="en-US" sz="1250" dirty="0"/>
          </a:p>
        </p:txBody>
      </p:sp>
      <p:pic>
        <p:nvPicPr>
          <p:cNvPr id="35" name="Image 7" descr="preencoded.png">    </p:cNvPr>
          <p:cNvPicPr>
            <a:picLocks noChangeAspect="1"/>
          </p:cNvPicPr>
          <p:nvPr/>
        </p:nvPicPr>
        <p:blipFill>
          <a:blip r:embed="rId8"/>
          <a:stretch>
            <a:fillRect/>
          </a:stretch>
        </p:blipFill>
        <p:spPr>
          <a:xfrm>
            <a:off x="8962746" y="3429000"/>
            <a:ext cx="502920" cy="502920"/>
          </a:xfrm>
          <a:prstGeom prst="rect">
            <a:avLst/>
          </a:prstGeom>
        </p:spPr>
      </p:pic>
      <p:sp>
        <p:nvSpPr>
          <p:cNvPr id="36" name="Text 26"/>
          <p:cNvSpPr txBox="1"/>
          <p:nvPr/>
        </p:nvSpPr>
        <p:spPr>
          <a:xfrm>
            <a:off x="8962746"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Users trained, instructions issued and people told when they deal with AI.</a:t>
            </a:r>
            <a:endParaRPr lang="en-US" sz="1300" dirty="0"/>
          </a:p>
        </p:txBody>
      </p:sp>
      <p:sp>
        <p:nvSpPr>
          <p:cNvPr id="37" name="Text 27"/>
          <p:cNvSpPr txBox="1"/>
          <p:nvPr/>
        </p:nvSpPr>
        <p:spPr>
          <a:xfrm>
            <a:off x="10172598"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Monitoring</a:t>
            </a:r>
            <a:endParaRPr lang="en-US" sz="1250" dirty="0"/>
          </a:p>
        </p:txBody>
      </p:sp>
      <p:pic>
        <p:nvPicPr>
          <p:cNvPr id="38" name="Image 8" descr="preencoded.png">    </p:cNvPr>
          <p:cNvPicPr>
            <a:picLocks noChangeAspect="1"/>
          </p:cNvPicPr>
          <p:nvPr/>
        </p:nvPicPr>
        <p:blipFill>
          <a:blip r:embed="rId9"/>
          <a:stretch>
            <a:fillRect/>
          </a:stretch>
        </p:blipFill>
        <p:spPr>
          <a:xfrm>
            <a:off x="10172598" y="3429000"/>
            <a:ext cx="502920" cy="502920"/>
          </a:xfrm>
          <a:prstGeom prst="rect">
            <a:avLst/>
          </a:prstGeom>
        </p:spPr>
      </p:pic>
      <p:sp>
        <p:nvSpPr>
          <p:cNvPr id="39" name="Text 28"/>
          <p:cNvSpPr txBox="1"/>
          <p:nvPr/>
        </p:nvSpPr>
        <p:spPr>
          <a:xfrm>
            <a:off x="10172598"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Logs, drift, incidents and feedback reviewed. Retired when no longer justified.</a:t>
            </a:r>
            <a:endParaRPr lang="en-US" sz="13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Worked example: Microsoft 365 Copilot for staff</a:t>
            </a:r>
            <a:endParaRPr lang="en-US" sz="3000" dirty="0"/>
          </a:p>
        </p:txBody>
      </p:sp>
      <p:sp>
        <p:nvSpPr>
          <p:cNvPr id="3" name="Text 1"/>
          <p:cNvSpPr txBox="1"/>
          <p:nvPr/>
        </p:nvSpPr>
        <p:spPr>
          <a:xfrm>
            <a:off x="457200" y="1005840"/>
            <a:ext cx="11277295" cy="365760"/>
          </a:xfrm>
          <a:prstGeom prst="rect">
            <a:avLst/>
          </a:prstGeom>
          <a:noFill/>
          <a:ln/>
        </p:spPr>
        <p:txBody>
          <a:bodyPr wrap="square" lIns="0" tIns="0" rIns="0" bIns="0" rtlCol="0" anchor="t"/>
          <a:lstStyle/>
          <a:p>
            <a:pPr indent="0" marL="0">
              <a:buNone/>
            </a:pPr>
            <a:r>
              <a:rPr lang="en-US" sz="1400" dirty="0">
                <a:solidFill>
                  <a:schemeClr val="tx2"/>
                </a:solidFill>
              </a:rPr>
              <a:t>AI-UC-001 in the matrix · Bracketed values are placeholders</a:t>
            </a:r>
            <a:endParaRPr lang="en-US" sz="1400" dirty="0"/>
          </a:p>
        </p:txBody>
      </p:sp>
      <p:sp>
        <p:nvSpPr>
          <p:cNvPr id="4" name="Stage 1"/>
          <p:cNvSpPr/>
          <p:nvPr/>
        </p:nvSpPr>
        <p:spPr>
          <a:xfrm>
            <a:off x="457200" y="1554480"/>
            <a:ext cx="1415593" cy="457200"/>
          </a:xfrm>
          <a:prstGeom prst="homePlate">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01</a:t>
            </a:r>
            <a:endParaRPr lang="en-US" sz="1300" dirty="0"/>
          </a:p>
        </p:txBody>
      </p:sp>
      <p:sp>
        <p:nvSpPr>
          <p:cNvPr id="5" name="Stage 2"/>
          <p:cNvSpPr/>
          <p:nvPr/>
        </p:nvSpPr>
        <p:spPr>
          <a:xfrm>
            <a:off x="1689913"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02</a:t>
            </a:r>
            <a:endParaRPr lang="en-US" sz="1300" dirty="0"/>
          </a:p>
        </p:txBody>
      </p:sp>
      <p:sp>
        <p:nvSpPr>
          <p:cNvPr id="6" name="Stage 3"/>
          <p:cNvSpPr/>
          <p:nvPr/>
        </p:nvSpPr>
        <p:spPr>
          <a:xfrm>
            <a:off x="2922626"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03</a:t>
            </a:r>
            <a:endParaRPr lang="en-US" sz="1300" dirty="0"/>
          </a:p>
        </p:txBody>
      </p:sp>
      <p:sp>
        <p:nvSpPr>
          <p:cNvPr id="7" name="Stage 4"/>
          <p:cNvSpPr/>
          <p:nvPr/>
        </p:nvSpPr>
        <p:spPr>
          <a:xfrm>
            <a:off x="4155338"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04</a:t>
            </a:r>
            <a:endParaRPr lang="en-US" sz="1300" dirty="0"/>
          </a:p>
        </p:txBody>
      </p:sp>
      <p:sp>
        <p:nvSpPr>
          <p:cNvPr id="8" name="Stage 5"/>
          <p:cNvSpPr/>
          <p:nvPr/>
        </p:nvSpPr>
        <p:spPr>
          <a:xfrm>
            <a:off x="5388051"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05</a:t>
            </a:r>
            <a:endParaRPr lang="en-US" sz="1300" dirty="0"/>
          </a:p>
        </p:txBody>
      </p:sp>
      <p:sp>
        <p:nvSpPr>
          <p:cNvPr id="9" name="Stage 6"/>
          <p:cNvSpPr/>
          <p:nvPr/>
        </p:nvSpPr>
        <p:spPr>
          <a:xfrm>
            <a:off x="6620764"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06</a:t>
            </a:r>
            <a:endParaRPr lang="en-US" sz="1300" dirty="0"/>
          </a:p>
        </p:txBody>
      </p:sp>
      <p:sp>
        <p:nvSpPr>
          <p:cNvPr id="10" name="Stage 7"/>
          <p:cNvSpPr/>
          <p:nvPr/>
        </p:nvSpPr>
        <p:spPr>
          <a:xfrm>
            <a:off x="7853477"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07</a:t>
            </a:r>
            <a:endParaRPr lang="en-US" sz="1300" dirty="0"/>
          </a:p>
        </p:txBody>
      </p:sp>
      <p:sp>
        <p:nvSpPr>
          <p:cNvPr id="11" name="Stage 8"/>
          <p:cNvSpPr/>
          <p:nvPr/>
        </p:nvSpPr>
        <p:spPr>
          <a:xfrm>
            <a:off x="9086190"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08</a:t>
            </a:r>
            <a:endParaRPr lang="en-US" sz="1300" dirty="0"/>
          </a:p>
        </p:txBody>
      </p:sp>
      <p:sp>
        <p:nvSpPr>
          <p:cNvPr id="12" name="Stage 9"/>
          <p:cNvSpPr/>
          <p:nvPr/>
        </p:nvSpPr>
        <p:spPr>
          <a:xfrm>
            <a:off x="10318902"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09</a:t>
            </a:r>
            <a:endParaRPr lang="en-US" sz="1300" dirty="0"/>
          </a:p>
        </p:txBody>
      </p:sp>
      <p:sp>
        <p:nvSpPr>
          <p:cNvPr id="13" name="Example 01"/>
          <p:cNvSpPr txBox="1"/>
          <p:nvPr/>
        </p:nvSpPr>
        <p:spPr>
          <a:xfrm>
            <a:off x="457200"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Intake</a:t>
            </a:r>
            <a:endParaRPr lang="en-US" sz="1200" dirty="0"/>
          </a:p>
          <a:p>
            <a:pPr indent="0" marL="0">
              <a:spcAft>
                <a:spcPts val="600"/>
              </a:spcAft>
              <a:buNone/>
            </a:pPr>
            <a:r>
              <a:rPr lang="en-US" sz="1200" dirty="0">
                <a:solidFill>
                  <a:schemeClr val="tx1"/>
                </a:solidFill>
              </a:rPr>
              <a:t>Microsoft 365 Copilot for [500] staff. Owner: head of operations. Benefit: time saved on drafting and search.</a:t>
            </a:r>
            <a:endParaRPr lang="en-US" sz="1200" dirty="0"/>
          </a:p>
        </p:txBody>
      </p:sp>
      <p:sp>
        <p:nvSpPr>
          <p:cNvPr id="14" name="Example 02"/>
          <p:cNvSpPr txBox="1"/>
          <p:nvPr/>
        </p:nvSpPr>
        <p:spPr>
          <a:xfrm>
            <a:off x="1689913"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Inventory</a:t>
            </a:r>
            <a:endParaRPr lang="en-US" sz="1200" dirty="0"/>
          </a:p>
          <a:p>
            <a:pPr indent="0" marL="0">
              <a:spcAft>
                <a:spcPts val="600"/>
              </a:spcAft>
              <a:buNone/>
            </a:pPr>
            <a:r>
              <a:rPr lang="en-US" sz="1200" dirty="0">
                <a:solidFill>
                  <a:schemeClr val="tx1"/>
                </a:solidFill>
              </a:rPr>
              <a:t>Registered as AI-UC-001. Provider: Microsoft. Data: the mail, files and chats each user can already open.</a:t>
            </a:r>
            <a:endParaRPr lang="en-US" sz="1200" dirty="0"/>
          </a:p>
        </p:txBody>
      </p:sp>
      <p:sp>
        <p:nvSpPr>
          <p:cNvPr id="15" name="Example 03"/>
          <p:cNvSpPr txBox="1"/>
          <p:nvPr/>
        </p:nvSpPr>
        <p:spPr>
          <a:xfrm>
            <a:off x="2922626"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Risk tier</a:t>
            </a:r>
            <a:endParaRPr lang="en-US" sz="1200" dirty="0"/>
          </a:p>
          <a:p>
            <a:pPr indent="0" marL="0">
              <a:spcAft>
                <a:spcPts val="600"/>
              </a:spcAft>
              <a:buNone/>
            </a:pPr>
            <a:r>
              <a:rPr lang="en-US" sz="1200" dirty="0">
                <a:solidFill>
                  <a:schemeClr val="tx1"/>
                </a:solidFill>
              </a:rPr>
              <a:t>The entity is a deployer of a general-purpose assistant. Not high-risk. The AI literacy duty applies (Art. 4).</a:t>
            </a:r>
            <a:endParaRPr lang="en-US" sz="1200" dirty="0"/>
          </a:p>
        </p:txBody>
      </p:sp>
      <p:sp>
        <p:nvSpPr>
          <p:cNvPr id="16" name="Example 04"/>
          <p:cNvSpPr txBox="1"/>
          <p:nvPr/>
        </p:nvSpPr>
        <p:spPr>
          <a:xfrm>
            <a:off x="4155338"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Assessment</a:t>
            </a:r>
            <a:endParaRPr lang="en-US" sz="1200" dirty="0"/>
          </a:p>
          <a:p>
            <a:pPr indent="0" marL="0">
              <a:spcAft>
                <a:spcPts val="600"/>
              </a:spcAft>
              <a:buNone/>
            </a:pPr>
            <a:r>
              <a:rPr lang="en-US" sz="1200" dirty="0">
                <a:solidFill>
                  <a:schemeClr val="tx1"/>
                </a:solidFill>
              </a:rPr>
              <a:t>Main risk: Copilot surfaces files that are shared too widely. DPIA completed with the DPO.</a:t>
            </a:r>
            <a:endParaRPr lang="en-US" sz="1200" dirty="0"/>
          </a:p>
        </p:txBody>
      </p:sp>
      <p:sp>
        <p:nvSpPr>
          <p:cNvPr id="17" name="Example 05"/>
          <p:cNvSpPr txBox="1"/>
          <p:nvPr/>
        </p:nvSpPr>
        <p:spPr>
          <a:xfrm>
            <a:off x="5388051"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Approval</a:t>
            </a:r>
            <a:endParaRPr lang="en-US" sz="1200" dirty="0"/>
          </a:p>
          <a:p>
            <a:pPr indent="0" marL="0">
              <a:spcAft>
                <a:spcPts val="600"/>
              </a:spcAft>
              <a:buNone/>
            </a:pPr>
            <a:r>
              <a:rPr lang="en-US" sz="1200" dirty="0">
                <a:solidFill>
                  <a:schemeClr val="tx1"/>
                </a:solidFill>
              </a:rPr>
              <a:t>Approved with conditions: fix oversharing first, phased rollout, usage policy.</a:t>
            </a:r>
            <a:endParaRPr lang="en-US" sz="1200" dirty="0"/>
          </a:p>
        </p:txBody>
      </p:sp>
      <p:sp>
        <p:nvSpPr>
          <p:cNvPr id="18" name="Example 06"/>
          <p:cNvSpPr txBox="1"/>
          <p:nvPr/>
        </p:nvSpPr>
        <p:spPr>
          <a:xfrm>
            <a:off x="6620764"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Build</a:t>
            </a:r>
            <a:endParaRPr lang="en-US" sz="1200" dirty="0"/>
          </a:p>
          <a:p>
            <a:pPr indent="0" marL="0">
              <a:spcAft>
                <a:spcPts val="600"/>
              </a:spcAft>
              <a:buNone/>
            </a:pPr>
            <a:r>
              <a:rPr lang="en-US" sz="1200" dirty="0">
                <a:solidFill>
                  <a:schemeClr val="tx1"/>
                </a:solidFill>
              </a:rPr>
              <a:t>Sensitivity labels and DLP applied. Overshared sites restricted. Conditional access enforced.</a:t>
            </a:r>
            <a:endParaRPr lang="en-US" sz="1200" dirty="0"/>
          </a:p>
        </p:txBody>
      </p:sp>
      <p:sp>
        <p:nvSpPr>
          <p:cNvPr id="19" name="Example 07"/>
          <p:cNvSpPr txBox="1"/>
          <p:nvPr/>
        </p:nvSpPr>
        <p:spPr>
          <a:xfrm>
            <a:off x="7853477"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Validation</a:t>
            </a:r>
            <a:endParaRPr lang="en-US" sz="1200" dirty="0"/>
          </a:p>
          <a:p>
            <a:pPr indent="0" marL="0">
              <a:spcAft>
                <a:spcPts val="600"/>
              </a:spcAft>
              <a:buNone/>
            </a:pPr>
            <a:r>
              <a:rPr lang="en-US" sz="1200" dirty="0">
                <a:solidFill>
                  <a:schemeClr val="tx1"/>
                </a:solidFill>
              </a:rPr>
              <a:t>Pilot with [50] users. Prompts tested for data leakage. Results reviewed by security and the DPO.</a:t>
            </a:r>
            <a:endParaRPr lang="en-US" sz="1200" dirty="0"/>
          </a:p>
        </p:txBody>
      </p:sp>
      <p:sp>
        <p:nvSpPr>
          <p:cNvPr id="20" name="Example 08"/>
          <p:cNvSpPr txBox="1"/>
          <p:nvPr/>
        </p:nvSpPr>
        <p:spPr>
          <a:xfrm>
            <a:off x="9086190"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Rollout</a:t>
            </a:r>
            <a:endParaRPr lang="en-US" sz="1200" dirty="0"/>
          </a:p>
          <a:p>
            <a:pPr indent="0" marL="0">
              <a:spcAft>
                <a:spcPts val="600"/>
              </a:spcAft>
              <a:buNone/>
            </a:pPr>
            <a:r>
              <a:rPr lang="en-US" sz="1200" dirty="0">
                <a:solidFill>
                  <a:schemeClr val="tx1"/>
                </a:solidFill>
              </a:rPr>
              <a:t>Users complete AI literacy training and accept the usage policy before a licence is assigned.</a:t>
            </a:r>
            <a:endParaRPr lang="en-US" sz="1200" dirty="0"/>
          </a:p>
        </p:txBody>
      </p:sp>
      <p:sp>
        <p:nvSpPr>
          <p:cNvPr id="21" name="Example 09"/>
          <p:cNvSpPr txBox="1"/>
          <p:nvPr/>
        </p:nvSpPr>
        <p:spPr>
          <a:xfrm>
            <a:off x="10318902"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Monitoring</a:t>
            </a:r>
            <a:endParaRPr lang="en-US" sz="1200" dirty="0"/>
          </a:p>
          <a:p>
            <a:pPr indent="0" marL="0">
              <a:spcAft>
                <a:spcPts val="600"/>
              </a:spcAft>
              <a:buNone/>
            </a:pPr>
            <a:r>
              <a:rPr lang="en-US" sz="1200" dirty="0">
                <a:solidFill>
                  <a:schemeClr val="tx1"/>
                </a:solidFill>
              </a:rPr>
              <a:t>Copilot audit logs sent to the SIEM. Purview reports reviewed monthly. Incidents go to the SOC.</a:t>
            </a:r>
            <a:endParaRPr lang="en-US" sz="12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AI use case matrix: what the risk is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9144000" cy="914400"/>
        </p:xfrm>
        <a:graphic>
          <a:graphicData uri="http://schemas.openxmlformats.org/drawingml/2006/table">
            <a:tbl>
              <a:tblPr/>
              <a:tblGrid>
                <a:gridCol w="1203756"/>
                <a:gridCol w="1900668"/>
                <a:gridCol w="2407512"/>
                <a:gridCol w="2154090"/>
                <a:gridCol w="2534224"/>
                <a:gridCol w="1077045"/>
              </a:tblGrid>
              <a:tr h="524510">
                <a:tc>
                  <a:txBody>
                    <a:bodyPr/>
                    <a:lstStyle/>
                    <a:p>
                      <a:pPr indent="0" marL="0">
                        <a:buNone/>
                      </a:pPr>
                      <a:r>
                        <a:rPr lang="en-US" sz="1250" b="1" dirty="0">
                          <a:solidFill>
                            <a:schemeClr val="bg1"/>
                          </a:solidFill>
                        </a:rPr>
                        <a:t>ID</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Use case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AI Act role and tier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Data used</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Key risk</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Inherent risk</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r>
              <a:tr h="718185">
                <a:tc>
                  <a:txBody>
                    <a:bodyPr/>
                    <a:lstStyle/>
                    <a:p>
                      <a:pPr indent="0" marL="0">
                        <a:buNone/>
                      </a:pPr>
                      <a:r>
                        <a:rPr lang="en-US" sz="1250" b="1" dirty="0">
                          <a:solidFill>
                            <a:schemeClr val="tx1"/>
                          </a:solidFill>
                        </a:rPr>
                        <a:t>AI-UC-001</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Microsoft 365 Copilot for staff</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Deployer. Not high-risk.</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Mail, files, chats and meetings the user can already open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Overshared or mislabelled content surfaces in answers.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High</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r>
              <a:tr h="718185">
                <a:tc>
                  <a:txBody>
                    <a:bodyPr/>
                    <a:lstStyle/>
                    <a:p>
                      <a:pPr indent="0" marL="0">
                        <a:buNone/>
                      </a:pPr>
                      <a:r>
                        <a:rPr lang="en-US" sz="1250" b="1" dirty="0">
                          <a:solidFill>
                            <a:schemeClr val="tx1"/>
                          </a:solidFill>
                        </a:rPr>
                        <a:t>AI-UC-002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Customer service chatbot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Deployer. Transparency duty (Art. 50).</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Customer questions, approved product knowledge base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 wrong or misleading answer reaches a customer. Prompt injection.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High</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r>
              <a:tr h="718185">
                <a:tc>
                  <a:txBody>
                    <a:bodyPr/>
                    <a:lstStyle/>
                    <a:p>
                      <a:pPr indent="0" marL="0">
                        <a:buNone/>
                      </a:pPr>
                      <a:r>
                        <a:rPr lang="en-US" sz="1250" b="1" dirty="0">
                          <a:solidFill>
                            <a:schemeClr val="tx1"/>
                          </a:solidFill>
                        </a:rPr>
                        <a:t>AI-UC-003</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Creditworthiness scoring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High-risk (Annex III). Duties apply from 2 December 2027.</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Applicant financial and behavioural data</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Biased or unexplained decisions affect access to credit.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bg1"/>
                          </a:solidFill>
                        </a:rPr>
                        <a:t>Critical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r>
              <a:tr h="718185">
                <a:tc>
                  <a:txBody>
                    <a:bodyPr/>
                    <a:lstStyle/>
                    <a:p>
                      <a:pPr indent="0" marL="0">
                        <a:buNone/>
                      </a:pPr>
                      <a:r>
                        <a:rPr lang="en-US" sz="1250" b="1" dirty="0">
                          <a:solidFill>
                            <a:schemeClr val="tx1"/>
                          </a:solidFill>
                        </a:rPr>
                        <a:t>AI-UC-004</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Payment fraud detection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Deployer. Not high-risk: fraud detection is excluded in Annex III.</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Transaction and device data</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Missed fraud, or legitimate payments blocked. Model evasion.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High</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r>
              <a:tr h="718185">
                <a:tc>
                  <a:txBody>
                    <a:bodyPr/>
                    <a:lstStyle/>
                    <a:p>
                      <a:pPr indent="0" marL="0">
                        <a:buNone/>
                      </a:pPr>
                      <a:r>
                        <a:rPr lang="en-US" sz="1250" b="1" dirty="0">
                          <a:solidFill>
                            <a:schemeClr val="tx1"/>
                          </a:solidFill>
                        </a:rPr>
                        <a:t>AI-UC-005</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SOC assistant for alert triage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Deployer. Not high-risk.</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Security logs and incident data</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An analyst trusts a wrong summary. Sensitive log data leaves the tenant.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Medium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330835">
                <a:tc>
                  <a:txBody>
                    <a:bodyPr/>
                    <a:lstStyle/>
                    <a:p>
                      <a:pPr indent="0" marL="0">
                        <a:buNone/>
                      </a:pPr>
                      <a:r>
                        <a:rPr lang="en-US" sz="1250" b="1" dirty="0">
                          <a:solidFill>
                            <a:schemeClr val="tx2"/>
                          </a:solidFill>
                        </a:rPr>
                        <a:t>AI-UC-0NN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[Use case]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[Role, tier]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[Data]</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[Risk]</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[Rating]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AI use case matrix: how it is controlled</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9144000" cy="914400"/>
        </p:xfrm>
        <a:graphic>
          <a:graphicData uri="http://schemas.openxmlformats.org/drawingml/2006/table">
            <a:tbl>
              <a:tblPr/>
              <a:tblGrid>
                <a:gridCol w="1115982"/>
                <a:gridCol w="2584380"/>
                <a:gridCol w="2114493"/>
                <a:gridCol w="2231965"/>
                <a:gridCol w="2231965"/>
                <a:gridCol w="998511"/>
              </a:tblGrid>
              <a:tr h="524510">
                <a:tc>
                  <a:txBody>
                    <a:bodyPr/>
                    <a:lstStyle/>
                    <a:p>
                      <a:pPr indent="0" marL="0">
                        <a:buNone/>
                      </a:pPr>
                      <a:r>
                        <a:rPr lang="en-US" sz="1250" b="1" dirty="0">
                          <a:solidFill>
                            <a:schemeClr val="bg1"/>
                          </a:solidFill>
                        </a:rPr>
                        <a:t>ID</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Controls and guardrails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50" b="1" dirty="0">
                          <a:solidFill>
                            <a:schemeClr val="bg1"/>
                          </a:solidFill>
                        </a:rPr>
                        <a:t>Human oversight</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50" b="1" dirty="0">
                          <a:solidFill>
                            <a:schemeClr val="bg1"/>
                          </a:solidFill>
                        </a:rPr>
                        <a:t>Monitoring and logging</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50" b="1" dirty="0">
                          <a:solidFill>
                            <a:schemeClr val="bg1"/>
                          </a:solidFill>
                        </a:rPr>
                        <a:t>Evidence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50" b="1" dirty="0">
                          <a:solidFill>
                            <a:schemeClr val="bg1"/>
                          </a:solidFill>
                        </a:rPr>
                        <a:t>Residual risk</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718185">
                <a:tc>
                  <a:txBody>
                    <a:bodyPr/>
                    <a:lstStyle/>
                    <a:p>
                      <a:pPr indent="0" marL="0">
                        <a:buNone/>
                      </a:pPr>
                      <a:r>
                        <a:rPr lang="en-US" sz="1250" b="1" dirty="0">
                          <a:solidFill>
                            <a:schemeClr val="tx1"/>
                          </a:solidFill>
                        </a:rPr>
                        <a:t>AI-UC-001</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Sensitivity labels, DLP, restricted site access, usage policy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The user reviews every output before using it.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Copilot audit logs to the SIEM, Purview AI reports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DPIA, pilot report, training records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Medium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718185">
                <a:tc>
                  <a:txBody>
                    <a:bodyPr/>
                    <a:lstStyle/>
                    <a:p>
                      <a:pPr indent="0" marL="0">
                        <a:buNone/>
                      </a:pPr>
                      <a:r>
                        <a:rPr lang="en-US" sz="1250" b="1" dirty="0">
                          <a:solidFill>
                            <a:schemeClr val="tx1"/>
                          </a:solidFill>
                        </a:rPr>
                        <a:t>AI-UC-002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Grounding on approved content, input and output filters, clear AI disclosure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Hand-off to a human agent on request or on low confidence.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Conversation logs, answer quality sampling, abuse alerts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Disclosure notice, test results, sampling reports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Medium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718185">
                <a:tc>
                  <a:txBody>
                    <a:bodyPr/>
                    <a:lstStyle/>
                    <a:p>
                      <a:pPr indent="0" marL="0">
                        <a:buNone/>
                      </a:pPr>
                      <a:r>
                        <a:rPr lang="en-US" sz="1250" b="1" dirty="0">
                          <a:solidFill>
                            <a:schemeClr val="tx1"/>
                          </a:solidFill>
                        </a:rPr>
                        <a:t>AI-UC-003</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Data governance, bias testing, documented model, explanation to applicants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 credit officer can override. Decisions are reviewable.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Performance and drift monitoring, automatic logs retained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Technical documentation, fundamental rights impact assessment, DPIA</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Medium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911860">
                <a:tc>
                  <a:txBody>
                    <a:bodyPr/>
                    <a:lstStyle/>
                    <a:p>
                      <a:pPr indent="0" marL="0">
                        <a:buNone/>
                      </a:pPr>
                      <a:r>
                        <a:rPr lang="en-US" sz="1250" b="1" dirty="0">
                          <a:solidFill>
                            <a:schemeClr val="tx1"/>
                          </a:solidFill>
                        </a:rPr>
                        <a:t>AI-UC-004</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Model validation, threshold governance, fallback rules, change control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An analyst reviews blocked payments.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Detection rate, false positives and drift. Supports a critical function under DORA.</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Validation report, change records, incident records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Medium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718185">
                <a:tc>
                  <a:txBody>
                    <a:bodyPr/>
                    <a:lstStyle/>
                    <a:p>
                      <a:pPr indent="0" marL="0">
                        <a:buNone/>
                      </a:pPr>
                      <a:r>
                        <a:rPr lang="en-US" sz="1250" b="1" dirty="0">
                          <a:solidFill>
                            <a:schemeClr val="tx1"/>
                          </a:solidFill>
                        </a:rPr>
                        <a:t>AI-UC-005</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Data boundary checked, least-privilege access, prompts and outputs logged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The analyst confirms before any containment action.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Usage and action logs in the SIEM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Access review, test cases, playbook updates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Low</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3"/>
                    </a:solidFill>
                  </a:tcPr>
                </a:tc>
              </a:tr>
              <a:tr h="330835">
                <a:tc>
                  <a:txBody>
                    <a:bodyPr/>
                    <a:lstStyle/>
                    <a:p>
                      <a:pPr indent="0" marL="0">
                        <a:buNone/>
                      </a:pPr>
                      <a:r>
                        <a:rPr lang="en-US" sz="1250" b="1" dirty="0">
                          <a:solidFill>
                            <a:schemeClr val="tx2"/>
                          </a:solidFill>
                        </a:rPr>
                        <a:t>AI-UC-0NN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[Guardrails]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[Oversight]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[Monitoring]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[Proof]</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[Rating]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EU AI Act risk tiers</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Classify every use case before anything else. Dates reflect the Digital Omnibus on AI, in force since 27 July 2026.</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1430702"/>
                <a:gridCol w="2777244"/>
                <a:gridCol w="2103973"/>
                <a:gridCol w="3113880"/>
                <a:gridCol w="1851496"/>
              </a:tblGrid>
              <a:tr h="524510">
                <a:tc>
                  <a:txBody>
                    <a:bodyPr/>
                    <a:lstStyle/>
                    <a:p>
                      <a:pPr indent="0" marL="0">
                        <a:buNone/>
                      </a:pPr>
                      <a:r>
                        <a:rPr lang="en-US" sz="1250" b="1" dirty="0">
                          <a:solidFill>
                            <a:schemeClr val="bg1"/>
                          </a:solidFill>
                        </a:rPr>
                        <a:t>Tier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What falls in it</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Example in a financial entity</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Main duties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Applies from</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718185">
                <a:tc>
                  <a:txBody>
                    <a:bodyPr/>
                    <a:lstStyle/>
                    <a:p>
                      <a:pPr indent="0" marL="0">
                        <a:buNone/>
                      </a:pPr>
                      <a:r>
                        <a:rPr lang="en-US" sz="1250" b="1" dirty="0">
                          <a:solidFill>
                            <a:schemeClr val="bg1"/>
                          </a:solidFill>
                        </a:rPr>
                        <a:t>Prohibited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Manipulation, social scoring, emotion recognition at work, untargeted scraping of faces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Emotion recognition on staff calls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Do not build, buy or use. (Art. 5)</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2 February 2025</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911860">
                <a:tc>
                  <a:txBody>
                    <a:bodyPr/>
                    <a:lstStyle/>
                    <a:p>
                      <a:pPr indent="0" marL="0">
                        <a:buNone/>
                      </a:pPr>
                      <a:r>
                        <a:rPr lang="en-US" sz="1250" b="1" dirty="0">
                          <a:solidFill>
                            <a:schemeClr val="tx1"/>
                          </a:solidFill>
                        </a:rPr>
                        <a:t>High-risk</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50" dirty="0">
                          <a:solidFill>
                            <a:schemeClr val="tx1"/>
                          </a:solidFill>
                        </a:rPr>
                        <a:t>Systems in the areas listed in Annex III, such as credit, insurance pricing, employment and biometrics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Creditworthiness scoring, CV screening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Risk management, data governance, documentation, logging, human oversight. Deployer duties in Art. 26 and Art. 27.</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2 December 2027 (Annex III), 2 August 2028 (products in Annex I)</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718185">
                <a:tc>
                  <a:txBody>
                    <a:bodyPr/>
                    <a:lstStyle/>
                    <a:p>
                      <a:pPr indent="0" marL="0">
                        <a:buNone/>
                      </a:pPr>
                      <a:r>
                        <a:rPr lang="en-US" sz="1250" b="1" dirty="0">
                          <a:solidFill>
                            <a:schemeClr val="tx1"/>
                          </a:solidFill>
                        </a:rPr>
                        <a:t>Transparency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50" dirty="0">
                          <a:solidFill>
                            <a:schemeClr val="tx1"/>
                          </a:solidFill>
                        </a:rPr>
                        <a:t>Systems that talk to people or generate content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Customer service chatbot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Tell people they are dealing with AI. Label generated content. (Art. 50)</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2 August 2026</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718185">
                <a:tc>
                  <a:txBody>
                    <a:bodyPr/>
                    <a:lstStyle/>
                    <a:p>
                      <a:pPr indent="0" marL="0">
                        <a:buNone/>
                      </a:pPr>
                      <a:r>
                        <a:rPr lang="en-US" sz="1250" b="1" dirty="0">
                          <a:solidFill>
                            <a:schemeClr val="tx1"/>
                          </a:solidFill>
                        </a:rPr>
                        <a:t>Minimal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Everything else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Document search, spam filtering, fraud detection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Support AI literacy among staff (Art. 4). Voluntary codes of conduct.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AI literacy since 2 February 2025</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718185">
                <a:tc>
                  <a:txBody>
                    <a:bodyPr/>
                    <a:lstStyle/>
                    <a:p>
                      <a:pPr indent="0" marL="0">
                        <a:buNone/>
                      </a:pPr>
                      <a:r>
                        <a:rPr lang="en-US" sz="1250" b="1" dirty="0">
                          <a:solidFill>
                            <a:schemeClr val="tx1"/>
                          </a:solidFill>
                        </a:rPr>
                        <a:t>General-purpose AI models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Large models that many systems are built 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The model behind an assistant such as Copilot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Duties sit with the model provider (Art. 53 to 55). The entity relies on its documentation.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2 August 2025</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Roles and accountability</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Who decides, who owns and who checks.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2914357"/>
                <a:gridCol w="6588981"/>
                <a:gridCol w="1773957"/>
              </a:tblGrid>
              <a:tr h="365760">
                <a:tc>
                  <a:txBody>
                    <a:bodyPr/>
                    <a:lstStyle/>
                    <a:p>
                      <a:pPr indent="0" marL="0">
                        <a:buNone/>
                      </a:pPr>
                      <a:r>
                        <a:rPr lang="en-US" sz="1250" b="1" dirty="0">
                          <a:solidFill>
                            <a:schemeClr val="bg1"/>
                          </a:solidFill>
                        </a:rPr>
                        <a:t>Role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Accountable for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Line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330835">
                <a:tc>
                  <a:txBody>
                    <a:bodyPr/>
                    <a:lstStyle/>
                    <a:p>
                      <a:pPr indent="0" marL="0">
                        <a:buNone/>
                      </a:pPr>
                      <a:r>
                        <a:rPr lang="en-US" sz="1250" b="1" dirty="0">
                          <a:solidFill>
                            <a:schemeClr val="tx1"/>
                          </a:solidFill>
                        </a:rPr>
                        <a:t>Management body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Approves the AI policy and risk appetite. Receives AI risk reporting.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Governing body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AI governance committee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Approves use cases, sets conditions, reviews the inventory.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Governing body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Use case owner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One AI system through its life: benefit, risk and human oversight.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First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AI and platform engineering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Builds, validates and operates the system. Keeps the documentation.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First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Risk and compliance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Classifies under the AI Act, challenges assessments, tracks obligations.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Second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Data protection officer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Advises on the DPIA, lawful basis and automated decisions.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Second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CISO and security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Sets guardrails, tests security, monitors through the SOC.</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Second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Third-party risk</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Runs provider due diligence and contract terms (TPR-005).</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Second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Internal audit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Tests the AI management system independently.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Third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Adoption gates</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Each gate has one decision, one owner and one output.</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1409662"/>
                <a:gridCol w="3253066"/>
                <a:gridCol w="1843404"/>
                <a:gridCol w="1951840"/>
                <a:gridCol w="2819324"/>
              </a:tblGrid>
              <a:tr h="365760">
                <a:tc>
                  <a:txBody>
                    <a:bodyPr/>
                    <a:lstStyle/>
                    <a:p>
                      <a:pPr indent="0" marL="0">
                        <a:buNone/>
                      </a:pPr>
                      <a:r>
                        <a:rPr lang="en-US" sz="1250" b="1" dirty="0">
                          <a:solidFill>
                            <a:schemeClr val="bg1"/>
                          </a:solidFill>
                        </a:rPr>
                        <a:t>Gate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Decision</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Owner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Output</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Anchor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24510">
                <a:tc>
                  <a:txBody>
                    <a:bodyPr/>
                    <a:lstStyle/>
                    <a:p>
                      <a:pPr indent="0" marL="0">
                        <a:buNone/>
                      </a:pPr>
                      <a:r>
                        <a:rPr lang="en-US" sz="1250" b="1" dirty="0">
                          <a:solidFill>
                            <a:schemeClr val="tx1"/>
                          </a:solidFill>
                        </a:rPr>
                        <a:t>1 Intake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Is it AI? Who owns it? What is the benefit?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Use case owner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Use case record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ISO/IEC 42001 A.9.4</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524510">
                <a:tc>
                  <a:txBody>
                    <a:bodyPr/>
                    <a:lstStyle/>
                    <a:p>
                      <a:pPr indent="0" marL="0">
                        <a:buNone/>
                      </a:pPr>
                      <a:r>
                        <a:rPr lang="en-US" sz="1250" b="1" dirty="0">
                          <a:solidFill>
                            <a:schemeClr val="tx1"/>
                          </a:solidFill>
                        </a:rPr>
                        <a:t>2 Classify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What is our role and the risk tier? Is it prohibited?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Risk and compliance, legal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Classification record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AI Act Art. 5, Art. 6, Annex III</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524510">
                <a:tc>
                  <a:txBody>
                    <a:bodyPr/>
                    <a:lstStyle/>
                    <a:p>
                      <a:pPr indent="0" marL="0">
                        <a:buNone/>
                      </a:pPr>
                      <a:r>
                        <a:rPr lang="en-US" sz="1250" b="1" dirty="0">
                          <a:solidFill>
                            <a:schemeClr val="tx1"/>
                          </a:solidFill>
                        </a:rPr>
                        <a:t>3 Assess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What are the risks to people, data and the business?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Risk, DPO, security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Impact assessment, DPIA</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ISO/IEC 42001 A.5.2, GDPR Art. 35, AI Act Art. 27</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524510">
                <a:tc>
                  <a:txBody>
                    <a:bodyPr/>
                    <a:lstStyle/>
                    <a:p>
                      <a:pPr indent="0" marL="0">
                        <a:buNone/>
                      </a:pPr>
                      <a:r>
                        <a:rPr lang="en-US" sz="1250" b="1" dirty="0">
                          <a:solidFill>
                            <a:schemeClr val="tx1"/>
                          </a:solidFill>
                        </a:rPr>
                        <a:t>4 Approve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Accept, set conditions or reject?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AI governance committee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Decision with conditions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ISO/IEC 42001 Clause 5, A.3.2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524510">
                <a:tc>
                  <a:txBody>
                    <a:bodyPr/>
                    <a:lstStyle/>
                    <a:p>
                      <a:pPr indent="0" marL="0">
                        <a:buNone/>
                      </a:pPr>
                      <a:r>
                        <a:rPr lang="en-US" sz="1250" b="1" dirty="0">
                          <a:solidFill>
                            <a:schemeClr val="tx1"/>
                          </a:solidFill>
                        </a:rPr>
                        <a:t>5 Release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Are tests passed, users trained and oversight in place?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Use case owner, security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Release checklist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AI Act Art. 4, Art. 26, ISO/IEC 42001 A.6.2.4, A.6.2.5</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524510">
                <a:tc>
                  <a:txBody>
                    <a:bodyPr/>
                    <a:lstStyle/>
                    <a:p>
                      <a:pPr indent="0" marL="0">
                        <a:buNone/>
                      </a:pPr>
                      <a:r>
                        <a:rPr lang="en-US" sz="1250" b="1" dirty="0">
                          <a:solidFill>
                            <a:schemeClr val="tx1"/>
                          </a:solidFill>
                        </a:rPr>
                        <a:t>6 Review</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Is it still performing, compliant and needed?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Use case owner, risk</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Periodic review record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AI Act Art. 26(5), ISO/IEC 42001 A.6.2.6, Clause 9</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Internal AI risk rating</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Hybrid: rate by description or by numbers. Bracketed values are placeholders to set against your own risk appetite.</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1034614"/>
                <a:gridCol w="2896920"/>
                <a:gridCol w="2276151"/>
                <a:gridCol w="2276151"/>
                <a:gridCol w="1655383"/>
                <a:gridCol w="1138076"/>
              </a:tblGrid>
              <a:tr h="365760">
                <a:tc>
                  <a:txBody>
                    <a:bodyPr/>
                    <a:lstStyle/>
                    <a:p>
                      <a:pPr indent="0" marL="0">
                        <a:buNone/>
                      </a:pPr>
                      <a:r>
                        <a:rPr lang="en-US" sz="1250" b="1" dirty="0">
                          <a:solidFill>
                            <a:schemeClr val="bg1"/>
                          </a:solidFill>
                        </a:rPr>
                        <a:t>Rating</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Qualitative criteria</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Quantitative trigger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50" b="1" dirty="0">
                          <a:solidFill>
                            <a:schemeClr val="bg1"/>
                          </a:solidFill>
                        </a:rPr>
                        <a:t>Assessment depth</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Approved by</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Review</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911860">
                <a:tc>
                  <a:txBody>
                    <a:bodyPr/>
                    <a:lstStyle/>
                    <a:p>
                      <a:pPr indent="0" marL="0">
                        <a:buNone/>
                      </a:pPr>
                      <a:r>
                        <a:rPr lang="en-US" sz="1250" b="1" dirty="0">
                          <a:solidFill>
                            <a:schemeClr val="bg1"/>
                          </a:solidFill>
                        </a:rPr>
                        <a:t>Critical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High-risk under the AI Act, or decisions about people with legal effect, or a critical function depends on it.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[Over X customers affected] or [decisions over €Y]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Full impact assessment, DPIA, independent validation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AI committee and management body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[6 months]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18185">
                <a:tc>
                  <a:txBody>
                    <a:bodyPr/>
                    <a:lstStyle/>
                    <a:p>
                      <a:pPr indent="0" marL="0">
                        <a:buNone/>
                      </a:pPr>
                      <a:r>
                        <a:rPr lang="en-US" sz="1250" b="1" dirty="0">
                          <a:solidFill>
                            <a:schemeClr val="tx1"/>
                          </a:solidFill>
                        </a:rPr>
                        <a:t>High</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50" dirty="0">
                          <a:solidFill>
                            <a:schemeClr val="tx1"/>
                          </a:solidFill>
                        </a:rPr>
                        <a:t>Customer-facing, or processes personal or confidential data at scale.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[Over X users] or [over Y records]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Impact assessment and DPIA</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AI committee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[Annual]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Medium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50" dirty="0">
                          <a:solidFill>
                            <a:schemeClr val="tx1"/>
                          </a:solidFill>
                        </a:rPr>
                        <a:t>Internal assistant with access to business data.</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[Under X users]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Short assessment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Use case owner and security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[Annual]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Low</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No personal or confidential data and no decisions.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None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Registration only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Use case owner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[Every 2 years]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Implementation guardrails and tooling</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What to implement at each layer, the Microsoft tooling that delivers it, and how it reaches QRadar today and Microsoft Sentinel in the same shape.</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1584413"/>
                <a:gridCol w="3355228"/>
                <a:gridCol w="2982425"/>
                <a:gridCol w="3355228"/>
              </a:tblGrid>
              <a:tr h="365760">
                <a:tc>
                  <a:txBody>
                    <a:bodyPr/>
                    <a:lstStyle/>
                    <a:p>
                      <a:pPr indent="0" marL="0">
                        <a:buNone/>
                      </a:pPr>
                      <a:r>
                        <a:rPr lang="en-US" sz="1150" b="1" dirty="0">
                          <a:solidFill>
                            <a:schemeClr val="bg1"/>
                          </a:solidFill>
                        </a:rPr>
                        <a:t>Layer</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What to implement</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Microsoft tooling</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SIEM view: QRadar and Sentinel</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671703">
                <a:tc>
                  <a:txBody>
                    <a:bodyPr/>
                    <a:lstStyle/>
                    <a:p>
                      <a:pPr indent="0" marL="0">
                        <a:buNone/>
                      </a:pPr>
                      <a:r>
                        <a:rPr lang="en-US" sz="1150" b="1" dirty="0">
                          <a:solidFill>
                            <a:schemeClr val="tx1"/>
                          </a:solidFill>
                        </a:rPr>
                        <a:t>Identity and access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Least privilege for users, agents and service identities. Conditional access.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Entra ID, Conditional Access, Privileged Identity Management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Sign-in and audit logs through the Microsoft Entra ID DSM and the Entra ID connector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93522">
                <a:tc>
                  <a:txBody>
                    <a:bodyPr/>
                    <a:lstStyle/>
                    <a:p>
                      <a:pPr indent="0" marL="0">
                        <a:buNone/>
                      </a:pPr>
                      <a:r>
                        <a:rPr lang="en-US" sz="1150" b="1" dirty="0">
                          <a:solidFill>
                            <a:schemeClr val="tx1"/>
                          </a:solidFill>
                        </a:rPr>
                        <a:t>Data</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Classification, labels and loss prevention. Fix overshared sources before rollout.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Purview sensitivity labels, DLP, Data Security Posture Management for AI</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DLP alerts as a QRadar log source and through the Defender XDR connector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93522">
                <a:tc>
                  <a:txBody>
                    <a:bodyPr/>
                    <a:lstStyle/>
                    <a:p>
                      <a:pPr indent="0" marL="0">
                        <a:buNone/>
                      </a:pPr>
                      <a:r>
                        <a:rPr lang="en-US" sz="1150" b="1" dirty="0">
                          <a:solidFill>
                            <a:schemeClr val="tx1"/>
                          </a:solidFill>
                        </a:rPr>
                        <a:t>Model and prompt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Approved models only. System prompts under change control. Content filters.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Content filters and Prompt Shields in Azure AI Content Safety</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AI threat protection alerts from Defender for Cloud in both platforms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93522">
                <a:tc>
                  <a:txBody>
                    <a:bodyPr/>
                    <a:lstStyle/>
                    <a:p>
                      <a:pPr indent="0" marL="0">
                        <a:buNone/>
                      </a:pPr>
                      <a:r>
                        <a:rPr lang="en-US" sz="1150" b="1" dirty="0">
                          <a:solidFill>
                            <a:schemeClr val="tx1"/>
                          </a:solidFill>
                        </a:rPr>
                        <a:t>Application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Grounding on approved sources, input and output checks, rate limits.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API Management, application gateway and WAF</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Gateway and WAF logs as log sources and through connectors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93522">
                <a:tc>
                  <a:txBody>
                    <a:bodyPr/>
                    <a:lstStyle/>
                    <a:p>
                      <a:pPr indent="0" marL="0">
                        <a:buNone/>
                      </a:pPr>
                      <a:r>
                        <a:rPr lang="en-US" sz="1150" b="1" dirty="0">
                          <a:solidFill>
                            <a:schemeClr val="tx1"/>
                          </a:solidFill>
                        </a:rPr>
                        <a:t>Human oversight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Review before action, override and an escalation path.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Approval steps in the workflow</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Override and approval events logged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671703">
                <a:tc>
                  <a:txBody>
                    <a:bodyPr/>
                    <a:lstStyle/>
                    <a:p>
                      <a:pPr indent="0" marL="0">
                        <a:buNone/>
                      </a:pPr>
                      <a:r>
                        <a:rPr lang="en-US" sz="1150" b="1" dirty="0">
                          <a:solidFill>
                            <a:schemeClr val="tx1"/>
                          </a:solidFill>
                        </a:rPr>
                        <a:t>Logging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Prompts, outputs and actions recorded and retained.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Purview Audit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Unified audit log through the Microsoft Office 365 DSM and the Microsoft 365 connector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93522">
                <a:tc>
                  <a:txBody>
                    <a:bodyPr/>
                    <a:lstStyle/>
                    <a:p>
                      <a:pPr indent="0" marL="0">
                        <a:buNone/>
                      </a:pPr>
                      <a:r>
                        <a:rPr lang="en-US" sz="1150" b="1" dirty="0">
                          <a:solidFill>
                            <a:schemeClr val="tx1"/>
                          </a:solidFill>
                        </a:rPr>
                        <a:t>Unapproved AI</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Discover and block AI services outside the inventory.</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Defender for Cloud Apps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Proxy and firewall logs in QRadar. Cloud discovery data in Sentinel.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93522">
                <a:tc>
                  <a:txBody>
                    <a:bodyPr/>
                    <a:lstStyle/>
                    <a:p>
                      <a:pPr indent="0" marL="0">
                        <a:buNone/>
                      </a:pPr>
                      <a:r>
                        <a:rPr lang="en-US" sz="1150" b="1" dirty="0">
                          <a:solidFill>
                            <a:schemeClr val="tx1"/>
                          </a:solidFill>
                        </a:rPr>
                        <a:t>Providers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Due diligence and contract terms for AI providers.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Service Trust Portal for Microsoft services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Provider logs where the contract grants them (TPR-005)</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KPIs for the management body</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Targets are placeholders. Each metric names where the evidence comes from.</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2619978"/>
                <a:gridCol w="4100835"/>
                <a:gridCol w="1139121"/>
                <a:gridCol w="3417362"/>
              </a:tblGrid>
              <a:tr h="365760">
                <a:tc>
                  <a:txBody>
                    <a:bodyPr/>
                    <a:lstStyle/>
                    <a:p>
                      <a:pPr indent="0" marL="0">
                        <a:buNone/>
                      </a:pPr>
                      <a:r>
                        <a:rPr lang="en-US" sz="1250" b="1" dirty="0">
                          <a:solidFill>
                            <a:schemeClr val="bg1"/>
                          </a:solidFill>
                        </a:rPr>
                        <a:t>Metric</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What it shows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Target</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Evidence source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330835">
                <a:tc>
                  <a:txBody>
                    <a:bodyPr/>
                    <a:lstStyle/>
                    <a:p>
                      <a:pPr indent="0" marL="0">
                        <a:buNone/>
                      </a:pPr>
                      <a:r>
                        <a:rPr lang="en-US" sz="1250" b="1" dirty="0">
                          <a:solidFill>
                            <a:schemeClr val="tx1"/>
                          </a:solidFill>
                        </a:rPr>
                        <a:t>Inventory completeness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AI systems in use that are registered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100%</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AI inventory against discovery data</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Use cases classified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with an AI Act role and risk tier recorded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100%</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Classification records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Assessed before go-live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releases with a completed impact assessment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100%</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Gate records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AI literacy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users trained before they get access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Training records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Unapproved AI services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AI services discovered outside the inventory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Cloud app discovery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Logging coverage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AI systems that send logs to the SIEM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Log source inventory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AI incidents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Incidents that involve an AI system, by severity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Incident records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Reviews on time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periodic reviews completed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Review calendar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Control framework cross-mapping</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9144000" cy="914400"/>
        </p:xfrm>
        <a:graphic>
          <a:graphicData uri="http://schemas.openxmlformats.org/drawingml/2006/table">
            <a:tbl>
              <a:tblPr/>
              <a:tblGrid>
                <a:gridCol w="1797179"/>
                <a:gridCol w="943519"/>
                <a:gridCol w="1258025"/>
                <a:gridCol w="1347884"/>
                <a:gridCol w="1168166"/>
                <a:gridCol w="1123237"/>
                <a:gridCol w="1033378"/>
                <a:gridCol w="1258025"/>
                <a:gridCol w="1347884"/>
              </a:tblGrid>
              <a:tr h="787908">
                <a:tc>
                  <a:txBody>
                    <a:bodyPr/>
                    <a:lstStyle/>
                    <a:p>
                      <a:pPr indent="0" marL="0">
                        <a:buNone/>
                      </a:pPr>
                      <a:r>
                        <a:rPr lang="en-US" sz="1050" b="1" dirty="0">
                          <a:solidFill>
                            <a:schemeClr val="bg1"/>
                          </a:solidFill>
                        </a:rPr>
                        <a:t>Function</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050" b="1" dirty="0">
                          <a:solidFill>
                            <a:schemeClr val="bg1"/>
                          </a:solidFill>
                        </a:rPr>
                        <a:t>NIST CSF 2.0</a:t>
                      </a:r>
                      <a:endParaRPr lang="en-US" sz="1050" dirty="0"/>
                    </a:p>
                    <a:p>
                      <a:pPr indent="0" marL="0">
                        <a:buNone/>
                      </a:pPr>
                      <a:r>
                        <a:rPr lang="en-US" sz="900" b="1" dirty="0">
                          <a:solidFill>
                            <a:schemeClr val="bg1"/>
                          </a:solidFill>
                        </a:rPr>
                        <a:t>Categories</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50" b="1" dirty="0">
                          <a:solidFill>
                            <a:schemeClr val="bg1"/>
                          </a:solidFill>
                        </a:rPr>
                        <a:t>ISO/IEC 27001:2022</a:t>
                      </a:r>
                      <a:endParaRPr lang="en-US" sz="1050" dirty="0"/>
                    </a:p>
                    <a:p>
                      <a:pPr indent="0" marL="0">
                        <a:buNone/>
                      </a:pPr>
                      <a:r>
                        <a:rPr lang="en-US" sz="900" b="1" dirty="0">
                          <a:solidFill>
                            <a:schemeClr val="bg1"/>
                          </a:solidFill>
                        </a:rPr>
                        <a:t>Annex A</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50" b="1" dirty="0">
                          <a:solidFill>
                            <a:schemeClr val="bg1"/>
                          </a:solidFill>
                        </a:rPr>
                        <a:t>DORA · Driver</a:t>
                      </a:r>
                      <a:endParaRPr lang="en-US" sz="1050" dirty="0"/>
                    </a:p>
                    <a:p>
                      <a:pPr indent="0" marL="0">
                        <a:buNone/>
                      </a:pPr>
                      <a:r>
                        <a:rPr lang="en-US" sz="900" b="1" dirty="0">
                          <a:solidFill>
                            <a:schemeClr val="bg1"/>
                          </a:solidFill>
                        </a:rPr>
                        <a:t>Reg. (EU) 2022/2554</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050" b="1" dirty="0">
                          <a:solidFill>
                            <a:schemeClr val="bg1"/>
                          </a:solidFill>
                        </a:rPr>
                        <a:t>GDPR</a:t>
                      </a:r>
                      <a:endParaRPr lang="en-US" sz="1050" dirty="0"/>
                    </a:p>
                    <a:p>
                      <a:pPr indent="0" marL="0">
                        <a:buNone/>
                      </a:pPr>
                      <a:r>
                        <a:rPr lang="en-US" sz="900" b="1" dirty="0">
                          <a:solidFill>
                            <a:schemeClr val="bg1"/>
                          </a:solidFill>
                        </a:rPr>
                        <a:t>Reg. (EU) 2016/679</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50" b="1" dirty="0">
                          <a:solidFill>
                            <a:schemeClr val="bg1"/>
                          </a:solidFill>
                        </a:rPr>
                        <a:t>CIS IG3 · Baseline</a:t>
                      </a:r>
                      <a:endParaRPr lang="en-US" sz="1050" dirty="0"/>
                    </a:p>
                    <a:p>
                      <a:pPr indent="0" marL="0">
                        <a:buNone/>
                      </a:pPr>
                      <a:r>
                        <a:rPr lang="en-US" sz="900" b="1" dirty="0">
                          <a:solidFill>
                            <a:schemeClr val="bg1"/>
                          </a:solidFill>
                        </a:rPr>
                        <a:t>CIS Controls v8.1</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050" b="1" dirty="0">
                          <a:solidFill>
                            <a:schemeClr val="bg1"/>
                          </a:solidFill>
                        </a:rPr>
                        <a:t>CRA</a:t>
                      </a:r>
                      <a:endParaRPr lang="en-US" sz="1050" dirty="0"/>
                    </a:p>
                    <a:p>
                      <a:pPr indent="0" marL="0">
                        <a:buNone/>
                      </a:pPr>
                      <a:r>
                        <a:rPr lang="en-US" sz="900" b="1" dirty="0">
                          <a:solidFill>
                            <a:schemeClr val="bg1"/>
                          </a:solidFill>
                        </a:rPr>
                        <a:t>Reg. (EU) 2024/2847</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50" b="1" dirty="0">
                          <a:solidFill>
                            <a:schemeClr val="bg1"/>
                          </a:solidFill>
                        </a:rPr>
                        <a:t>EU AI Act</a:t>
                      </a:r>
                      <a:endParaRPr lang="en-US" sz="1050" dirty="0"/>
                    </a:p>
                    <a:p>
                      <a:pPr indent="0" marL="0">
                        <a:buNone/>
                      </a:pPr>
                      <a:r>
                        <a:rPr lang="en-US" sz="900" b="1" dirty="0">
                          <a:solidFill>
                            <a:schemeClr val="bg1"/>
                          </a:solidFill>
                        </a:rPr>
                        <a:t>Reg. (EU) 2024/1689</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50" b="1" dirty="0">
                          <a:solidFill>
                            <a:schemeClr val="bg1"/>
                          </a:solidFill>
                        </a:rPr>
                        <a:t>ISO/IEC 42001:2023</a:t>
                      </a:r>
                      <a:endParaRPr lang="en-US" sz="1050" dirty="0"/>
                    </a:p>
                    <a:p>
                      <a:pPr indent="0" marL="0">
                        <a:buNone/>
                      </a:pPr>
                      <a:r>
                        <a:rPr lang="en-US" sz="900" b="1" dirty="0">
                          <a:solidFill>
                            <a:schemeClr val="bg1"/>
                          </a:solidFill>
                        </a:rPr>
                        <a:t>AI management system</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r>
              <a:tr h="384048">
                <a:tc>
                  <a:txBody>
                    <a:bodyPr/>
                    <a:lstStyle/>
                    <a:p>
                      <a:pPr indent="0" marL="0">
                        <a:buNone/>
                      </a:pPr>
                      <a:r>
                        <a:rPr lang="en-US" sz="1050" b="1" dirty="0">
                          <a:solidFill>
                            <a:schemeClr val="tx1"/>
                          </a:solidFill>
                        </a:rPr>
                        <a:t>Policy and accountability</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GV.PO, GV.RR</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A.5.1, A.5.2</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5, Art. 6</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50" dirty="0">
                          <a:solidFill>
                            <a:schemeClr val="tx1"/>
                          </a:solidFill>
                        </a:rPr>
                        <a:t>Art. 5(2), Art. 24</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50" dirty="0">
                          <a:solidFill>
                            <a:schemeClr val="tx1"/>
                          </a:solidFill>
                        </a:rPr>
                        <a: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17, Art. 26(1)</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Clause 5, A.2, A.3</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84048">
                <a:tc>
                  <a:txBody>
                    <a:bodyPr/>
                    <a:lstStyle/>
                    <a:p>
                      <a:pPr indent="0" marL="0">
                        <a:buNone/>
                      </a:pPr>
                      <a:r>
                        <a:rPr lang="en-US" sz="1050" b="1" dirty="0">
                          <a:solidFill>
                            <a:schemeClr val="tx1"/>
                          </a:solidFill>
                        </a:rPr>
                        <a:t>Inventory and classification</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ID.AM</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A.5.9</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8</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50" dirty="0">
                          <a:solidFill>
                            <a:schemeClr val="tx1"/>
                          </a:solidFill>
                        </a:rPr>
                        <a:t>Art. 30</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CIS 2</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50" dirty="0">
                          <a:solidFill>
                            <a:schemeClr val="tx1"/>
                          </a:solidFill>
                        </a:rPr>
                        <a: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5, 6, Annex III</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A.4.2, A.9.4</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84048">
                <a:tc>
                  <a:txBody>
                    <a:bodyPr/>
                    <a:lstStyle/>
                    <a:p>
                      <a:pPr indent="0" marL="0">
                        <a:buNone/>
                      </a:pPr>
                      <a:r>
                        <a:rPr lang="en-US" sz="1050" b="1" dirty="0">
                          <a:solidFill>
                            <a:schemeClr val="tx1"/>
                          </a:solidFill>
                        </a:rPr>
                        <a:t>Risk and impact assessment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ID.RA</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Clause 6.1, A.5.8</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8(2), Art. 8(3)</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50" dirty="0">
                          <a:solidFill>
                            <a:schemeClr val="tx1"/>
                          </a:solidFill>
                        </a:rPr>
                        <a:t>Art. 35</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CIS 16.14</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50" dirty="0">
                          <a:solidFill>
                            <a:schemeClr val="tx1"/>
                          </a:solidFill>
                        </a:rPr>
                        <a: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9, Art. 27</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A.5.2 to A.5.5</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84048">
                <a:tc>
                  <a:txBody>
                    <a:bodyPr/>
                    <a:lstStyle/>
                    <a:p>
                      <a:pPr indent="0" marL="0">
                        <a:buNone/>
                      </a:pPr>
                      <a:r>
                        <a:rPr lang="en-US" sz="1050" b="1" dirty="0">
                          <a:solidFill>
                            <a:schemeClr val="tx1"/>
                          </a:solidFill>
                        </a:rPr>
                        <a:t>Data governance for AI</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PR.DS</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A.5.12, A.5.34</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9(2), Art. 9(3)</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50" dirty="0">
                          <a:solidFill>
                            <a:schemeClr val="tx1"/>
                          </a:solidFill>
                        </a:rPr>
                        <a:t>Art. 5, Art. 25</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CIS 3</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50" dirty="0">
                          <a:solidFill>
                            <a:schemeClr val="tx1"/>
                          </a:solidFill>
                        </a:rPr>
                        <a: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10</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A.7</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84048">
                <a:tc>
                  <a:txBody>
                    <a:bodyPr/>
                    <a:lstStyle/>
                    <a:p>
                      <a:pPr indent="0" marL="0">
                        <a:buNone/>
                      </a:pPr>
                      <a:r>
                        <a:rPr lang="en-US" sz="1050" b="1" dirty="0">
                          <a:solidFill>
                            <a:schemeClr val="tx1"/>
                          </a:solidFill>
                        </a:rPr>
                        <a:t>Secure build and change</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PR.PS</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A.8.25, A.8.32</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9(4)(e), RTS 2024/1774 Art. 16, 17</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50" dirty="0">
                          <a:solidFill>
                            <a:schemeClr val="tx1"/>
                          </a:solidFill>
                        </a:rPr>
                        <a:t>Art. 25</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CIS 16</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50" dirty="0">
                          <a:solidFill>
                            <a:schemeClr val="tx1"/>
                          </a:solidFill>
                        </a:rPr>
                        <a:t>Annex I Part I</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15</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A.6.1, A.6.2.3</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84048">
                <a:tc>
                  <a:txBody>
                    <a:bodyPr/>
                    <a:lstStyle/>
                    <a:p>
                      <a:pPr indent="0" marL="0">
                        <a:buNone/>
                      </a:pPr>
                      <a:r>
                        <a:rPr lang="en-US" sz="1050" b="1" dirty="0">
                          <a:solidFill>
                            <a:schemeClr val="tx1"/>
                          </a:solidFill>
                        </a:rPr>
                        <a:t>Testing and validation</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ID.IM-02</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A.8.29</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24, Art. 25</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50" dirty="0">
                          <a:solidFill>
                            <a:schemeClr val="tx1"/>
                          </a:solidFill>
                        </a:rPr>
                        <a:t>Art. 32(1)(d)</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CIS 16, 18</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50" dirty="0">
                          <a:solidFill>
                            <a:schemeClr val="tx1"/>
                          </a:solidFill>
                        </a:rPr>
                        <a:t>Annex I Part II: regular testing</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9, Art. 15</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A.6.2.4</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84048">
                <a:tc>
                  <a:txBody>
                    <a:bodyPr/>
                    <a:lstStyle/>
                    <a:p>
                      <a:pPr indent="0" marL="0">
                        <a:buNone/>
                      </a:pPr>
                      <a:r>
                        <a:rPr lang="en-US" sz="1050" b="1" dirty="0">
                          <a:solidFill>
                            <a:schemeClr val="tx1"/>
                          </a:solidFill>
                        </a:rPr>
                        <a:t>Oversight and transparency</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50" dirty="0">
                          <a:solidFill>
                            <a:schemeClr val="tx1"/>
                          </a:solidFill>
                        </a:rPr>
                        <a:t>Art. 13, 14, 22</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50" dirty="0">
                          <a:solidFill>
                            <a:schemeClr val="tx1"/>
                          </a:solidFill>
                        </a:rPr>
                        <a: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13, 14, 50</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A.8.2, A.9.2</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84048">
                <a:tc>
                  <a:txBody>
                    <a:bodyPr/>
                    <a:lstStyle/>
                    <a:p>
                      <a:pPr indent="0" marL="0">
                        <a:buNone/>
                      </a:pPr>
                      <a:r>
                        <a:rPr lang="en-US" sz="1050" b="1" dirty="0">
                          <a:solidFill>
                            <a:schemeClr val="tx1"/>
                          </a:solidFill>
                        </a:rPr>
                        <a:t>Literacy and acceptable use</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PR.AT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A.5.10, A.6.3</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13(6)</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50" dirty="0">
                          <a:solidFill>
                            <a:schemeClr val="tx1"/>
                          </a:solidFill>
                        </a:rPr>
                        <a:t>Art. 39(1)(b)</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CIS 14</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50" dirty="0">
                          <a:solidFill>
                            <a:schemeClr val="tx1"/>
                          </a:solidFill>
                        </a:rPr>
                        <a: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4</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Clause 7.2, A.4.6</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84048">
                <a:tc>
                  <a:txBody>
                    <a:bodyPr/>
                    <a:lstStyle/>
                    <a:p>
                      <a:pPr indent="0" marL="0">
                        <a:buNone/>
                      </a:pPr>
                      <a:r>
                        <a:rPr lang="en-US" sz="1050" b="1" dirty="0">
                          <a:solidFill>
                            <a:schemeClr val="tx1"/>
                          </a:solidFill>
                        </a:rPr>
                        <a:t>Logging and incidents</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DE.CM, RS.MA</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A.8.15, A.8.16</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10, Art. 17, Art. 19</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50" dirty="0">
                          <a:solidFill>
                            <a:schemeClr val="tx1"/>
                          </a:solidFill>
                        </a:rPr>
                        <a:t>Art. 33</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CIS 8, 17</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50" dirty="0">
                          <a:solidFill>
                            <a:schemeClr val="tx1"/>
                          </a:solidFill>
                        </a:rPr>
                        <a:t>Art. 14</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12, 26, 73</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A.6.2.6, A.6.2.8, A.8.4</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84048">
                <a:tc>
                  <a:txBody>
                    <a:bodyPr/>
                    <a:lstStyle/>
                    <a:p>
                      <a:pPr indent="0" marL="0">
                        <a:buNone/>
                      </a:pPr>
                      <a:r>
                        <a:rPr lang="en-US" sz="1050" b="1" dirty="0">
                          <a:solidFill>
                            <a:schemeClr val="tx1"/>
                          </a:solidFill>
                        </a:rPr>
                        <a:t>Providers and supply chain</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GV.SC</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A.5.19 to A.5.23</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28, 29, 30</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50" dirty="0">
                          <a:solidFill>
                            <a:schemeClr val="tx1"/>
                          </a:solidFill>
                        </a:rPr>
                        <a:t>Art. 28</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CIS 15</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50" dirty="0">
                          <a:solidFill>
                            <a:schemeClr val="tx1"/>
                          </a:solidFill>
                        </a:rPr>
                        <a:t>Art. 13(5)</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Art. 25</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A.10.2, A.10.3</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raceability">
  <a:themeElements>
    <a:clrScheme name="Traceability">
      <a:dk1>
        <a:srgbClr val="0E1C2A"/>
      </a:dk1>
      <a:lt1>
        <a:srgbClr val="FFFFFF"/>
      </a:lt1>
      <a:dk2>
        <a:srgbClr val="43525F"/>
      </a:dk2>
      <a:lt2>
        <a:srgbClr val="EEF1F4"/>
      </a:lt2>
      <a:accent1>
        <a:srgbClr val="B5450F"/>
      </a:accent1>
      <a:accent2>
        <a:srgbClr val="0D5C75"/>
      </a:accent2>
      <a:accent3>
        <a:srgbClr val="FBE9DD"/>
      </a:accent3>
      <a:accent4>
        <a:srgbClr val="DDEEF3"/>
      </a:accent4>
      <a:accent5>
        <a:srgbClr val="D9682B"/>
      </a:accent5>
      <a:accent6>
        <a:srgbClr val="8F2F06"/>
      </a:accent6>
      <a:hlink>
        <a:srgbClr val="0D5C75"/>
      </a:hlink>
      <a:folHlink>
        <a:srgbClr val="43525F"/>
      </a:folHlink>
    </a:clrScheme>
    <a:fontScheme name="Traceabili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Security Architecture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Governance Operating Model</dc:title>
  <dc:subject>AI Governance Operating Model</dc:subject>
  <dc:creator>Security Architecture</dc:creator>
  <cp:lastModifiedBy>Security Architecture</cp:lastModifiedBy>
  <cp:revision>1</cp:revision>
  <dcterms:created xsi:type="dcterms:W3CDTF">2026-10-04T20:15:23Z</dcterms:created>
  <dcterms:modified xsi:type="dcterms:W3CDTF">2026-10-04T20:15:23Z</dcterms:modified>
</cp:coreProperties>
</file>