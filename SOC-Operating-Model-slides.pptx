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b15b0f9b-43ac-f438-334a-1629a8450022}">
          <p14:sldIdLst>
            <p14:sldId id="256"/>
            <p14:sldId id="257"/>
            <p14:sldId id="258"/>
          </p14:sldIdLst>
        </p14:section>
        <p14:section name="Tables" id="{e8a2365a-c44f-0372-04d5-91dbd78fa05d}">
          <p14:sldIdLst>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row per use case. Each row traces back to a risk scenario in the security control matrix and forward to the evidence an auditor will ask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row per use case. Each row traces back to a risk scenario in the security control matrix and forward to the evidence an auditor will ask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each use case once and express it in both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 functions against the same framework set. The CRA, the EU AI Act and ISO/IEC 42001 apply only where the entity makes or uses in-scope products and AI systems. A dash means no direct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E1C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463040"/>
            <a:ext cx="11277295" cy="201168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EEF1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txBox="1"/>
          <p:nvPr/>
        </p:nvSpPr>
        <p:spPr>
          <a:xfrm>
            <a:off x="457200" y="6446520"/>
            <a:ext cx="8229600" cy="256032"/>
          </a:xfrm>
          <a:prstGeom prst="rect">
            <a:avLst/>
          </a:prstGeom>
          <a:noFill/>
          <a:ln/>
        </p:spPr>
        <p:txBody>
          <a:bodyPr wrap="square" lIns="0" tIns="0" rIns="0" bIns="0" rtlCol="0" anchor="ctr"/>
          <a:lstStyle/>
          <a:p>
            <a:pPr indent="0" marL="0">
              <a:buNone/>
            </a:pPr>
            <a:r>
              <a:rPr lang="en-US" sz="900" dirty="0">
                <a:solidFill>
                  <a:schemeClr val="tx2"/>
                </a:solidFill>
              </a:rPr>
              <a:t>SOC operating model · DORA · CIS Controls IG3</a:t>
            </a:r>
            <a:endParaRPr lang="en-US" sz="9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3.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60120"/>
            <a:ext cx="11277295" cy="320040"/>
          </a:xfrm>
          <a:prstGeom prst="rect">
            <a:avLst/>
          </a:prstGeom>
          <a:noFill/>
          <a:ln/>
        </p:spPr>
        <p:txBody>
          <a:bodyPr wrap="square" lIns="0" tIns="0" rIns="0" bIns="0" rtlCol="0" anchor="t"/>
          <a:lstStyle/>
          <a:p>
            <a:pPr indent="0" marL="0">
              <a:buNone/>
            </a:pPr>
            <a:r>
              <a:rPr lang="en-US" sz="1200" spc="300" kern="0" dirty="0">
                <a:solidFill>
                  <a:srgbClr val="9FB0BF"/>
                </a:solidFill>
              </a:rPr>
              <a:t>SECURITY OPERATIONS CENTRE · OPERATING MODEL TEMPLATE</a:t>
            </a:r>
            <a:endParaRPr lang="en-US" sz="1200" dirty="0"/>
          </a:p>
        </p:txBody>
      </p:sp>
      <p:sp>
        <p:nvSpPr>
          <p:cNvPr id="3" name="Text 0"/>
          <p:cNvSpPr/>
          <p:nvPr>
            <p:ph idx="100" type="title" hasCustomPrompt="1"/>
          </p:nvPr>
        </p:nvSpPr>
        <p:spPr>
          <a:xfrm>
            <a:off x="457200" y="1463040"/>
            <a:ext cx="11277295" cy="2011680"/>
          </a:xfrm>
          <a:prstGeom prst="rect">
            <a:avLst/>
          </a:prstGeom>
          <a:noFill/>
          <a:ln/>
        </p:spPr>
        <p:txBody>
          <a:bodyPr wrap="square" lIns="0" tIns="0" rIns="0" bIns="0" rtlCol="0" anchor="t"/>
          <a:lstStyle/>
          <a:p>
            <a:pPr algn="l" indent="0" marL="0">
              <a:buNone/>
            </a:pPr>
            <a:r>
              <a:rPr lang="en-US" sz="4200" b="1" dirty="0">
                <a:solidFill>
                  <a:srgbClr val="FF9A5C"/>
                </a:solidFill>
              </a:rPr>
              <a:t>Collect</a:t>
            </a:r>
            <a:pPr algn="l" indent="0" marL="0">
              <a:buNone/>
            </a:pPr>
            <a:r>
              <a:rPr lang="en-US" sz="4200" b="1" dirty="0">
                <a:solidFill>
                  <a:srgbClr val="5D7183"/>
                </a:solidFill>
              </a:rPr>
              <a:t>  ›  </a:t>
            </a:r>
            <a:pPr algn="l" indent="0" marL="0">
              <a:buNone/>
            </a:pPr>
            <a:r>
              <a:rPr lang="en-US" sz="4200" b="1" dirty="0">
                <a:solidFill>
                  <a:srgbClr val="FF9A5C"/>
                </a:solidFill>
              </a:rPr>
              <a:t>Detect</a:t>
            </a:r>
            <a:pPr algn="l" indent="0" marL="0">
              <a:buNone/>
            </a:pPr>
            <a:r>
              <a:rPr lang="en-US" sz="4200" b="1" dirty="0">
                <a:solidFill>
                  <a:srgbClr val="5D7183"/>
                </a:solidFill>
              </a:rPr>
              <a:t>  ›  </a:t>
            </a:r>
            <a:pPr algn="l" indent="0" marL="0">
              <a:buNone/>
            </a:pPr>
            <a:r>
              <a:rPr lang="en-US" sz="4200" b="1" dirty="0">
                <a:solidFill>
                  <a:srgbClr val="6CCBDF"/>
                </a:solidFill>
              </a:rPr>
              <a:t>Respond</a:t>
            </a:r>
            <a:pPr algn="l" indent="0" marL="0">
              <a:buNone/>
            </a:pPr>
            <a:r>
              <a:rPr lang="en-US" sz="4200" b="1" dirty="0">
                <a:solidFill>
                  <a:srgbClr val="5D7183"/>
                </a:solidFill>
              </a:rPr>
              <a:t>  ›  </a:t>
            </a:r>
            <a:pPr algn="l" indent="0" marL="0">
              <a:buNone/>
            </a:pPr>
            <a:r>
              <a:rPr lang="en-US" sz="4200" b="1" dirty="0">
                <a:solidFill>
                  <a:srgbClr val="6CCBDF"/>
                </a:solidFill>
              </a:rPr>
              <a:t>Report</a:t>
            </a:r>
            <a:endParaRPr lang="en-US" sz="4200" dirty="0"/>
          </a:p>
          <a:p>
            <a:pPr algn="l" indent="0" marL="0">
              <a:buNone/>
            </a:pPr>
            <a:r>
              <a:rPr lang="en-US" sz="4200" b="1" dirty="0">
                <a:solidFill>
                  <a:schemeClr val="bg1"/>
                </a:solidFill>
              </a:rPr>
              <a:t>SOC Operating Model</a:t>
            </a:r>
            <a:endParaRPr lang="en-US" sz="4200" dirty="0"/>
          </a:p>
        </p:txBody>
      </p:sp>
      <p:sp>
        <p:nvSpPr>
          <p:cNvPr id="4" name="Text 2"/>
          <p:cNvSpPr txBox="1"/>
          <p:nvPr/>
        </p:nvSpPr>
        <p:spPr>
          <a:xfrm>
            <a:off x="457200" y="3840480"/>
            <a:ext cx="5120640" cy="2011680"/>
          </a:xfrm>
          <a:prstGeom prst="rect">
            <a:avLst/>
          </a:prstGeom>
          <a:noFill/>
          <a:ln/>
        </p:spPr>
        <p:txBody>
          <a:bodyPr wrap="square" lIns="0" tIns="0" rIns="0" bIns="0" rtlCol="0" anchor="t"/>
          <a:lstStyle/>
          <a:p>
            <a:pPr indent="0" marL="0">
              <a:lnSpc>
                <a:spcPct val="115000"/>
              </a:lnSpc>
              <a:buNone/>
            </a:pPr>
            <a:r>
              <a:rPr lang="en-US" sz="1400" dirty="0">
                <a:solidFill>
                  <a:srgbClr val="C9D5DF"/>
                </a:solidFill>
              </a:rPr>
              <a:t>One line of sight from the log source to the detection that fires, the response that contains it and the report that reaches the supervisor. Built to demonstrate DORA compliance, with CIS Controls Implementation Group 3 as the control baseline and detections that run in IBM QRadar and map to Microsoft Sentinel.</a:t>
            </a:r>
            <a:endParaRPr lang="en-US" sz="1400" dirty="0"/>
          </a:p>
        </p:txBody>
      </p:sp>
      <p:sp>
        <p:nvSpPr>
          <p:cNvPr id="5" name="Shape 3"/>
          <p:cNvSpPr/>
          <p:nvPr/>
        </p:nvSpPr>
        <p:spPr>
          <a:xfrm>
            <a:off x="5943600" y="3840480"/>
            <a:ext cx="1828800" cy="1828800"/>
          </a:xfrm>
          <a:prstGeom prst="rect">
            <a:avLst/>
          </a:prstGeom>
          <a:ln w="12700">
            <a:solidFill>
              <a:srgbClr val="3A4F62"/>
            </a:solidFill>
            <a:prstDash val="solid"/>
          </a:ln>
        </p:spPr>
      </p:sp>
      <p:sp>
        <p:nvSpPr>
          <p:cNvPr id="6" name="Text 4"/>
          <p:cNvSpPr txBox="1"/>
          <p:nvPr/>
        </p:nvSpPr>
        <p:spPr>
          <a:xfrm>
            <a:off x="6071616" y="3931920"/>
            <a:ext cx="1572768" cy="1645920"/>
          </a:xfrm>
          <a:prstGeom prst="rect">
            <a:avLst/>
          </a:prstGeom>
          <a:noFill/>
          <a:ln/>
        </p:spPr>
        <p:txBody>
          <a:bodyPr wrap="square" lIns="0" tIns="0" rIns="0" bIns="0" rtlCol="0" anchor="ctr"/>
          <a:lstStyle/>
          <a:p>
            <a:pPr indent="0" marL="0">
              <a:spcAft>
                <a:spcPts val="500"/>
              </a:spcAft>
              <a:buNone/>
            </a:pPr>
            <a:r>
              <a:rPr lang="en-US" sz="900" spc="200" kern="0" dirty="0">
                <a:solidFill>
                  <a:srgbClr val="9FB0BF"/>
                </a:solidFill>
              </a:rPr>
              <a:t>REGULATORY DRIVER</a:t>
            </a:r>
            <a:endParaRPr lang="en-US" sz="900" dirty="0"/>
          </a:p>
          <a:p>
            <a:pPr indent="0" marL="0">
              <a:spcAft>
                <a:spcPts val="500"/>
              </a:spcAft>
              <a:buNone/>
            </a:pPr>
            <a:r>
              <a:rPr lang="en-US" sz="1500" b="1" dirty="0">
                <a:solidFill>
                  <a:schemeClr val="bg1"/>
                </a:solidFill>
                <a:latin typeface="+mj-lt" pitchFamily="34" charset="0"/>
                <a:ea typeface="+mj-lt" pitchFamily="34" charset="-122"/>
                <a:cs typeface="+mj-lt" pitchFamily="34" charset="-120"/>
              </a:rPr>
              <a:t>DORA</a:t>
            </a:r>
            <a:endParaRPr lang="en-US" sz="900" dirty="0"/>
          </a:p>
          <a:p>
            <a:pPr indent="0" marL="0">
              <a:spcAft>
                <a:spcPts val="500"/>
              </a:spcAft>
              <a:buNone/>
            </a:pPr>
            <a:r>
              <a:rPr lang="en-US" sz="1100" dirty="0">
                <a:solidFill>
                  <a:srgbClr val="C9D5DF"/>
                </a:solidFill>
              </a:rPr>
              <a:t>Regulation (EU) 2022/2554</a:t>
            </a:r>
            <a:endParaRPr lang="en-US" sz="900" dirty="0"/>
          </a:p>
        </p:txBody>
      </p:sp>
      <p:sp>
        <p:nvSpPr>
          <p:cNvPr id="7" name="Shape 5"/>
          <p:cNvSpPr/>
          <p:nvPr/>
        </p:nvSpPr>
        <p:spPr>
          <a:xfrm>
            <a:off x="7909560" y="3840480"/>
            <a:ext cx="1828800" cy="1828800"/>
          </a:xfrm>
          <a:prstGeom prst="rect">
            <a:avLst/>
          </a:prstGeom>
          <a:ln w="12700">
            <a:solidFill>
              <a:srgbClr val="3A4F62"/>
            </a:solidFill>
            <a:prstDash val="solid"/>
          </a:ln>
        </p:spPr>
      </p:sp>
      <p:sp>
        <p:nvSpPr>
          <p:cNvPr id="8" name="Text 6"/>
          <p:cNvSpPr txBox="1"/>
          <p:nvPr/>
        </p:nvSpPr>
        <p:spPr>
          <a:xfrm>
            <a:off x="8037576" y="3931920"/>
            <a:ext cx="1572768" cy="1645920"/>
          </a:xfrm>
          <a:prstGeom prst="rect">
            <a:avLst/>
          </a:prstGeom>
          <a:noFill/>
          <a:ln/>
        </p:spPr>
        <p:txBody>
          <a:bodyPr wrap="square" lIns="0" tIns="0" rIns="0" bIns="0" rtlCol="0" anchor="ctr"/>
          <a:lstStyle/>
          <a:p>
            <a:pPr indent="0" marL="0">
              <a:spcAft>
                <a:spcPts val="500"/>
              </a:spcAft>
              <a:buNone/>
            </a:pPr>
            <a:r>
              <a:rPr lang="en-US" sz="900" spc="200" kern="0" dirty="0">
                <a:solidFill>
                  <a:srgbClr val="9FB0BF"/>
                </a:solidFill>
              </a:rPr>
              <a:t>CONTROL BASELINE</a:t>
            </a:r>
            <a:endParaRPr lang="en-US" sz="900" dirty="0"/>
          </a:p>
          <a:p>
            <a:pPr indent="0" marL="0">
              <a:spcAft>
                <a:spcPts val="500"/>
              </a:spcAft>
              <a:buNone/>
            </a:pPr>
            <a:r>
              <a:rPr lang="en-US" sz="1500" b="1" dirty="0">
                <a:solidFill>
                  <a:schemeClr val="bg1"/>
                </a:solidFill>
                <a:latin typeface="+mj-lt" pitchFamily="34" charset="0"/>
                <a:ea typeface="+mj-lt" pitchFamily="34" charset="-122"/>
                <a:cs typeface="+mj-lt" pitchFamily="34" charset="-120"/>
              </a:rPr>
              <a:t>CIS Controls v8.1 · IG3</a:t>
            </a:r>
            <a:endParaRPr lang="en-US" sz="900" dirty="0"/>
          </a:p>
          <a:p>
            <a:pPr indent="0" marL="0">
              <a:spcAft>
                <a:spcPts val="500"/>
              </a:spcAft>
              <a:buNone/>
            </a:pPr>
            <a:r>
              <a:rPr lang="en-US" sz="1100" dirty="0">
                <a:solidFill>
                  <a:srgbClr val="C9D5DF"/>
                </a:solidFill>
              </a:rPr>
              <a:t>Implementation Group 3</a:t>
            </a:r>
            <a:endParaRPr lang="en-US" sz="900" dirty="0"/>
          </a:p>
        </p:txBody>
      </p:sp>
      <p:sp>
        <p:nvSpPr>
          <p:cNvPr id="9" name="Shape 7"/>
          <p:cNvSpPr/>
          <p:nvPr/>
        </p:nvSpPr>
        <p:spPr>
          <a:xfrm>
            <a:off x="9875520" y="3840480"/>
            <a:ext cx="1828800" cy="1828800"/>
          </a:xfrm>
          <a:prstGeom prst="rect">
            <a:avLst/>
          </a:prstGeom>
          <a:ln w="12700">
            <a:solidFill>
              <a:srgbClr val="3A4F62"/>
            </a:solidFill>
            <a:prstDash val="solid"/>
          </a:ln>
        </p:spPr>
      </p:sp>
      <p:sp>
        <p:nvSpPr>
          <p:cNvPr id="10" name="Text 8"/>
          <p:cNvSpPr txBox="1"/>
          <p:nvPr/>
        </p:nvSpPr>
        <p:spPr>
          <a:xfrm>
            <a:off x="10003536" y="3931920"/>
            <a:ext cx="1572768" cy="1645920"/>
          </a:xfrm>
          <a:prstGeom prst="rect">
            <a:avLst/>
          </a:prstGeom>
          <a:noFill/>
          <a:ln/>
        </p:spPr>
        <p:txBody>
          <a:bodyPr wrap="square" lIns="0" tIns="0" rIns="0" bIns="0" rtlCol="0" anchor="ctr"/>
          <a:lstStyle/>
          <a:p>
            <a:pPr indent="0" marL="0">
              <a:spcAft>
                <a:spcPts val="500"/>
              </a:spcAft>
              <a:buNone/>
            </a:pPr>
            <a:r>
              <a:rPr lang="en-US" sz="900" spc="200" kern="0" dirty="0">
                <a:solidFill>
                  <a:srgbClr val="9FB0BF"/>
                </a:solidFill>
              </a:rPr>
              <a:t>TOOLING</a:t>
            </a:r>
            <a:endParaRPr lang="en-US" sz="900" dirty="0"/>
          </a:p>
          <a:p>
            <a:pPr indent="0" marL="0">
              <a:spcAft>
                <a:spcPts val="500"/>
              </a:spcAft>
              <a:buNone/>
            </a:pPr>
            <a:r>
              <a:rPr lang="en-US" sz="1500" b="1" dirty="0">
                <a:solidFill>
                  <a:schemeClr val="bg1"/>
                </a:solidFill>
                <a:latin typeface="+mj-lt" pitchFamily="34" charset="0"/>
                <a:ea typeface="+mj-lt" pitchFamily="34" charset="-122"/>
                <a:cs typeface="+mj-lt" pitchFamily="34" charset="-120"/>
              </a:rPr>
              <a:t>QRadar · Sentinel</a:t>
            </a:r>
            <a:endParaRPr lang="en-US" sz="900" dirty="0"/>
          </a:p>
          <a:p>
            <a:pPr indent="0" marL="0">
              <a:spcAft>
                <a:spcPts val="500"/>
              </a:spcAft>
              <a:buNone/>
            </a:pPr>
            <a:r>
              <a:rPr lang="en-US" sz="1100" dirty="0">
                <a:solidFill>
                  <a:srgbClr val="C9D5DF"/>
                </a:solidFill>
              </a:rPr>
              <a:t>IBM QRadar today, aligned to Microsoft Sentinel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Nine linked steps, from log to lesson</a:t>
            </a:r>
            <a:endParaRPr lang="en-US" sz="3000" dirty="0"/>
          </a:p>
        </p:txBody>
      </p:sp>
      <p:sp>
        <p:nvSpPr>
          <p:cNvPr id="3" name="Text 1"/>
          <p:cNvSpPr txBox="1"/>
          <p:nvPr/>
        </p:nvSpPr>
        <p:spPr>
          <a:xfrm>
            <a:off x="457200" y="1005840"/>
            <a:ext cx="11277295" cy="365760"/>
          </a:xfrm>
          <a:prstGeom prst="rect">
            <a:avLst/>
          </a:prstGeom>
          <a:noFill/>
          <a:ln/>
        </p:spPr>
        <p:txBody>
          <a:bodyPr wrap="square" lIns="0" tIns="0" rIns="0" bIns="0" rtlCol="0" anchor="t"/>
          <a:lstStyle/>
          <a:p>
            <a:pPr indent="0" marL="0">
              <a:buNone/>
            </a:pPr>
            <a:r>
              <a:rPr lang="en-US" sz="1400" dirty="0">
                <a:solidFill>
                  <a:schemeClr val="accent1"/>
                </a:solidFill>
              </a:rPr>
              <a:t>■ </a:t>
            </a:r>
            <a:pPr indent="0" marL="0">
              <a:buNone/>
            </a:pPr>
            <a:r>
              <a:rPr lang="en-US" sz="1400" dirty="0">
                <a:solidFill>
                  <a:schemeClr val="tx2"/>
                </a:solidFill>
              </a:rPr>
              <a:t>Detect and decide      </a:t>
            </a:r>
            <a:pPr indent="0" marL="0">
              <a:buNone/>
            </a:pPr>
            <a:r>
              <a:rPr lang="en-US" sz="1400" dirty="0">
                <a:solidFill>
                  <a:schemeClr val="accent2"/>
                </a:solidFill>
              </a:rPr>
              <a:t>■ </a:t>
            </a:r>
            <a:pPr indent="0" marL="0">
              <a:buNone/>
            </a:pPr>
            <a:r>
              <a:rPr lang="en-US" sz="1400" dirty="0">
                <a:solidFill>
                  <a:schemeClr val="tx2"/>
                </a:solidFill>
              </a:rPr>
              <a:t>Respond, report and improve</a:t>
            </a:r>
            <a:endParaRPr lang="en-US" sz="1400" dirty="0"/>
          </a:p>
        </p:txBody>
      </p:sp>
      <p:sp>
        <p:nvSpPr>
          <p:cNvPr id="4" name="Stage 1"/>
          <p:cNvSpPr/>
          <p:nvPr/>
        </p:nvSpPr>
        <p:spPr>
          <a:xfrm>
            <a:off x="457200" y="1645920"/>
            <a:ext cx="1598473" cy="868680"/>
          </a:xfrm>
          <a:prstGeom prst="homePlate">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01</a:t>
            </a:r>
            <a:endParaRPr lang="en-US" sz="2000" dirty="0"/>
          </a:p>
        </p:txBody>
      </p:sp>
      <p:sp>
        <p:nvSpPr>
          <p:cNvPr id="5" name="Stage 2"/>
          <p:cNvSpPr/>
          <p:nvPr/>
        </p:nvSpPr>
        <p:spPr>
          <a:xfrm>
            <a:off x="1667053" y="1645920"/>
            <a:ext cx="1598473" cy="868680"/>
          </a:xfrm>
          <a:prstGeom prst="chevron">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02</a:t>
            </a:r>
            <a:endParaRPr lang="en-US" sz="2000" dirty="0"/>
          </a:p>
        </p:txBody>
      </p:sp>
      <p:sp>
        <p:nvSpPr>
          <p:cNvPr id="6" name="Stage 3"/>
          <p:cNvSpPr/>
          <p:nvPr/>
        </p:nvSpPr>
        <p:spPr>
          <a:xfrm>
            <a:off x="2876906" y="1645920"/>
            <a:ext cx="1598473" cy="868680"/>
          </a:xfrm>
          <a:prstGeom prst="chevron">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03</a:t>
            </a:r>
            <a:endParaRPr lang="en-US" sz="2000" dirty="0"/>
          </a:p>
        </p:txBody>
      </p:sp>
      <p:sp>
        <p:nvSpPr>
          <p:cNvPr id="7" name="Stage 4"/>
          <p:cNvSpPr/>
          <p:nvPr/>
        </p:nvSpPr>
        <p:spPr>
          <a:xfrm>
            <a:off x="4086758" y="1645920"/>
            <a:ext cx="1598473" cy="868680"/>
          </a:xfrm>
          <a:prstGeom prst="chevron">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04</a:t>
            </a:r>
            <a:endParaRPr lang="en-US" sz="2000" dirty="0"/>
          </a:p>
        </p:txBody>
      </p:sp>
      <p:sp>
        <p:nvSpPr>
          <p:cNvPr id="8" name="Stage 5"/>
          <p:cNvSpPr/>
          <p:nvPr/>
        </p:nvSpPr>
        <p:spPr>
          <a:xfrm>
            <a:off x="5296611" y="1645920"/>
            <a:ext cx="1598473" cy="868680"/>
          </a:xfrm>
          <a:prstGeom prst="chevron">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05</a:t>
            </a:r>
            <a:endParaRPr lang="en-US" sz="2000" dirty="0"/>
          </a:p>
        </p:txBody>
      </p:sp>
      <p:sp>
        <p:nvSpPr>
          <p:cNvPr id="9" name="Stage 6"/>
          <p:cNvSpPr/>
          <p:nvPr/>
        </p:nvSpPr>
        <p:spPr>
          <a:xfrm>
            <a:off x="6506464" y="1645920"/>
            <a:ext cx="1598473" cy="868680"/>
          </a:xfrm>
          <a:prstGeom prst="chevron">
            <a:avLst/>
          </a:prstGeom>
          <a:solidFill>
            <a:schemeClr val="accent2"/>
          </a:solidFill>
          <a:ln/>
        </p:spPr>
        <p:txBody>
          <a:bodyPr wrap="square" lIns="25400" tIns="25400" rIns="25400" bIns="25400" rtlCol="0" anchor="ctr"/>
          <a:lstStyle/>
          <a:p>
            <a:pPr algn="ctr" indent="0" marL="0">
              <a:buNone/>
            </a:pPr>
            <a:r>
              <a:rPr lang="en-US" sz="2000" b="1" dirty="0">
                <a:solidFill>
                  <a:schemeClr val="bg1"/>
                </a:solidFill>
              </a:rPr>
              <a:t>06</a:t>
            </a:r>
            <a:endParaRPr lang="en-US" sz="2000" dirty="0"/>
          </a:p>
        </p:txBody>
      </p:sp>
      <p:sp>
        <p:nvSpPr>
          <p:cNvPr id="10" name="Stage 7"/>
          <p:cNvSpPr/>
          <p:nvPr/>
        </p:nvSpPr>
        <p:spPr>
          <a:xfrm>
            <a:off x="7716317" y="1645920"/>
            <a:ext cx="1598473" cy="868680"/>
          </a:xfrm>
          <a:prstGeom prst="chevron">
            <a:avLst/>
          </a:prstGeom>
          <a:solidFill>
            <a:schemeClr val="accent2"/>
          </a:solidFill>
          <a:ln/>
        </p:spPr>
        <p:txBody>
          <a:bodyPr wrap="square" lIns="25400" tIns="25400" rIns="25400" bIns="25400" rtlCol="0" anchor="ctr"/>
          <a:lstStyle/>
          <a:p>
            <a:pPr algn="ctr" indent="0" marL="0">
              <a:buNone/>
            </a:pPr>
            <a:r>
              <a:rPr lang="en-US" sz="2000" b="1" dirty="0">
                <a:solidFill>
                  <a:schemeClr val="bg1"/>
                </a:solidFill>
              </a:rPr>
              <a:t>07</a:t>
            </a:r>
            <a:endParaRPr lang="en-US" sz="2000" dirty="0"/>
          </a:p>
        </p:txBody>
      </p:sp>
      <p:sp>
        <p:nvSpPr>
          <p:cNvPr id="11" name="Stage 8"/>
          <p:cNvSpPr/>
          <p:nvPr/>
        </p:nvSpPr>
        <p:spPr>
          <a:xfrm>
            <a:off x="8926170" y="1645920"/>
            <a:ext cx="1598473" cy="868680"/>
          </a:xfrm>
          <a:prstGeom prst="chevron">
            <a:avLst/>
          </a:prstGeom>
          <a:solidFill>
            <a:schemeClr val="accent2"/>
          </a:solidFill>
          <a:ln/>
        </p:spPr>
        <p:txBody>
          <a:bodyPr wrap="square" lIns="25400" tIns="25400" rIns="25400" bIns="25400" rtlCol="0" anchor="ctr"/>
          <a:lstStyle/>
          <a:p>
            <a:pPr algn="ctr" indent="0" marL="0">
              <a:buNone/>
            </a:pPr>
            <a:r>
              <a:rPr lang="en-US" sz="2000" b="1" dirty="0">
                <a:solidFill>
                  <a:schemeClr val="bg1"/>
                </a:solidFill>
              </a:rPr>
              <a:t>08</a:t>
            </a:r>
            <a:endParaRPr lang="en-US" sz="2000" dirty="0"/>
          </a:p>
        </p:txBody>
      </p:sp>
      <p:sp>
        <p:nvSpPr>
          <p:cNvPr id="12" name="Stage 9"/>
          <p:cNvSpPr/>
          <p:nvPr/>
        </p:nvSpPr>
        <p:spPr>
          <a:xfrm>
            <a:off x="10136022" y="1645920"/>
            <a:ext cx="1598473" cy="868680"/>
          </a:xfrm>
          <a:prstGeom prst="chevron">
            <a:avLst/>
          </a:prstGeom>
          <a:solidFill>
            <a:schemeClr val="accent2"/>
          </a:solidFill>
          <a:ln/>
        </p:spPr>
        <p:txBody>
          <a:bodyPr wrap="square" lIns="25400" tIns="25400" rIns="25400" bIns="25400" rtlCol="0" anchor="ctr"/>
          <a:lstStyle/>
          <a:p>
            <a:pPr algn="ctr" indent="0" marL="0">
              <a:buNone/>
            </a:pPr>
            <a:r>
              <a:rPr lang="en-US" sz="2000" b="1" dirty="0">
                <a:solidFill>
                  <a:schemeClr val="bg1"/>
                </a:solidFill>
              </a:rPr>
              <a:t>09</a:t>
            </a:r>
            <a:endParaRPr lang="en-US" sz="2000" dirty="0"/>
          </a:p>
        </p:txBody>
      </p:sp>
      <p:sp>
        <p:nvSpPr>
          <p:cNvPr id="13" name="Text 11"/>
          <p:cNvSpPr txBox="1"/>
          <p:nvPr/>
        </p:nvSpPr>
        <p:spPr>
          <a:xfrm>
            <a:off x="493776"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Log source</a:t>
            </a:r>
            <a:endParaRPr lang="en-US" sz="1250" dirty="0"/>
          </a:p>
        </p:txBody>
      </p:sp>
      <p:pic>
        <p:nvPicPr>
          <p:cNvPr id="14" name="Image 0" descr="preencoded.png">    </p:cNvPr>
          <p:cNvPicPr>
            <a:picLocks noChangeAspect="1"/>
          </p:cNvPicPr>
          <p:nvPr/>
        </p:nvPicPr>
        <p:blipFill>
          <a:blip r:embed="rId1"/>
          <a:stretch>
            <a:fillRect/>
          </a:stretch>
        </p:blipFill>
        <p:spPr>
          <a:xfrm>
            <a:off x="493776" y="3429000"/>
            <a:ext cx="502920" cy="502920"/>
          </a:xfrm>
          <a:prstGeom prst="rect">
            <a:avLst/>
          </a:prstGeom>
        </p:spPr>
      </p:pic>
      <p:sp>
        <p:nvSpPr>
          <p:cNvPr id="15" name="Text 12"/>
          <p:cNvSpPr txBox="1"/>
          <p:nvPr/>
        </p:nvSpPr>
        <p:spPr>
          <a:xfrm>
            <a:off x="493776"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Telemetry from identity, endpoint, network, cloud and applications.</a:t>
            </a:r>
            <a:endParaRPr lang="en-US" sz="1300" dirty="0"/>
          </a:p>
        </p:txBody>
      </p:sp>
      <p:sp>
        <p:nvSpPr>
          <p:cNvPr id="16" name="Text 13"/>
          <p:cNvSpPr txBox="1"/>
          <p:nvPr/>
        </p:nvSpPr>
        <p:spPr>
          <a:xfrm>
            <a:off x="1703629"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Use case</a:t>
            </a:r>
            <a:endParaRPr lang="en-US" sz="1250" dirty="0"/>
          </a:p>
        </p:txBody>
      </p:sp>
      <p:pic>
        <p:nvPicPr>
          <p:cNvPr id="17" name="Image 1" descr="preencoded.png">    </p:cNvPr>
          <p:cNvPicPr>
            <a:picLocks noChangeAspect="1"/>
          </p:cNvPicPr>
          <p:nvPr/>
        </p:nvPicPr>
        <p:blipFill>
          <a:blip r:embed="rId2"/>
          <a:stretch>
            <a:fillRect/>
          </a:stretch>
        </p:blipFill>
        <p:spPr>
          <a:xfrm>
            <a:off x="1703629" y="3429000"/>
            <a:ext cx="502920" cy="502920"/>
          </a:xfrm>
          <a:prstGeom prst="rect">
            <a:avLst/>
          </a:prstGeom>
        </p:spPr>
      </p:pic>
      <p:sp>
        <p:nvSpPr>
          <p:cNvPr id="18" name="Text 14"/>
          <p:cNvSpPr txBox="1"/>
          <p:nvPr/>
        </p:nvSpPr>
        <p:spPr>
          <a:xfrm>
            <a:off x="1703629"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A detection written for one threat and mapped to a MITRE ATT&amp;CK technique.</a:t>
            </a:r>
            <a:endParaRPr lang="en-US" sz="1300" dirty="0"/>
          </a:p>
        </p:txBody>
      </p:sp>
      <p:sp>
        <p:nvSpPr>
          <p:cNvPr id="19" name="Text 15"/>
          <p:cNvSpPr txBox="1"/>
          <p:nvPr/>
        </p:nvSpPr>
        <p:spPr>
          <a:xfrm>
            <a:off x="2913482"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Alert</a:t>
            </a:r>
            <a:endParaRPr lang="en-US" sz="1250" dirty="0"/>
          </a:p>
        </p:txBody>
      </p:sp>
      <p:pic>
        <p:nvPicPr>
          <p:cNvPr id="20" name="Image 2" descr="preencoded.png">    </p:cNvPr>
          <p:cNvPicPr>
            <a:picLocks noChangeAspect="1"/>
          </p:cNvPicPr>
          <p:nvPr/>
        </p:nvPicPr>
        <p:blipFill>
          <a:blip r:embed="rId3"/>
          <a:stretch>
            <a:fillRect/>
          </a:stretch>
        </p:blipFill>
        <p:spPr>
          <a:xfrm>
            <a:off x="2913482" y="3429000"/>
            <a:ext cx="502920" cy="502920"/>
          </a:xfrm>
          <a:prstGeom prst="rect">
            <a:avLst/>
          </a:prstGeom>
        </p:spPr>
      </p:pic>
      <p:sp>
        <p:nvSpPr>
          <p:cNvPr id="21" name="Text 16"/>
          <p:cNvSpPr txBox="1"/>
          <p:nvPr/>
        </p:nvSpPr>
        <p:spPr>
          <a:xfrm>
            <a:off x="2913482"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The rule fires. Related alerts are grouped into one offense or incident.</a:t>
            </a:r>
            <a:endParaRPr lang="en-US" sz="1300" dirty="0"/>
          </a:p>
        </p:txBody>
      </p:sp>
      <p:sp>
        <p:nvSpPr>
          <p:cNvPr id="22" name="Text 17"/>
          <p:cNvSpPr txBox="1"/>
          <p:nvPr/>
        </p:nvSpPr>
        <p:spPr>
          <a:xfrm>
            <a:off x="4123334"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Triage</a:t>
            </a:r>
            <a:endParaRPr lang="en-US" sz="1250" dirty="0"/>
          </a:p>
        </p:txBody>
      </p:sp>
      <p:pic>
        <p:nvPicPr>
          <p:cNvPr id="23" name="Image 3" descr="preencoded.png">    </p:cNvPr>
          <p:cNvPicPr>
            <a:picLocks noChangeAspect="1"/>
          </p:cNvPicPr>
          <p:nvPr/>
        </p:nvPicPr>
        <p:blipFill>
          <a:blip r:embed="rId4"/>
          <a:stretch>
            <a:fillRect/>
          </a:stretch>
        </p:blipFill>
        <p:spPr>
          <a:xfrm>
            <a:off x="4123334" y="3429000"/>
            <a:ext cx="502920" cy="502920"/>
          </a:xfrm>
          <a:prstGeom prst="rect">
            <a:avLst/>
          </a:prstGeom>
        </p:spPr>
      </p:pic>
      <p:sp>
        <p:nvSpPr>
          <p:cNvPr id="24" name="Text 18"/>
          <p:cNvSpPr txBox="1"/>
          <p:nvPr/>
        </p:nvSpPr>
        <p:spPr>
          <a:xfrm>
            <a:off x="4123334"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Level 1 validates, enriches and sets severity. False positives are closed.</a:t>
            </a:r>
            <a:endParaRPr lang="en-US" sz="1300" dirty="0"/>
          </a:p>
        </p:txBody>
      </p:sp>
      <p:sp>
        <p:nvSpPr>
          <p:cNvPr id="25" name="Text 19"/>
          <p:cNvSpPr txBox="1"/>
          <p:nvPr/>
        </p:nvSpPr>
        <p:spPr>
          <a:xfrm>
            <a:off x="5333187"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Investigation</a:t>
            </a:r>
            <a:endParaRPr lang="en-US" sz="1250" dirty="0"/>
          </a:p>
        </p:txBody>
      </p:sp>
      <p:pic>
        <p:nvPicPr>
          <p:cNvPr id="26" name="Image 4" descr="preencoded.png">    </p:cNvPr>
          <p:cNvPicPr>
            <a:picLocks noChangeAspect="1"/>
          </p:cNvPicPr>
          <p:nvPr/>
        </p:nvPicPr>
        <p:blipFill>
          <a:blip r:embed="rId5"/>
          <a:stretch>
            <a:fillRect/>
          </a:stretch>
        </p:blipFill>
        <p:spPr>
          <a:xfrm>
            <a:off x="5333187" y="3429000"/>
            <a:ext cx="502920" cy="502920"/>
          </a:xfrm>
          <a:prstGeom prst="rect">
            <a:avLst/>
          </a:prstGeom>
        </p:spPr>
      </p:pic>
      <p:sp>
        <p:nvSpPr>
          <p:cNvPr id="27" name="Text 20"/>
          <p:cNvSpPr txBox="1"/>
          <p:nvPr/>
        </p:nvSpPr>
        <p:spPr>
          <a:xfrm>
            <a:off x="5333187"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Level 2 scopes the incident: which accounts, systems and data are affected.</a:t>
            </a:r>
            <a:endParaRPr lang="en-US" sz="1300" dirty="0"/>
          </a:p>
        </p:txBody>
      </p:sp>
      <p:sp>
        <p:nvSpPr>
          <p:cNvPr id="28" name="Text 21"/>
          <p:cNvSpPr txBox="1"/>
          <p:nvPr/>
        </p:nvSpPr>
        <p:spPr>
          <a:xfrm>
            <a:off x="6543040"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Containment</a:t>
            </a:r>
            <a:endParaRPr lang="en-US" sz="1250" dirty="0"/>
          </a:p>
        </p:txBody>
      </p:sp>
      <p:pic>
        <p:nvPicPr>
          <p:cNvPr id="29" name="Image 5" descr="preencoded.png">    </p:cNvPr>
          <p:cNvPicPr>
            <a:picLocks noChangeAspect="1"/>
          </p:cNvPicPr>
          <p:nvPr/>
        </p:nvPicPr>
        <p:blipFill>
          <a:blip r:embed="rId6"/>
          <a:stretch>
            <a:fillRect/>
          </a:stretch>
        </p:blipFill>
        <p:spPr>
          <a:xfrm>
            <a:off x="6543040" y="3429000"/>
            <a:ext cx="502920" cy="502920"/>
          </a:xfrm>
          <a:prstGeom prst="rect">
            <a:avLst/>
          </a:prstGeom>
        </p:spPr>
      </p:pic>
      <p:sp>
        <p:nvSpPr>
          <p:cNvPr id="30" name="Text 22"/>
          <p:cNvSpPr txBox="1"/>
          <p:nvPr/>
        </p:nvSpPr>
        <p:spPr>
          <a:xfrm>
            <a:off x="6543040"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Stop the spread: isolate the host, disable the account, block the indicator.</a:t>
            </a:r>
            <a:endParaRPr lang="en-US" sz="1300" dirty="0"/>
          </a:p>
        </p:txBody>
      </p:sp>
      <p:sp>
        <p:nvSpPr>
          <p:cNvPr id="31" name="Text 23"/>
          <p:cNvSpPr txBox="1"/>
          <p:nvPr/>
        </p:nvSpPr>
        <p:spPr>
          <a:xfrm>
            <a:off x="7752893"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Recovery</a:t>
            </a:r>
            <a:endParaRPr lang="en-US" sz="1250" dirty="0"/>
          </a:p>
        </p:txBody>
      </p:sp>
      <p:pic>
        <p:nvPicPr>
          <p:cNvPr id="32" name="Image 6" descr="preencoded.png">    </p:cNvPr>
          <p:cNvPicPr>
            <a:picLocks noChangeAspect="1"/>
          </p:cNvPicPr>
          <p:nvPr/>
        </p:nvPicPr>
        <p:blipFill>
          <a:blip r:embed="rId7"/>
          <a:stretch>
            <a:fillRect/>
          </a:stretch>
        </p:blipFill>
        <p:spPr>
          <a:xfrm>
            <a:off x="7752893" y="3429000"/>
            <a:ext cx="502920" cy="502920"/>
          </a:xfrm>
          <a:prstGeom prst="rect">
            <a:avLst/>
          </a:prstGeom>
        </p:spPr>
      </p:pic>
      <p:sp>
        <p:nvSpPr>
          <p:cNvPr id="33" name="Text 24"/>
          <p:cNvSpPr txBox="1"/>
          <p:nvPr/>
        </p:nvSpPr>
        <p:spPr>
          <a:xfrm>
            <a:off x="7752893"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Remove the cause, restore service and confirm the environment is clean.</a:t>
            </a:r>
            <a:endParaRPr lang="en-US" sz="1300" dirty="0"/>
          </a:p>
        </p:txBody>
      </p:sp>
      <p:sp>
        <p:nvSpPr>
          <p:cNvPr id="34" name="Text 25"/>
          <p:cNvSpPr txBox="1"/>
          <p:nvPr/>
        </p:nvSpPr>
        <p:spPr>
          <a:xfrm>
            <a:off x="8962746"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Reporting</a:t>
            </a:r>
            <a:endParaRPr lang="en-US" sz="1250" dirty="0"/>
          </a:p>
        </p:txBody>
      </p:sp>
      <p:pic>
        <p:nvPicPr>
          <p:cNvPr id="35" name="Image 7" descr="preencoded.png">    </p:cNvPr>
          <p:cNvPicPr>
            <a:picLocks noChangeAspect="1"/>
          </p:cNvPicPr>
          <p:nvPr/>
        </p:nvPicPr>
        <p:blipFill>
          <a:blip r:embed="rId8"/>
          <a:stretch>
            <a:fillRect/>
          </a:stretch>
        </p:blipFill>
        <p:spPr>
          <a:xfrm>
            <a:off x="8962746" y="3429000"/>
            <a:ext cx="502920" cy="502920"/>
          </a:xfrm>
          <a:prstGeom prst="rect">
            <a:avLst/>
          </a:prstGeom>
        </p:spPr>
      </p:pic>
      <p:sp>
        <p:nvSpPr>
          <p:cNvPr id="36" name="Text 26"/>
          <p:cNvSpPr txBox="1"/>
          <p:nvPr/>
        </p:nvSpPr>
        <p:spPr>
          <a:xfrm>
            <a:off x="8962746"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Classify the incident and notify the authority, clients and data subjects on time.</a:t>
            </a:r>
            <a:endParaRPr lang="en-US" sz="1300" dirty="0"/>
          </a:p>
        </p:txBody>
      </p:sp>
      <p:sp>
        <p:nvSpPr>
          <p:cNvPr id="37" name="Text 27"/>
          <p:cNvSpPr txBox="1"/>
          <p:nvPr/>
        </p:nvSpPr>
        <p:spPr>
          <a:xfrm>
            <a:off x="10172598"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Lessons learned</a:t>
            </a:r>
            <a:endParaRPr lang="en-US" sz="1250" dirty="0"/>
          </a:p>
        </p:txBody>
      </p:sp>
      <p:pic>
        <p:nvPicPr>
          <p:cNvPr id="38" name="Image 8" descr="preencoded.png">    </p:cNvPr>
          <p:cNvPicPr>
            <a:picLocks noChangeAspect="1"/>
          </p:cNvPicPr>
          <p:nvPr/>
        </p:nvPicPr>
        <p:blipFill>
          <a:blip r:embed="rId9"/>
          <a:stretch>
            <a:fillRect/>
          </a:stretch>
        </p:blipFill>
        <p:spPr>
          <a:xfrm>
            <a:off x="10172598" y="3429000"/>
            <a:ext cx="502920" cy="502920"/>
          </a:xfrm>
          <a:prstGeom prst="rect">
            <a:avLst/>
          </a:prstGeom>
        </p:spPr>
      </p:pic>
      <p:sp>
        <p:nvSpPr>
          <p:cNvPr id="39" name="Text 28"/>
          <p:cNvSpPr txBox="1"/>
          <p:nvPr/>
        </p:nvSpPr>
        <p:spPr>
          <a:xfrm>
            <a:off x="10172598"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Find the root cause, tune the detection and update the playbook.</a:t>
            </a:r>
            <a:endParaRPr lang="en-US" sz="13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Worked example: credential stuffing on the customer portal</a:t>
            </a:r>
            <a:endParaRPr lang="en-US" sz="3000" dirty="0"/>
          </a:p>
        </p:txBody>
      </p:sp>
      <p:sp>
        <p:nvSpPr>
          <p:cNvPr id="3" name="Text 1"/>
          <p:cNvSpPr txBox="1"/>
          <p:nvPr/>
        </p:nvSpPr>
        <p:spPr>
          <a:xfrm>
            <a:off x="457200" y="1005840"/>
            <a:ext cx="11277295" cy="365760"/>
          </a:xfrm>
          <a:prstGeom prst="rect">
            <a:avLst/>
          </a:prstGeom>
          <a:noFill/>
          <a:ln/>
        </p:spPr>
        <p:txBody>
          <a:bodyPr wrap="square" lIns="0" tIns="0" rIns="0" bIns="0" rtlCol="0" anchor="t"/>
          <a:lstStyle/>
          <a:p>
            <a:pPr indent="0" marL="0">
              <a:buNone/>
            </a:pPr>
            <a:r>
              <a:rPr lang="en-US" sz="1400" dirty="0">
                <a:solidFill>
                  <a:schemeClr val="tx2"/>
                </a:solidFill>
              </a:rPr>
              <a:t>Traces to SCM-001 in the security control matrix</a:t>
            </a:r>
            <a:endParaRPr lang="en-US" sz="1400" dirty="0"/>
          </a:p>
        </p:txBody>
      </p:sp>
      <p:sp>
        <p:nvSpPr>
          <p:cNvPr id="4" name="Stage 1"/>
          <p:cNvSpPr/>
          <p:nvPr/>
        </p:nvSpPr>
        <p:spPr>
          <a:xfrm>
            <a:off x="457200" y="1554480"/>
            <a:ext cx="1415593" cy="457200"/>
          </a:xfrm>
          <a:prstGeom prst="homePlate">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01</a:t>
            </a:r>
            <a:endParaRPr lang="en-US" sz="1300" dirty="0"/>
          </a:p>
        </p:txBody>
      </p:sp>
      <p:sp>
        <p:nvSpPr>
          <p:cNvPr id="5" name="Stage 2"/>
          <p:cNvSpPr/>
          <p:nvPr/>
        </p:nvSpPr>
        <p:spPr>
          <a:xfrm>
            <a:off x="1689913" y="1554480"/>
            <a:ext cx="1415593" cy="457200"/>
          </a:xfrm>
          <a:prstGeom prst="chevron">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02</a:t>
            </a:r>
            <a:endParaRPr lang="en-US" sz="1300" dirty="0"/>
          </a:p>
        </p:txBody>
      </p:sp>
      <p:sp>
        <p:nvSpPr>
          <p:cNvPr id="6" name="Stage 3"/>
          <p:cNvSpPr/>
          <p:nvPr/>
        </p:nvSpPr>
        <p:spPr>
          <a:xfrm>
            <a:off x="2922626" y="1554480"/>
            <a:ext cx="1415593" cy="457200"/>
          </a:xfrm>
          <a:prstGeom prst="chevron">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03</a:t>
            </a:r>
            <a:endParaRPr lang="en-US" sz="1300" dirty="0"/>
          </a:p>
        </p:txBody>
      </p:sp>
      <p:sp>
        <p:nvSpPr>
          <p:cNvPr id="7" name="Stage 4"/>
          <p:cNvSpPr/>
          <p:nvPr/>
        </p:nvSpPr>
        <p:spPr>
          <a:xfrm>
            <a:off x="4155338" y="1554480"/>
            <a:ext cx="1415593" cy="457200"/>
          </a:xfrm>
          <a:prstGeom prst="chevron">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04</a:t>
            </a:r>
            <a:endParaRPr lang="en-US" sz="1300" dirty="0"/>
          </a:p>
        </p:txBody>
      </p:sp>
      <p:sp>
        <p:nvSpPr>
          <p:cNvPr id="8" name="Stage 5"/>
          <p:cNvSpPr/>
          <p:nvPr/>
        </p:nvSpPr>
        <p:spPr>
          <a:xfrm>
            <a:off x="5388051" y="1554480"/>
            <a:ext cx="1415593" cy="457200"/>
          </a:xfrm>
          <a:prstGeom prst="chevron">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05</a:t>
            </a:r>
            <a:endParaRPr lang="en-US" sz="1300" dirty="0"/>
          </a:p>
        </p:txBody>
      </p:sp>
      <p:sp>
        <p:nvSpPr>
          <p:cNvPr id="9" name="Stage 6"/>
          <p:cNvSpPr/>
          <p:nvPr/>
        </p:nvSpPr>
        <p:spPr>
          <a:xfrm>
            <a:off x="6620764" y="1554480"/>
            <a:ext cx="1415593" cy="457200"/>
          </a:xfrm>
          <a:prstGeom prst="chevron">
            <a:avLst/>
          </a:prstGeom>
          <a:solidFill>
            <a:schemeClr val="accent2"/>
          </a:solidFill>
          <a:ln/>
        </p:spPr>
        <p:txBody>
          <a:bodyPr wrap="square" lIns="25400" tIns="25400" rIns="25400" bIns="25400" rtlCol="0" anchor="ctr"/>
          <a:lstStyle/>
          <a:p>
            <a:pPr algn="ctr" indent="0" marL="0">
              <a:buNone/>
            </a:pPr>
            <a:r>
              <a:rPr lang="en-US" sz="1300" b="1" dirty="0">
                <a:solidFill>
                  <a:schemeClr val="bg1"/>
                </a:solidFill>
              </a:rPr>
              <a:t>06</a:t>
            </a:r>
            <a:endParaRPr lang="en-US" sz="1300" dirty="0"/>
          </a:p>
        </p:txBody>
      </p:sp>
      <p:sp>
        <p:nvSpPr>
          <p:cNvPr id="10" name="Stage 7"/>
          <p:cNvSpPr/>
          <p:nvPr/>
        </p:nvSpPr>
        <p:spPr>
          <a:xfrm>
            <a:off x="7853477" y="1554480"/>
            <a:ext cx="1415593" cy="457200"/>
          </a:xfrm>
          <a:prstGeom prst="chevron">
            <a:avLst/>
          </a:prstGeom>
          <a:solidFill>
            <a:schemeClr val="accent2"/>
          </a:solidFill>
          <a:ln/>
        </p:spPr>
        <p:txBody>
          <a:bodyPr wrap="square" lIns="25400" tIns="25400" rIns="25400" bIns="25400" rtlCol="0" anchor="ctr"/>
          <a:lstStyle/>
          <a:p>
            <a:pPr algn="ctr" indent="0" marL="0">
              <a:buNone/>
            </a:pPr>
            <a:r>
              <a:rPr lang="en-US" sz="1300" b="1" dirty="0">
                <a:solidFill>
                  <a:schemeClr val="bg1"/>
                </a:solidFill>
              </a:rPr>
              <a:t>07</a:t>
            </a:r>
            <a:endParaRPr lang="en-US" sz="1300" dirty="0"/>
          </a:p>
        </p:txBody>
      </p:sp>
      <p:sp>
        <p:nvSpPr>
          <p:cNvPr id="11" name="Stage 8"/>
          <p:cNvSpPr/>
          <p:nvPr/>
        </p:nvSpPr>
        <p:spPr>
          <a:xfrm>
            <a:off x="9086190" y="1554480"/>
            <a:ext cx="1415593" cy="457200"/>
          </a:xfrm>
          <a:prstGeom prst="chevron">
            <a:avLst/>
          </a:prstGeom>
          <a:solidFill>
            <a:schemeClr val="accent2"/>
          </a:solidFill>
          <a:ln/>
        </p:spPr>
        <p:txBody>
          <a:bodyPr wrap="square" lIns="25400" tIns="25400" rIns="25400" bIns="25400" rtlCol="0" anchor="ctr"/>
          <a:lstStyle/>
          <a:p>
            <a:pPr algn="ctr" indent="0" marL="0">
              <a:buNone/>
            </a:pPr>
            <a:r>
              <a:rPr lang="en-US" sz="1300" b="1" dirty="0">
                <a:solidFill>
                  <a:schemeClr val="bg1"/>
                </a:solidFill>
              </a:rPr>
              <a:t>08</a:t>
            </a:r>
            <a:endParaRPr lang="en-US" sz="1300" dirty="0"/>
          </a:p>
        </p:txBody>
      </p:sp>
      <p:sp>
        <p:nvSpPr>
          <p:cNvPr id="12" name="Stage 9"/>
          <p:cNvSpPr/>
          <p:nvPr/>
        </p:nvSpPr>
        <p:spPr>
          <a:xfrm>
            <a:off x="10318902" y="1554480"/>
            <a:ext cx="1415593" cy="457200"/>
          </a:xfrm>
          <a:prstGeom prst="chevron">
            <a:avLst/>
          </a:prstGeom>
          <a:solidFill>
            <a:schemeClr val="accent2"/>
          </a:solidFill>
          <a:ln/>
        </p:spPr>
        <p:txBody>
          <a:bodyPr wrap="square" lIns="25400" tIns="25400" rIns="25400" bIns="25400" rtlCol="0" anchor="ctr"/>
          <a:lstStyle/>
          <a:p>
            <a:pPr algn="ctr" indent="0" marL="0">
              <a:buNone/>
            </a:pPr>
            <a:r>
              <a:rPr lang="en-US" sz="1300" b="1" dirty="0">
                <a:solidFill>
                  <a:schemeClr val="bg1"/>
                </a:solidFill>
              </a:rPr>
              <a:t>09</a:t>
            </a:r>
            <a:endParaRPr lang="en-US" sz="1300" dirty="0"/>
          </a:p>
        </p:txBody>
      </p:sp>
      <p:sp>
        <p:nvSpPr>
          <p:cNvPr id="13" name="Example 01"/>
          <p:cNvSpPr txBox="1"/>
          <p:nvPr/>
        </p:nvSpPr>
        <p:spPr>
          <a:xfrm>
            <a:off x="457200"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Log source</a:t>
            </a:r>
            <a:endParaRPr lang="en-US" sz="1200" dirty="0"/>
          </a:p>
          <a:p>
            <a:pPr indent="0" marL="0">
              <a:spcAft>
                <a:spcPts val="600"/>
              </a:spcAft>
              <a:buNone/>
            </a:pPr>
            <a:r>
              <a:rPr lang="en-US" sz="1200" dirty="0">
                <a:solidFill>
                  <a:schemeClr val="tx1"/>
                </a:solidFill>
              </a:rPr>
              <a:t>Entra ID sign-in logs, WAF logs and customer portal application logs.</a:t>
            </a:r>
            <a:endParaRPr lang="en-US" sz="1200" dirty="0"/>
          </a:p>
        </p:txBody>
      </p:sp>
      <p:sp>
        <p:nvSpPr>
          <p:cNvPr id="14" name="Example 02"/>
          <p:cNvSpPr txBox="1"/>
          <p:nvPr/>
        </p:nvSpPr>
        <p:spPr>
          <a:xfrm>
            <a:off x="1689913"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Use case</a:t>
            </a:r>
            <a:endParaRPr lang="en-US" sz="1200" dirty="0"/>
          </a:p>
          <a:p>
            <a:pPr indent="0" marL="0">
              <a:spcAft>
                <a:spcPts val="600"/>
              </a:spcAft>
              <a:buNone/>
            </a:pPr>
            <a:r>
              <a:rPr lang="en-US" sz="1200" dirty="0">
                <a:solidFill>
                  <a:schemeClr val="tx1"/>
                </a:solidFill>
              </a:rPr>
              <a:t>Many failed sign-ins from many IP addresses, then a success. ATT&amp;CK T1110.004.</a:t>
            </a:r>
            <a:endParaRPr lang="en-US" sz="1200" dirty="0"/>
          </a:p>
        </p:txBody>
      </p:sp>
      <p:sp>
        <p:nvSpPr>
          <p:cNvPr id="15" name="Example 03"/>
          <p:cNvSpPr txBox="1"/>
          <p:nvPr/>
        </p:nvSpPr>
        <p:spPr>
          <a:xfrm>
            <a:off x="2922626"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Alert</a:t>
            </a:r>
            <a:endParaRPr lang="en-US" sz="1200" dirty="0"/>
          </a:p>
          <a:p>
            <a:pPr indent="0" marL="0">
              <a:spcAft>
                <a:spcPts val="600"/>
              </a:spcAft>
              <a:buNone/>
            </a:pPr>
            <a:r>
              <a:rPr lang="en-US" sz="1200" dirty="0">
                <a:solidFill>
                  <a:schemeClr val="tx1"/>
                </a:solidFill>
              </a:rPr>
              <a:t>QRadar raises an offense. The same logic in Sentinel raises an incident with accounts and IPs as entities.</a:t>
            </a:r>
            <a:endParaRPr lang="en-US" sz="1200" dirty="0"/>
          </a:p>
        </p:txBody>
      </p:sp>
      <p:sp>
        <p:nvSpPr>
          <p:cNvPr id="16" name="Example 04"/>
          <p:cNvSpPr txBox="1"/>
          <p:nvPr/>
        </p:nvSpPr>
        <p:spPr>
          <a:xfrm>
            <a:off x="4155338"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Triage</a:t>
            </a:r>
            <a:endParaRPr lang="en-US" sz="1200" dirty="0"/>
          </a:p>
          <a:p>
            <a:pPr indent="0" marL="0">
              <a:spcAft>
                <a:spcPts val="600"/>
              </a:spcAft>
              <a:buNone/>
            </a:pPr>
            <a:r>
              <a:rPr lang="en-US" sz="1200" dirty="0">
                <a:solidFill>
                  <a:schemeClr val="tx1"/>
                </a:solidFill>
              </a:rPr>
              <a:t>Level 1 confirms a true positive and sets severity to High.</a:t>
            </a:r>
            <a:endParaRPr lang="en-US" sz="1200" dirty="0"/>
          </a:p>
        </p:txBody>
      </p:sp>
      <p:sp>
        <p:nvSpPr>
          <p:cNvPr id="17" name="Example 05"/>
          <p:cNvSpPr txBox="1"/>
          <p:nvPr/>
        </p:nvSpPr>
        <p:spPr>
          <a:xfrm>
            <a:off x="5388051"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Investigation</a:t>
            </a:r>
            <a:endParaRPr lang="en-US" sz="1200" dirty="0"/>
          </a:p>
          <a:p>
            <a:pPr indent="0" marL="0">
              <a:spcAft>
                <a:spcPts val="600"/>
              </a:spcAft>
              <a:buNone/>
            </a:pPr>
            <a:r>
              <a:rPr lang="en-US" sz="1200" dirty="0">
                <a:solidFill>
                  <a:schemeClr val="tx1"/>
                </a:solidFill>
              </a:rPr>
              <a:t>Level 2 lists the accounts with a successful sign-in from the botnet and checks for payment changes.</a:t>
            </a:r>
            <a:endParaRPr lang="en-US" sz="1200" dirty="0"/>
          </a:p>
        </p:txBody>
      </p:sp>
      <p:sp>
        <p:nvSpPr>
          <p:cNvPr id="18" name="Example 06"/>
          <p:cNvSpPr txBox="1"/>
          <p:nvPr/>
        </p:nvSpPr>
        <p:spPr>
          <a:xfrm>
            <a:off x="6620764"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2"/>
                </a:solidFill>
              </a:rPr>
              <a:t>Containment</a:t>
            </a:r>
            <a:endParaRPr lang="en-US" sz="1200" dirty="0"/>
          </a:p>
          <a:p>
            <a:pPr indent="0" marL="0">
              <a:spcAft>
                <a:spcPts val="600"/>
              </a:spcAft>
              <a:buNone/>
            </a:pPr>
            <a:r>
              <a:rPr lang="en-US" sz="1200" dirty="0">
                <a:solidFill>
                  <a:schemeClr val="tx1"/>
                </a:solidFill>
              </a:rPr>
              <a:t>Playbook revokes sessions, forces password resets and blocks the source ranges at the WAF.</a:t>
            </a:r>
            <a:endParaRPr lang="en-US" sz="1200" dirty="0"/>
          </a:p>
        </p:txBody>
      </p:sp>
      <p:sp>
        <p:nvSpPr>
          <p:cNvPr id="19" name="Example 07"/>
          <p:cNvSpPr txBox="1"/>
          <p:nvPr/>
        </p:nvSpPr>
        <p:spPr>
          <a:xfrm>
            <a:off x="7853477"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2"/>
                </a:solidFill>
              </a:rPr>
              <a:t>Recovery</a:t>
            </a:r>
            <a:endParaRPr lang="en-US" sz="1200" dirty="0"/>
          </a:p>
          <a:p>
            <a:pPr indent="0" marL="0">
              <a:spcAft>
                <a:spcPts val="600"/>
              </a:spcAft>
              <a:buNone/>
            </a:pPr>
            <a:r>
              <a:rPr lang="en-US" sz="1200" dirty="0">
                <a:solidFill>
                  <a:schemeClr val="tx1"/>
                </a:solidFill>
              </a:rPr>
              <a:t>MFA enforced on affected accounts. Tampered settings restored. Watch for re-entry.</a:t>
            </a:r>
            <a:endParaRPr lang="en-US" sz="1200" dirty="0"/>
          </a:p>
        </p:txBody>
      </p:sp>
      <p:sp>
        <p:nvSpPr>
          <p:cNvPr id="20" name="Example 08"/>
          <p:cNvSpPr txBox="1"/>
          <p:nvPr/>
        </p:nvSpPr>
        <p:spPr>
          <a:xfrm>
            <a:off x="9086190"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2"/>
                </a:solidFill>
              </a:rPr>
              <a:t>Reporting</a:t>
            </a:r>
            <a:endParaRPr lang="en-US" sz="1200" dirty="0"/>
          </a:p>
          <a:p>
            <a:pPr indent="0" marL="0">
              <a:spcAft>
                <a:spcPts val="600"/>
              </a:spcAft>
              <a:buNone/>
            </a:pPr>
            <a:r>
              <a:rPr lang="en-US" sz="1200" dirty="0">
                <a:solidFill>
                  <a:schemeClr val="tx1"/>
                </a:solidFill>
              </a:rPr>
              <a:t>Classified against DORA criteria. If major: initial notification within 4 hours. GDPR notice within 72 hours.</a:t>
            </a:r>
            <a:endParaRPr lang="en-US" sz="1200" dirty="0"/>
          </a:p>
        </p:txBody>
      </p:sp>
      <p:sp>
        <p:nvSpPr>
          <p:cNvPr id="21" name="Example 09"/>
          <p:cNvSpPr txBox="1"/>
          <p:nvPr/>
        </p:nvSpPr>
        <p:spPr>
          <a:xfrm>
            <a:off x="10318902"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2"/>
                </a:solidFill>
              </a:rPr>
              <a:t>Lessons learned</a:t>
            </a:r>
            <a:endParaRPr lang="en-US" sz="1200" dirty="0"/>
          </a:p>
          <a:p>
            <a:pPr indent="0" marL="0">
              <a:spcAft>
                <a:spcPts val="600"/>
              </a:spcAft>
              <a:buNone/>
            </a:pPr>
            <a:r>
              <a:rPr lang="en-US" sz="1200" dirty="0">
                <a:solidFill>
                  <a:schemeClr val="tx1"/>
                </a:solidFill>
              </a:rPr>
              <a:t>Breached-password screening added. Rule threshold tuned. Playbook updated.</a:t>
            </a:r>
            <a:endParaRPr lang="en-US" sz="12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Detection and response matrix: what to detect</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9144000" cy="914400"/>
        </p:xfrm>
        <a:graphic>
          <a:graphicData uri="http://schemas.openxmlformats.org/drawingml/2006/table">
            <a:tbl>
              <a:tblPr/>
              <a:tblGrid>
                <a:gridCol w="1445807"/>
                <a:gridCol w="1228936"/>
                <a:gridCol w="2602453"/>
                <a:gridCol w="2024130"/>
                <a:gridCol w="2747033"/>
                <a:gridCol w="1228936"/>
              </a:tblGrid>
              <a:tr h="365760">
                <a:tc>
                  <a:txBody>
                    <a:bodyPr/>
                    <a:lstStyle/>
                    <a:p>
                      <a:pPr indent="0" marL="0">
                        <a:buNone/>
                      </a:pPr>
                      <a:r>
                        <a:rPr lang="en-US" sz="1250" b="1" dirty="0">
                          <a:solidFill>
                            <a:schemeClr val="bg1"/>
                          </a:solidFill>
                        </a:rPr>
                        <a:t>ID</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Traces to</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Threat scenario</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bg1"/>
                          </a:solidFill>
                        </a:rPr>
                        <a:t>ATT&amp;CK technique</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bg1"/>
                          </a:solidFill>
                        </a:rPr>
                        <a:t>Log sources</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bg1"/>
                          </a:solidFill>
                        </a:rPr>
                        <a:t>Severity</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r>
              <a:tr h="524510">
                <a:tc>
                  <a:txBody>
                    <a:bodyPr/>
                    <a:lstStyle/>
                    <a:p>
                      <a:pPr indent="0" marL="0">
                        <a:buNone/>
                      </a:pPr>
                      <a:r>
                        <a:rPr lang="en-US" sz="1250" b="1" dirty="0">
                          <a:solidFill>
                            <a:schemeClr val="tx1"/>
                          </a:solidFill>
                        </a:rPr>
                        <a:t>SOC-UC-001</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SCM-001</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Credential stuffing against the customer portal</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T1110.004 Credential Stuffing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Entra ID sign-in logs, WAF, portal application logs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High</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r>
              <a:tr h="718185">
                <a:tc>
                  <a:txBody>
                    <a:bodyPr/>
                    <a:lstStyle/>
                    <a:p>
                      <a:pPr indent="0" marL="0">
                        <a:buNone/>
                      </a:pPr>
                      <a:r>
                        <a:rPr lang="en-US" sz="1250" b="1" dirty="0">
                          <a:solidFill>
                            <a:schemeClr val="tx1"/>
                          </a:solidFill>
                        </a:rPr>
                        <a:t>SOC-UC-002</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SCM-002</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Ransomware encrypting servers and backups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T1486 Data Encrypted for Impact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Defender for Endpoint, Windows Security events, backup platform logs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b="1" dirty="0">
                          <a:solidFill>
                            <a:schemeClr val="bg1"/>
                          </a:solidFill>
                        </a:rPr>
                        <a:t>Critical</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r>
              <a:tr h="718185">
                <a:tc>
                  <a:txBody>
                    <a:bodyPr/>
                    <a:lstStyle/>
                    <a:p>
                      <a:pPr indent="0" marL="0">
                        <a:buNone/>
                      </a:pPr>
                      <a:r>
                        <a:rPr lang="en-US" sz="1250" b="1" dirty="0">
                          <a:solidFill>
                            <a:schemeClr val="tx1"/>
                          </a:solidFill>
                        </a:rPr>
                        <a:t>SOC-UC-003</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SCM-003</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Compromise through a third-party ICT provider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T1199 Trusted Relationship</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Provider VPN and remote access, service principal sign-ins, provider logs (CIS 8.12)</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High</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r>
              <a:tr h="718185">
                <a:tc>
                  <a:txBody>
                    <a:bodyPr/>
                    <a:lstStyle/>
                    <a:p>
                      <a:pPr indent="0" marL="0">
                        <a:buNone/>
                      </a:pPr>
                      <a:r>
                        <a:rPr lang="en-US" sz="1250" b="1" dirty="0">
                          <a:solidFill>
                            <a:schemeClr val="tx1"/>
                          </a:solidFill>
                        </a:rPr>
                        <a:t>SOC-UC-004</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SCM-004</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Misuse of administrator credentials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T1078 Valid Accounts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Entra ID audit logs, PIM, Active Directory security events, PAM</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High</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r>
              <a:tr h="718185">
                <a:tc>
                  <a:txBody>
                    <a:bodyPr/>
                    <a:lstStyle/>
                    <a:p>
                      <a:pPr indent="0" marL="0">
                        <a:buNone/>
                      </a:pPr>
                      <a:r>
                        <a:rPr lang="en-US" sz="1250" b="1" dirty="0">
                          <a:solidFill>
                            <a:schemeClr val="tx1"/>
                          </a:solidFill>
                        </a:rPr>
                        <a:t>SOC-UC-005</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SCM-005</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Exploited vulnerability on an internet-facing system</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T1190 Exploit Public-Facing Application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Firewall, WAF and VPN logs, vulnerability scanner, Defender Vulnerability Management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High</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r>
              <a:tr h="330835">
                <a:tc>
                  <a:txBody>
                    <a:bodyPr/>
                    <a:lstStyle/>
                    <a:p>
                      <a:pPr indent="0" marL="0">
                        <a:buNone/>
                      </a:pPr>
                      <a:r>
                        <a:rPr lang="en-US" sz="1250" b="1" dirty="0">
                          <a:solidFill>
                            <a:schemeClr val="tx2"/>
                          </a:solidFill>
                        </a:rPr>
                        <a:t>SOC-UC-0NN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[SCM ID]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[Threat scenario]</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[Technique ID]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[Sources]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i="1" dirty="0">
                          <a:solidFill>
                            <a:schemeClr val="tx2"/>
                          </a:solidFill>
                        </a:rPr>
                        <a:t>[Severity]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Detection and response matrix: how to detect and respond</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9144000" cy="914400"/>
        </p:xfrm>
        <a:graphic>
          <a:graphicData uri="http://schemas.openxmlformats.org/drawingml/2006/table">
            <a:tbl>
              <a:tblPr/>
              <a:tblGrid>
                <a:gridCol w="1020570"/>
                <a:gridCol w="2449367"/>
                <a:gridCol w="2449367"/>
                <a:gridCol w="2143196"/>
                <a:gridCol w="1275712"/>
                <a:gridCol w="1939082"/>
              </a:tblGrid>
              <a:tr h="493522">
                <a:tc>
                  <a:txBody>
                    <a:bodyPr/>
                    <a:lstStyle/>
                    <a:p>
                      <a:pPr indent="0" marL="0">
                        <a:buNone/>
                      </a:pPr>
                      <a:r>
                        <a:rPr lang="en-US" sz="1150" b="1" dirty="0">
                          <a:solidFill>
                            <a:schemeClr val="bg1"/>
                          </a:solidFill>
                        </a:rPr>
                        <a:t>ID</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150" b="1" dirty="0">
                          <a:solidFill>
                            <a:schemeClr val="bg1"/>
                          </a:solidFill>
                        </a:rPr>
                        <a:t>Detection in QRadar</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Detection in Microsoft Sentinel</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Response playbook</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50" b="1" dirty="0">
                          <a:solidFill>
                            <a:schemeClr val="bg1"/>
                          </a:solidFill>
                        </a:rPr>
                        <a:t>Owner</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50" b="1" dirty="0">
                          <a:solidFill>
                            <a:schemeClr val="bg1"/>
                          </a:solidFill>
                        </a:rPr>
                        <a:t>Evidence</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r>
              <a:tr h="1028065">
                <a:tc>
                  <a:txBody>
                    <a:bodyPr/>
                    <a:lstStyle/>
                    <a:p>
                      <a:pPr indent="0" marL="0">
                        <a:buNone/>
                      </a:pPr>
                      <a:r>
                        <a:rPr lang="en-US" sz="1150" b="1" dirty="0">
                          <a:solidFill>
                            <a:schemeClr val="tx1"/>
                          </a:solidFill>
                        </a:rPr>
                        <a:t>SOC-UC-001</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Rule: failed logins from many source IPs followed by a success. Uses authentication building blocks and a reference set of known-bad IPs.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Scheduled analytics rule on SigninLogs in KQL. Watchlist of known-bad IPs. UEBA sign-in anomalies.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Revoke sessions, force password reset, block source ranges at the WAF.</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L1 to L2</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Offense or incident record, playbook run log, list of affected accounts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849884">
                <a:tc>
                  <a:txBody>
                    <a:bodyPr/>
                    <a:lstStyle/>
                    <a:p>
                      <a:pPr indent="0" marL="0">
                        <a:buNone/>
                      </a:pPr>
                      <a:r>
                        <a:rPr lang="en-US" sz="1150" b="1" dirty="0">
                          <a:solidFill>
                            <a:schemeClr val="tx1"/>
                          </a:solidFill>
                        </a:rPr>
                        <a:t>SOC-UC-002</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Defender alerts through the Microsoft Defender DSM, plus a rule on mass file changes and backup deletion.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Defender XDR connector incidents. Fusion multistage attack detection.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Isolate devices, disable accounts, invoke the recovery plan.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L2 to L3, incident manager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Incident timeline, isolation log, restore test record</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849884">
                <a:tc>
                  <a:txBody>
                    <a:bodyPr/>
                    <a:lstStyle/>
                    <a:p>
                      <a:pPr indent="0" marL="0">
                        <a:buNone/>
                      </a:pPr>
                      <a:r>
                        <a:rPr lang="en-US" sz="1150" b="1" dirty="0">
                          <a:solidFill>
                            <a:schemeClr val="tx1"/>
                          </a:solidFill>
                        </a:rPr>
                        <a:t>SOC-UC-003</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Rule: provider account active outside agreed hours or sources. Reference set of provider accounts.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Analytics rule on service principal and guest sign-ins. Watchlist of provider identities.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Suspend provider access, rotate secrets, call the contract contact.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L2, third-party risk owner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Incident record, provider notification, access review</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671703">
                <a:tc>
                  <a:txBody>
                    <a:bodyPr/>
                    <a:lstStyle/>
                    <a:p>
                      <a:pPr indent="0" marL="0">
                        <a:buNone/>
                      </a:pPr>
                      <a:r>
                        <a:rPr lang="en-US" sz="1150" b="1" dirty="0">
                          <a:solidFill>
                            <a:schemeClr val="tx1"/>
                          </a:solidFill>
                        </a:rPr>
                        <a:t>SOC-UC-004</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Rule: privileged group change outside a change window. Reference set of administrators.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Analytics rule on AuditLogs and SecurityEvent. Watchlist of privileged accounts.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Disable the account, revoke tokens, review every change made.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L2</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Incident record, PAM session recording, change reconciliation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849884">
                <a:tc>
                  <a:txBody>
                    <a:bodyPr/>
                    <a:lstStyle/>
                    <a:p>
                      <a:pPr indent="0" marL="0">
                        <a:buNone/>
                      </a:pPr>
                      <a:r>
                        <a:rPr lang="en-US" sz="1150" b="1" dirty="0">
                          <a:solidFill>
                            <a:schemeClr val="tx1"/>
                          </a:solidFill>
                        </a:rPr>
                        <a:t>SOC-UC-005</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Rule: exploit signature against an asset with a matching open vulnerability in its asset profile.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Analytics rule joining CommonSecurityLog with vulnerability data. Threat intelligence matching.</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Isolate the system, apply the emergency patch, hunt for web shells.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L2 to L3</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Incident record, patch record, hunt report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15341">
                <a:tc>
                  <a:txBody>
                    <a:bodyPr/>
                    <a:lstStyle/>
                    <a:p>
                      <a:pPr indent="0" marL="0">
                        <a:buNone/>
                      </a:pPr>
                      <a:r>
                        <a:rPr lang="en-US" sz="1150" b="1" dirty="0">
                          <a:solidFill>
                            <a:schemeClr val="tx2"/>
                          </a:solidFill>
                        </a:rPr>
                        <a:t>SOC-UC-0NN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[QRadar rule]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[Sentinel rule]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[Playbook]</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[Tier]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[Proof]</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SOC roles and tiers</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Who does what, and where they work.</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2368232"/>
                <a:gridCol w="5187556"/>
                <a:gridCol w="3721507"/>
              </a:tblGrid>
              <a:tr h="365760">
                <a:tc>
                  <a:txBody>
                    <a:bodyPr/>
                    <a:lstStyle/>
                    <a:p>
                      <a:pPr indent="0" marL="0">
                        <a:buNone/>
                      </a:pPr>
                      <a:r>
                        <a:rPr lang="en-US" sz="1250" b="1" dirty="0">
                          <a:solidFill>
                            <a:schemeClr val="bg1"/>
                          </a:solidFill>
                        </a:rPr>
                        <a:t>Role</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What they do</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Primary tools</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24510">
                <a:tc>
                  <a:txBody>
                    <a:bodyPr/>
                    <a:lstStyle/>
                    <a:p>
                      <a:pPr indent="0" marL="0">
                        <a:buNone/>
                      </a:pPr>
                      <a:r>
                        <a:rPr lang="en-US" sz="1250" b="1" dirty="0">
                          <a:solidFill>
                            <a:schemeClr val="tx1"/>
                          </a:solidFill>
                        </a:rPr>
                        <a:t>Level 1 · Triage analyst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Watches the queue, validates and enriches alerts, closes false positives, escalates.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QRadar offenses, Sentinel incident queue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Level 2 · Incident responder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Investigates scope and cause, contains, coordinates recovery with system owners.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AQL and KQL searches, Defender XDR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Level 3 · Threat hunter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Hunts for what the rules missed. Performs forensics and malware analysis.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Hunting queries, threat intelligence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Detection engineer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Builds, tests and tunes use cases. Maintains ATT&amp;CK coverage.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QRadar Use Case Manager, Sentinel analytics rules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Platform engineer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Onboards log sources. Keeps collectors, connectors and playbooks healthy.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DSMs, data connectors, SOAR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Incident manager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Runs major incidents. Owns classification and regulatory reporting with compliance and the DPO.</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Incident record, reporting templates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SOC manager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Owns staffing, metrics and service levels. Reports to the management body.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Dashboards, KPI reports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Severity and response targets</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Hybrid: rate by description or by numbers. Bracketed values are placeholders to set against your risk appetite and the DORA thresholds in Delegated Regulation (EU) 2024/1772.</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1091351"/>
                <a:gridCol w="2806332"/>
                <a:gridCol w="2598455"/>
                <a:gridCol w="1559073"/>
                <a:gridCol w="1039382"/>
                <a:gridCol w="2182702"/>
              </a:tblGrid>
              <a:tr h="365760">
                <a:tc>
                  <a:txBody>
                    <a:bodyPr/>
                    <a:lstStyle/>
                    <a:p>
                      <a:pPr indent="0" marL="0">
                        <a:buNone/>
                      </a:pPr>
                      <a:r>
                        <a:rPr lang="en-US" sz="1250" b="1" dirty="0">
                          <a:solidFill>
                            <a:schemeClr val="bg1"/>
                          </a:solidFill>
                        </a:rPr>
                        <a:t>Severity</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Qualitative criteria</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Quantitative trigger</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50" b="1" dirty="0">
                          <a:solidFill>
                            <a:schemeClr val="bg1"/>
                          </a:solidFill>
                        </a:rPr>
                        <a:t>Acknowledge</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Contain</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Escalate to</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718185">
                <a:tc>
                  <a:txBody>
                    <a:bodyPr/>
                    <a:lstStyle/>
                    <a:p>
                      <a:pPr indent="0" marL="0">
                        <a:buNone/>
                      </a:pPr>
                      <a:r>
                        <a:rPr lang="en-US" sz="1250" b="1" dirty="0">
                          <a:solidFill>
                            <a:schemeClr val="bg1"/>
                          </a:solidFill>
                        </a:rPr>
                        <a:t>Critical</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Critical or important function affected, or a confirmed data breach.</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[Over X clients], [over Y hours] downtime or [over €Z] loss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50" dirty="0">
                          <a:solidFill>
                            <a:schemeClr val="tx1"/>
                          </a:solidFill>
                        </a:rPr>
                        <a:t>[15 min]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[4 hours]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Incident manager, CISO, management body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718185">
                <a:tc>
                  <a:txBody>
                    <a:bodyPr/>
                    <a:lstStyle/>
                    <a:p>
                      <a:pPr indent="0" marL="0">
                        <a:buNone/>
                      </a:pPr>
                      <a:r>
                        <a:rPr lang="en-US" sz="1250" b="1" dirty="0">
                          <a:solidFill>
                            <a:schemeClr val="tx1"/>
                          </a:solidFill>
                        </a:rPr>
                        <a:t>High</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250" dirty="0">
                          <a:solidFill>
                            <a:schemeClr val="tx1"/>
                          </a:solidFill>
                        </a:rPr>
                        <a:t>Confirmed compromise of an account or system. No critical function down.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[X to Y clients] or [€ range]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50" dirty="0">
                          <a:solidFill>
                            <a:schemeClr val="tx1"/>
                          </a:solidFill>
                        </a:rPr>
                        <a:t>[30 min]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[8 hours]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SOC manager, system owner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Medium</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250" dirty="0">
                          <a:solidFill>
                            <a:schemeClr val="tx1"/>
                          </a:solidFill>
                        </a:rPr>
                        <a:t>Suspicious activity that needs investigation.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Below reporting thresholds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50" dirty="0">
                          <a:solidFill>
                            <a:schemeClr val="tx1"/>
                          </a:solidFill>
                        </a:rPr>
                        <a:t>[4 hours]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[3 days]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Level 2</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Low</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3"/>
                    </a:solidFill>
                  </a:tcPr>
                </a:tc>
                <a:tc>
                  <a:txBody>
                    <a:bodyPr/>
                    <a:lstStyle/>
                    <a:p>
                      <a:pPr indent="0" marL="0">
                        <a:buNone/>
                      </a:pPr>
                      <a:r>
                        <a:rPr lang="en-US" sz="1250" dirty="0">
                          <a:solidFill>
                            <a:schemeClr val="tx1"/>
                          </a:solidFill>
                        </a:rPr>
                        <a:t>Policy violation or blocked attempt.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None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50" dirty="0">
                          <a:solidFill>
                            <a:schemeClr val="tx1"/>
                          </a:solidFill>
                        </a:rPr>
                        <a:t>[1 day]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[Planned]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Level 1</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Regulatory reporting clock</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The SOC starts each clock. Compliance and the DPO file the report.</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2121471"/>
                <a:gridCol w="2568097"/>
                <a:gridCol w="4466256"/>
                <a:gridCol w="2121471"/>
              </a:tblGrid>
              <a:tr h="365760">
                <a:tc>
                  <a:txBody>
                    <a:bodyPr/>
                    <a:lstStyle/>
                    <a:p>
                      <a:pPr indent="0" marL="0">
                        <a:buNone/>
                      </a:pPr>
                      <a:r>
                        <a:rPr lang="en-US" sz="1250" b="1" dirty="0">
                          <a:solidFill>
                            <a:schemeClr val="bg1"/>
                          </a:solidFill>
                        </a:rPr>
                        <a:t>Regime</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Trigger</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Deadlines</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50" b="1" dirty="0">
                          <a:solidFill>
                            <a:schemeClr val="bg1"/>
                          </a:solidFill>
                        </a:rPr>
                        <a:t>Who reports</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1105535">
                <a:tc>
                  <a:txBody>
                    <a:bodyPr/>
                    <a:lstStyle/>
                    <a:p>
                      <a:pPr indent="0" marL="0">
                        <a:buNone/>
                      </a:pPr>
                      <a:r>
                        <a:rPr lang="en-US" sz="1250" b="1" dirty="0">
                          <a:solidFill>
                            <a:schemeClr val="tx1"/>
                          </a:solidFill>
                        </a:rPr>
                        <a:t>DORA Art. 19, Del. Reg. (EU) 2025/301</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Major ICT-related incident, classified under Art. 18</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Initial notification within 4 hours of classification and no later than 24 hours from discovery. Intermediate report within 72 hours of the initial notification. Final report within 1 month of the latest intermediate report.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50" dirty="0">
                          <a:solidFill>
                            <a:schemeClr val="tx1"/>
                          </a:solidFill>
                        </a:rPr>
                        <a:t>Financial entity, to its competent authority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718185">
                <a:tc>
                  <a:txBody>
                    <a:bodyPr/>
                    <a:lstStyle/>
                    <a:p>
                      <a:pPr indent="0" marL="0">
                        <a:buNone/>
                      </a:pPr>
                      <a:r>
                        <a:rPr lang="en-US" sz="1250" b="1" dirty="0">
                          <a:solidFill>
                            <a:schemeClr val="tx1"/>
                          </a:solidFill>
                        </a:rPr>
                        <a:t>GDPR Art. 33 and 34</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Personal data breach</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Supervisory authority within 72 hours of becoming aware. Data subjects without undue delay when the risk is high.</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50" dirty="0">
                          <a:solidFill>
                            <a:schemeClr val="tx1"/>
                          </a:solidFill>
                        </a:rPr>
                        <a:t>Controller, through the DPO</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911860">
                <a:tc>
                  <a:txBody>
                    <a:bodyPr/>
                    <a:lstStyle/>
                    <a:p>
                      <a:pPr indent="0" marL="0">
                        <a:buNone/>
                      </a:pPr>
                      <a:r>
                        <a:rPr lang="en-US" sz="1250" b="1" dirty="0">
                          <a:solidFill>
                            <a:schemeClr val="tx1"/>
                          </a:solidFill>
                        </a:rPr>
                        <a:t>CRA Art. 14</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Actively exploited vulnerability or severe incident in a product with digital elements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Early warning within 24 hours. Notification within 72 hours. Final report 14 days after a fix is available (vulnerability) or within 1 month (incident).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50" dirty="0">
                          <a:solidFill>
                            <a:schemeClr val="tx1"/>
                          </a:solidFill>
                        </a:rPr>
                        <a:t>Manufacturer, to the CSIRT and ENISA</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EU AI Act Art. 73</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Serious incident involving a high-risk AI system</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No later than 15 days after becoming aware. Shorter for the gravest cases.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50" dirty="0">
                          <a:solidFill>
                            <a:schemeClr val="tx1"/>
                          </a:solidFill>
                        </a:rPr>
                        <a:t>Provider, to the market surveillance authority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SOC and NOC interface</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Who leads, who supports, and what triggers the hand-off.</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2456441"/>
                <a:gridCol w="3349692"/>
                <a:gridCol w="3349692"/>
                <a:gridCol w="2121471"/>
              </a:tblGrid>
              <a:tr h="365760">
                <a:tc>
                  <a:txBody>
                    <a:bodyPr/>
                    <a:lstStyle/>
                    <a:p>
                      <a:pPr indent="0" marL="0">
                        <a:buNone/>
                      </a:pPr>
                      <a:r>
                        <a:rPr lang="en-US" sz="1250" b="1" dirty="0">
                          <a:solidFill>
                            <a:schemeClr val="bg1"/>
                          </a:solidFill>
                        </a:rPr>
                        <a:t>Situation</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SOC does</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bg1"/>
                          </a:solidFill>
                        </a:rPr>
                        <a:t>NOC does</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50" b="1" dirty="0">
                          <a:solidFill>
                            <a:schemeClr val="bg1"/>
                          </a:solidFill>
                        </a:rPr>
                        <a:t>Hand-off trigger</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24510">
                <a:tc>
                  <a:txBody>
                    <a:bodyPr/>
                    <a:lstStyle/>
                    <a:p>
                      <a:pPr indent="0" marL="0">
                        <a:buNone/>
                      </a:pPr>
                      <a:r>
                        <a:rPr lang="en-US" sz="1250" b="1" dirty="0">
                          <a:solidFill>
                            <a:schemeClr val="tx1"/>
                          </a:solidFill>
                        </a:rPr>
                        <a:t>Service degraded, cause unknown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Checks the SIEM for attack indicators.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Leads restoration. Owns the ticket.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NOC opens a P1 or P2</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DDoS or traffic flood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Investigates the actor and any parallel intrusion.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Activates mitigation and reroutes traffic.</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Volumetric alert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Malware on a server or network device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Leads the incident. Decides containment.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Isolates the segment or port on request.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SOC severity High or above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Firewall or network change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Reviews the security risk of the rule.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Implements through change control.</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Change request raised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Log source stops sending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Flags the detection gap.</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Restores the device, agent or connector.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Health alert in the SIEM</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Major incident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Runs classification and regulatory reporting.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Reports downtime and service impact.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Incident manager declares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Tooling alignment: QRadar to Microsoft Sentinel</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9144000" cy="914400"/>
        </p:xfrm>
        <a:graphic>
          <a:graphicData uri="http://schemas.openxmlformats.org/drawingml/2006/table">
            <a:tbl>
              <a:tblPr/>
              <a:tblGrid>
                <a:gridCol w="2368232"/>
                <a:gridCol w="4398145"/>
                <a:gridCol w="4510918"/>
              </a:tblGrid>
              <a:tr h="365760">
                <a:tc>
                  <a:txBody>
                    <a:bodyPr/>
                    <a:lstStyle/>
                    <a:p>
                      <a:pPr indent="0" marL="0">
                        <a:buNone/>
                      </a:pPr>
                      <a:r>
                        <a:rPr lang="en-US" sz="1100" b="1" dirty="0">
                          <a:solidFill>
                            <a:schemeClr val="bg1"/>
                          </a:solidFill>
                        </a:rPr>
                        <a:t>Capability</a:t>
                      </a:r>
                      <a:endParaRPr lang="en-US" sz="11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IBM QRadar, in use today</a:t>
                      </a:r>
                      <a:endParaRPr lang="en-US" sz="11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Microsoft Sentinel, alignment target</a:t>
                      </a:r>
                      <a:endParaRPr lang="en-US" sz="11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r>
              <a:tr h="307594">
                <a:tc>
                  <a:txBody>
                    <a:bodyPr/>
                    <a:lstStyle/>
                    <a:p>
                      <a:pPr indent="0" marL="0">
                        <a:buNone/>
                      </a:pPr>
                      <a:r>
                        <a:rPr lang="en-US" sz="1100" b="1" dirty="0">
                          <a:solidFill>
                            <a:schemeClr val="tx1"/>
                          </a:solidFill>
                        </a:rPr>
                        <a:t>Log collection</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Log sources, DSMs, event collectors, WinCollect</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Data connectors, Azure Monitor Agent, data collection rules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07594">
                <a:tc>
                  <a:txBody>
                    <a:bodyPr/>
                    <a:lstStyle/>
                    <a:p>
                      <a:pPr indent="0" marL="0">
                        <a:buNone/>
                      </a:pPr>
                      <a:r>
                        <a:rPr lang="en-US" sz="1100" b="1" dirty="0">
                          <a:solidFill>
                            <a:schemeClr val="tx1"/>
                          </a:solidFill>
                        </a:rPr>
                        <a:t>Parsing and normalisation</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DSM parsing, custom event properties, QID map</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ASIM parsers, KQL functions, ingestion-time transformations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07594">
                <a:tc>
                  <a:txBody>
                    <a:bodyPr/>
                    <a:lstStyle/>
                    <a:p>
                      <a:pPr indent="0" marL="0">
                        <a:buNone/>
                      </a:pPr>
                      <a:r>
                        <a:rPr lang="en-US" sz="1100" b="1" dirty="0">
                          <a:solidFill>
                            <a:schemeClr val="tx1"/>
                          </a:solidFill>
                        </a:rPr>
                        <a:t>Query language</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AQL</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KQL</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478028">
                <a:tc>
                  <a:txBody>
                    <a:bodyPr/>
                    <a:lstStyle/>
                    <a:p>
                      <a:pPr indent="0" marL="0">
                        <a:buNone/>
                      </a:pPr>
                      <a:r>
                        <a:rPr lang="en-US" sz="1100" b="1" dirty="0">
                          <a:solidFill>
                            <a:schemeClr val="tx1"/>
                          </a:solidFill>
                        </a:rPr>
                        <a:t>Detection logic</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Rules and building blocks: event, flow, common, offense, anomaly</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Analytics rules: scheduled, near-real-time, Fusion, Microsoft security, ML behaviour analytics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07594">
                <a:tc>
                  <a:txBody>
                    <a:bodyPr/>
                    <a:lstStyle/>
                    <a:p>
                      <a:pPr indent="0" marL="0">
                        <a:buNone/>
                      </a:pPr>
                      <a:r>
                        <a:rPr lang="en-US" sz="1100" b="1" dirty="0">
                          <a:solidFill>
                            <a:schemeClr val="tx1"/>
                          </a:solidFill>
                        </a:rPr>
                        <a:t>Alert grouping</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Offenses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Incidents with entity mapping</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07594">
                <a:tc>
                  <a:txBody>
                    <a:bodyPr/>
                    <a:lstStyle/>
                    <a:p>
                      <a:pPr indent="0" marL="0">
                        <a:buNone/>
                      </a:pPr>
                      <a:r>
                        <a:rPr lang="en-US" sz="1100" b="1" dirty="0">
                          <a:solidFill>
                            <a:schemeClr val="tx1"/>
                          </a:solidFill>
                        </a:rPr>
                        <a:t>Lookup lists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Reference sets, maps and tables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Watchlists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07594">
                <a:tc>
                  <a:txBody>
                    <a:bodyPr/>
                    <a:lstStyle/>
                    <a:p>
                      <a:pPr indent="0" marL="0">
                        <a:buNone/>
                      </a:pPr>
                      <a:r>
                        <a:rPr lang="en-US" sz="1100" b="1" dirty="0">
                          <a:solidFill>
                            <a:schemeClr val="tx1"/>
                          </a:solidFill>
                        </a:rPr>
                        <a:t>Behaviour analytics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User Behavior Analytics app</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UEBA</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478028">
                <a:tc>
                  <a:txBody>
                    <a:bodyPr/>
                    <a:lstStyle/>
                    <a:p>
                      <a:pPr indent="0" marL="0">
                        <a:buNone/>
                      </a:pPr>
                      <a:r>
                        <a:rPr lang="en-US" sz="1100" b="1" dirty="0">
                          <a:solidFill>
                            <a:schemeClr val="tx1"/>
                          </a:solidFill>
                        </a:rPr>
                        <a:t>Threat intelligence</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X-Force Exchange, STIX and TAXII feeds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Threat intelligence connectors, Defender Threat Intelligence</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07594">
                <a:tc>
                  <a:txBody>
                    <a:bodyPr/>
                    <a:lstStyle/>
                    <a:p>
                      <a:pPr indent="0" marL="0">
                        <a:buNone/>
                      </a:pPr>
                      <a:r>
                        <a:rPr lang="en-US" sz="1100" b="1" dirty="0">
                          <a:solidFill>
                            <a:schemeClr val="tx1"/>
                          </a:solidFill>
                        </a:rPr>
                        <a:t>Automation and response</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QRadar SOAR playbooks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Automation rules and playbooks (Logic Apps)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07594">
                <a:tc>
                  <a:txBody>
                    <a:bodyPr/>
                    <a:lstStyle/>
                    <a:p>
                      <a:pPr indent="0" marL="0">
                        <a:buNone/>
                      </a:pPr>
                      <a:r>
                        <a:rPr lang="en-US" sz="1100" b="1" dirty="0">
                          <a:solidFill>
                            <a:schemeClr val="tx1"/>
                          </a:solidFill>
                        </a:rPr>
                        <a:t>ATT&amp;CK coverage</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Use Case Manager</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MITRE ATT&amp;CK coverage view</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07594">
                <a:tc>
                  <a:txBody>
                    <a:bodyPr/>
                    <a:lstStyle/>
                    <a:p>
                      <a:pPr indent="0" marL="0">
                        <a:buNone/>
                      </a:pPr>
                      <a:r>
                        <a:rPr lang="en-US" sz="1100" b="1" dirty="0">
                          <a:solidFill>
                            <a:schemeClr val="tx1"/>
                          </a:solidFill>
                        </a:rPr>
                        <a:t>Hunting</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Saved searches in AQL</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Hunting queries, notebooks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07594">
                <a:tc>
                  <a:txBody>
                    <a:bodyPr/>
                    <a:lstStyle/>
                    <a:p>
                      <a:pPr indent="0" marL="0">
                        <a:buNone/>
                      </a:pPr>
                      <a:r>
                        <a:rPr lang="en-US" sz="1100" b="1" dirty="0">
                          <a:solidFill>
                            <a:schemeClr val="tx1"/>
                          </a:solidFill>
                        </a:rPr>
                        <a:t>Network flows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QFlow, QRadar Network Insights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Flow logs and firewall logs through connectors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07594">
                <a:tc>
                  <a:txBody>
                    <a:bodyPr/>
                    <a:lstStyle/>
                    <a:p>
                      <a:pPr indent="0" marL="0">
                        <a:buNone/>
                      </a:pPr>
                      <a:r>
                        <a:rPr lang="en-US" sz="1100" b="1" dirty="0">
                          <a:solidFill>
                            <a:schemeClr val="tx1"/>
                          </a:solidFill>
                        </a:rPr>
                        <a:t>Dashboards and reports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Pulse dashboards, reports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Workbooks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07594">
                <a:tc>
                  <a:txBody>
                    <a:bodyPr/>
                    <a:lstStyle/>
                    <a:p>
                      <a:pPr indent="0" marL="0">
                        <a:buNone/>
                      </a:pPr>
                      <a:r>
                        <a:rPr lang="en-US" sz="1100" b="1" dirty="0">
                          <a:solidFill>
                            <a:schemeClr val="tx1"/>
                          </a:solidFill>
                        </a:rPr>
                        <a:t>Microsoft security signals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Defender, Entra ID and Azure through Microsoft DSMs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Native Defender XDR connector with incident sync</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KPIs for the management body</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Targets are placeholders. Each metric names where the evidence comes from.</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2481005"/>
                <a:gridCol w="3947053"/>
                <a:gridCol w="1127730"/>
                <a:gridCol w="3721507"/>
              </a:tblGrid>
              <a:tr h="365760">
                <a:tc>
                  <a:txBody>
                    <a:bodyPr/>
                    <a:lstStyle/>
                    <a:p>
                      <a:pPr indent="0" marL="0">
                        <a:buNone/>
                      </a:pPr>
                      <a:r>
                        <a:rPr lang="en-US" sz="1250" b="1" dirty="0">
                          <a:solidFill>
                            <a:schemeClr val="bg1"/>
                          </a:solidFill>
                        </a:rPr>
                        <a:t>Metric</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What it shows</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Target</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Evidence source</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330835">
                <a:tc>
                  <a:txBody>
                    <a:bodyPr/>
                    <a:lstStyle/>
                    <a:p>
                      <a:pPr indent="0" marL="0">
                        <a:buNone/>
                      </a:pPr>
                      <a:r>
                        <a:rPr lang="en-US" sz="1250" b="1" dirty="0">
                          <a:solidFill>
                            <a:schemeClr val="tx1"/>
                          </a:solidFill>
                        </a:rPr>
                        <a:t>Mean time to detect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How long an attacker goes unseen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Incident records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Mean time to acknowledge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Queue health and staffing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Offense and incident timestamps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Mean time to contain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Response effectiveness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Playbook run logs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False positive rate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Detection quality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Closure classifications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ATT&amp;CK technique coverage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Breadth of detection against the threat model</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Use Case Manager, Sentinel coverage view</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Log source coverage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Share of critical assets sending logs (CIS 8.2)</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Log source inventory against the asset register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Reports filed on time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DORA and GDPR deadlines met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100%</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Regulatory submission log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Playbook automation rate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Share of incidents with an automated first response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SOAR and playbook metrics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Control framework cross-mapping</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9144000" cy="914400"/>
        </p:xfrm>
        <a:graphic>
          <a:graphicData uri="http://schemas.openxmlformats.org/drawingml/2006/table">
            <a:tbl>
              <a:tblPr/>
              <a:tblGrid>
                <a:gridCol w="1700545"/>
                <a:gridCol w="1029277"/>
                <a:gridCol w="1253033"/>
                <a:gridCol w="1611042"/>
                <a:gridCol w="1074028"/>
                <a:gridCol w="1163530"/>
                <a:gridCol w="1297784"/>
                <a:gridCol w="984526"/>
                <a:gridCol w="1163530"/>
              </a:tblGrid>
              <a:tr h="756920">
                <a:tc>
                  <a:txBody>
                    <a:bodyPr/>
                    <a:lstStyle/>
                    <a:p>
                      <a:pPr indent="0" marL="0">
                        <a:buNone/>
                      </a:pPr>
                      <a:r>
                        <a:rPr lang="en-US" sz="1000" b="1" dirty="0">
                          <a:solidFill>
                            <a:schemeClr val="bg1"/>
                          </a:solidFill>
                        </a:rPr>
                        <a:t>Function</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NIST CSF 2.0</a:t>
                      </a:r>
                      <a:endParaRPr lang="en-US" sz="1000" dirty="0"/>
                    </a:p>
                    <a:p>
                      <a:pPr indent="0" marL="0">
                        <a:buNone/>
                      </a:pPr>
                      <a:r>
                        <a:rPr lang="en-US" sz="850" b="1" dirty="0">
                          <a:solidFill>
                            <a:schemeClr val="bg1"/>
                          </a:solidFill>
                        </a:rPr>
                        <a:t>Categories</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ISO/IEC 27001:2022</a:t>
                      </a:r>
                      <a:endParaRPr lang="en-US" sz="1000" dirty="0"/>
                    </a:p>
                    <a:p>
                      <a:pPr indent="0" marL="0">
                        <a:buNone/>
                      </a:pPr>
                      <a:r>
                        <a:rPr lang="en-US" sz="850" b="1" dirty="0">
                          <a:solidFill>
                            <a:schemeClr val="bg1"/>
                          </a:solidFill>
                        </a:rPr>
                        <a:t>Annex A</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DORA · Driver</a:t>
                      </a:r>
                      <a:endParaRPr lang="en-US" sz="1000" dirty="0"/>
                    </a:p>
                    <a:p>
                      <a:pPr indent="0" marL="0">
                        <a:buNone/>
                      </a:pPr>
                      <a:r>
                        <a:rPr lang="en-US" sz="850" b="1" dirty="0">
                          <a:solidFill>
                            <a:schemeClr val="bg1"/>
                          </a:solidFill>
                        </a:rPr>
                        <a:t>Reg. (EU) 2022/2554</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GDPR</a:t>
                      </a:r>
                      <a:endParaRPr lang="en-US" sz="1000" dirty="0"/>
                    </a:p>
                    <a:p>
                      <a:pPr indent="0" marL="0">
                        <a:buNone/>
                      </a:pPr>
                      <a:r>
                        <a:rPr lang="en-US" sz="850" b="1" dirty="0">
                          <a:solidFill>
                            <a:schemeClr val="bg1"/>
                          </a:solidFill>
                        </a:rPr>
                        <a:t>Reg. (EU) 2016/679</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CIS IG3 · Baseline</a:t>
                      </a:r>
                      <a:endParaRPr lang="en-US" sz="1000" dirty="0"/>
                    </a:p>
                    <a:p>
                      <a:pPr indent="0" marL="0">
                        <a:buNone/>
                      </a:pPr>
                      <a:r>
                        <a:rPr lang="en-US" sz="850" b="1" dirty="0">
                          <a:solidFill>
                            <a:schemeClr val="bg1"/>
                          </a:solidFill>
                        </a:rPr>
                        <a:t>CIS Controls v8.1</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000" b="1" dirty="0">
                          <a:solidFill>
                            <a:schemeClr val="bg1"/>
                          </a:solidFill>
                        </a:rPr>
                        <a:t>CRA</a:t>
                      </a:r>
                      <a:endParaRPr lang="en-US" sz="1000" dirty="0"/>
                    </a:p>
                    <a:p>
                      <a:pPr indent="0" marL="0">
                        <a:buNone/>
                      </a:pPr>
                      <a:r>
                        <a:rPr lang="en-US" sz="850" b="1" dirty="0">
                          <a:solidFill>
                            <a:schemeClr val="bg1"/>
                          </a:solidFill>
                        </a:rPr>
                        <a:t>Reg. (EU) 2024/2847</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EU AI Act</a:t>
                      </a:r>
                      <a:endParaRPr lang="en-US" sz="1000" dirty="0"/>
                    </a:p>
                    <a:p>
                      <a:pPr indent="0" marL="0">
                        <a:buNone/>
                      </a:pPr>
                      <a:r>
                        <a:rPr lang="en-US" sz="850" b="1" dirty="0">
                          <a:solidFill>
                            <a:schemeClr val="bg1"/>
                          </a:solidFill>
                        </a:rPr>
                        <a:t>Reg. (EU) 2024/1689</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ISO/IEC 42001:2023</a:t>
                      </a:r>
                      <a:endParaRPr lang="en-US" sz="1000" dirty="0"/>
                    </a:p>
                    <a:p>
                      <a:pPr indent="0" marL="0">
                        <a:buNone/>
                      </a:pPr>
                      <a:r>
                        <a:rPr lang="en-US" sz="850" b="1" dirty="0">
                          <a:solidFill>
                            <a:schemeClr val="bg1"/>
                          </a:solidFill>
                        </a:rPr>
                        <a:t>AI management system</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r>
              <a:tr h="447040">
                <a:tc>
                  <a:txBody>
                    <a:bodyPr/>
                    <a:lstStyle/>
                    <a:p>
                      <a:pPr indent="0" marL="0">
                        <a:buNone/>
                      </a:pPr>
                      <a:r>
                        <a:rPr lang="en-US" sz="1000" b="1" dirty="0">
                          <a:solidFill>
                            <a:schemeClr val="tx1"/>
                          </a:solidFill>
                        </a:rPr>
                        <a:t>Log collection and retention</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DE.CM, PR.PS-04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A.8.15, A.8.17</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10, RTS 2024/1774 Art. 12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5(1)(e), Art. 32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8</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Annex I Part I: monitoring</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12, Art. 26(6)</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A.6.2.8</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Monitoring and detection</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DE.CM, DE.AE</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A.8.16</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10, RTS 2024/1774 Art. 23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32(1)(b)</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Annex I Part I: monitoring</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26(5), Art. 72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A.6.2.6</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Threat intelligence</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ID.RA-02, ID.RA-03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A.5.7</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13(1), Art. 45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No dedicated safeguard</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Triage and classification</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DE.AE-08, RS.MA</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A.5.25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17, Art. 18, Del. Reg. 2024/1772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33(1)</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17.9</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Art. 14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73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A.8.4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Response and containment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RS.MA, RS.MI</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A.5.24, A.5.26</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11, Art. 17</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32, Art. 33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17.4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Annex I Part II: remediation</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20</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A.8.4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Regulatory and client reporting</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RS.CO</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A.5.5, A.6.8</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19, Del. Reg. 2025/301</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33, Art. 34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17.2, 17.6</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Art. 14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73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A.8.3, A.8.4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Evidence and forensics</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RS.AN</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A.5.28</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17</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33(5)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8.10, 8.11</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12, Art. 19</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A.6.2.8</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292100">
                <a:tc>
                  <a:txBody>
                    <a:bodyPr/>
                    <a:lstStyle/>
                    <a:p>
                      <a:pPr indent="0" marL="0">
                        <a:buNone/>
                      </a:pPr>
                      <a:r>
                        <a:rPr lang="en-US" sz="1000" b="1" dirty="0">
                          <a:solidFill>
                            <a:schemeClr val="tx1"/>
                          </a:solidFill>
                        </a:rPr>
                        <a:t>Post-incident review</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ID.IM</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A.5.27</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32(1)(d)</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17.8</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Annex I Part II</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72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Clause 10</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Exercises and detection testing</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ID.IM-02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A.5.24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24, 25, 26 (TLPT)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32(1)(d)</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17.7, 18</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A.6.2.4, Clause 9</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Outsourced SOC and providers</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GV.SC</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A.5.19 to A.5.23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28, 29, 30</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28</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Art. 13(5)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A.10.3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Traceability">
  <a:themeElements>
    <a:clrScheme name="Traceability">
      <a:dk1>
        <a:srgbClr val="0E1C2A"/>
      </a:dk1>
      <a:lt1>
        <a:srgbClr val="FFFFFF"/>
      </a:lt1>
      <a:dk2>
        <a:srgbClr val="43525F"/>
      </a:dk2>
      <a:lt2>
        <a:srgbClr val="EEF1F4"/>
      </a:lt2>
      <a:accent1>
        <a:srgbClr val="B5450F"/>
      </a:accent1>
      <a:accent2>
        <a:srgbClr val="0D5C75"/>
      </a:accent2>
      <a:accent3>
        <a:srgbClr val="FBE9DD"/>
      </a:accent3>
      <a:accent4>
        <a:srgbClr val="DDEEF3"/>
      </a:accent4>
      <a:accent5>
        <a:srgbClr val="D9682B"/>
      </a:accent5>
      <a:accent6>
        <a:srgbClr val="8F2F06"/>
      </a:accent6>
      <a:hlink>
        <a:srgbClr val="0D5C75"/>
      </a:hlink>
      <a:folHlink>
        <a:srgbClr val="43525F"/>
      </a:folHlink>
    </a:clrScheme>
    <a:fontScheme name="Traceabilit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Security Architecture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 Operating Model</dc:title>
  <dc:subject>SOC Operating Model</dc:subject>
  <dc:creator>Security Architecture</dc:creator>
  <cp:lastModifiedBy>Security Architecture</cp:lastModifiedBy>
  <cp:revision>1</cp:revision>
  <dcterms:created xsi:type="dcterms:W3CDTF">2026-10-04T19:50:57Z</dcterms:created>
  <dcterms:modified xsi:type="dcterms:W3CDTF">2026-10-04T19:50:57Z</dcterms:modified>
</cp:coreProperties>
</file>