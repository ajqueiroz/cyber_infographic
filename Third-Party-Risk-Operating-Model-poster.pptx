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20116800" cy="50840640"/>
  <p:notesSz cx="50840640" cy="201168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STER">
    <p:bg>
      <p:bgPr>
        <a:solidFill>
          <a:srgbClr val="EEF1F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2.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00" cy="4297680"/>
          </a:xfrm>
          <a:prstGeom prst="rect">
            <a:avLst/>
          </a:prstGeom>
          <a:solidFill>
            <a:schemeClr val="tx1"/>
          </a:solidFill>
          <a:ln/>
        </p:spPr>
      </p:sp>
      <p:sp>
        <p:nvSpPr>
          <p:cNvPr id="3" name="Text 1"/>
          <p:cNvSpPr txBox="1"/>
          <p:nvPr/>
        </p:nvSpPr>
        <p:spPr>
          <a:xfrm>
            <a:off x="667512" y="502920"/>
            <a:ext cx="18781776" cy="274320"/>
          </a:xfrm>
          <a:prstGeom prst="rect">
            <a:avLst/>
          </a:prstGeom>
          <a:noFill/>
          <a:ln/>
        </p:spPr>
        <p:txBody>
          <a:bodyPr wrap="square" lIns="0" tIns="0" rIns="0" bIns="0" rtlCol="0" anchor="t"/>
          <a:lstStyle/>
          <a:p>
            <a:pPr indent="0" marL="0">
              <a:buNone/>
            </a:pPr>
            <a:r>
              <a:rPr lang="en-US" sz="1200" spc="300" kern="0" dirty="0">
                <a:solidFill>
                  <a:srgbClr val="9FB0BF"/>
                </a:solidFill>
              </a:rPr>
              <a:t>THIRD-PARTY AND VENDOR RISK · OPERATING MODEL TEMPLATE</a:t>
            </a:r>
            <a:endParaRPr lang="en-US" sz="1200" dirty="0"/>
          </a:p>
        </p:txBody>
      </p:sp>
      <p:sp>
        <p:nvSpPr>
          <p:cNvPr id="4" name="Text 2"/>
          <p:cNvSpPr txBox="1"/>
          <p:nvPr/>
        </p:nvSpPr>
        <p:spPr>
          <a:xfrm>
            <a:off x="667512" y="868680"/>
            <a:ext cx="18781776" cy="1920240"/>
          </a:xfrm>
          <a:prstGeom prst="rect">
            <a:avLst/>
          </a:prstGeom>
          <a:noFill/>
          <a:ln/>
        </p:spPr>
        <p:txBody>
          <a:bodyPr wrap="square" lIns="0" tIns="0" rIns="0" bIns="0" rtlCol="0" anchor="t"/>
          <a:lstStyle/>
          <a:p>
            <a:pPr indent="0" marL="0">
              <a:buNone/>
            </a:pPr>
            <a:r>
              <a:rPr lang="en-US" sz="5800" b="1" dirty="0">
                <a:solidFill>
                  <a:srgbClr val="FF9A5C"/>
                </a:solidFill>
                <a:latin typeface="+mj-lt" pitchFamily="34" charset="0"/>
                <a:ea typeface="+mj-lt" pitchFamily="34" charset="-122"/>
                <a:cs typeface="+mj-lt" pitchFamily="34" charset="-120"/>
              </a:rPr>
              <a:t>ASSESS</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FF9A5C"/>
                </a:solidFill>
                <a:latin typeface="+mj-lt" pitchFamily="34" charset="0"/>
                <a:ea typeface="+mj-lt" pitchFamily="34" charset="-122"/>
                <a:cs typeface="+mj-lt" pitchFamily="34" charset="-120"/>
              </a:rPr>
              <a:t>PROCURE</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6CCBDF"/>
                </a:solidFill>
                <a:latin typeface="+mj-lt" pitchFamily="34" charset="0"/>
                <a:ea typeface="+mj-lt" pitchFamily="34" charset="-122"/>
                <a:cs typeface="+mj-lt" pitchFamily="34" charset="-120"/>
              </a:rPr>
              <a:t>CONTRACT</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6CCBDF"/>
                </a:solidFill>
                <a:latin typeface="+mj-lt" pitchFamily="34" charset="0"/>
                <a:ea typeface="+mj-lt" pitchFamily="34" charset="-122"/>
                <a:cs typeface="+mj-lt" pitchFamily="34" charset="-120"/>
              </a:rPr>
              <a:t>AUDIT</a:t>
            </a:r>
            <a:endParaRPr lang="en-US" sz="5800" dirty="0"/>
          </a:p>
          <a:p>
            <a:pPr indent="0" marL="0">
              <a:buNone/>
            </a:pPr>
            <a:r>
              <a:rPr lang="en-US" sz="5800" b="1" dirty="0">
                <a:solidFill>
                  <a:schemeClr val="bg1"/>
                </a:solidFill>
                <a:latin typeface="+mj-lt" pitchFamily="34" charset="0"/>
                <a:ea typeface="+mj-lt" pitchFamily="34" charset="-122"/>
                <a:cs typeface="+mj-lt" pitchFamily="34" charset="-120"/>
              </a:rPr>
              <a:t>THIRD-PARTY RISK OPERATING MODEL</a:t>
            </a:r>
            <a:endParaRPr lang="en-US" sz="5800" dirty="0"/>
          </a:p>
        </p:txBody>
      </p:sp>
      <p:sp>
        <p:nvSpPr>
          <p:cNvPr id="5" name="Text 3"/>
          <p:cNvSpPr txBox="1"/>
          <p:nvPr/>
        </p:nvSpPr>
        <p:spPr>
          <a:xfrm>
            <a:off x="667512" y="2926080"/>
            <a:ext cx="8046720" cy="1005840"/>
          </a:xfrm>
          <a:prstGeom prst="rect">
            <a:avLst/>
          </a:prstGeom>
          <a:noFill/>
          <a:ln/>
        </p:spPr>
        <p:txBody>
          <a:bodyPr wrap="square" lIns="0" tIns="0" rIns="0" bIns="0" rtlCol="0" anchor="b"/>
          <a:lstStyle/>
          <a:p>
            <a:pPr indent="0" marL="0">
              <a:lnSpc>
                <a:spcPct val="115000"/>
              </a:lnSpc>
              <a:buNone/>
            </a:pPr>
            <a:r>
              <a:rPr lang="en-US" sz="1350" dirty="0">
                <a:solidFill>
                  <a:srgbClr val="C9D5DF"/>
                </a:solidFill>
              </a:rPr>
              <a:t>One line of sight from the business need to the provider chosen, the contract signed, the assurance gathered and the exit kept ready. Built to demonstrate DORA compliance for ICT third-party risk, with CIS Controls Implementation Group 3 as the control baseline.</a:t>
            </a:r>
            <a:endParaRPr lang="en-US" sz="1350" dirty="0"/>
          </a:p>
        </p:txBody>
      </p:sp>
      <p:sp>
        <p:nvSpPr>
          <p:cNvPr id="6" name="Shape 4"/>
          <p:cNvSpPr/>
          <p:nvPr/>
        </p:nvSpPr>
        <p:spPr>
          <a:xfrm>
            <a:off x="9756648" y="2834640"/>
            <a:ext cx="3108960" cy="1097280"/>
          </a:xfrm>
          <a:prstGeom prst="rect">
            <a:avLst/>
          </a:prstGeom>
          <a:ln w="12700">
            <a:solidFill>
              <a:srgbClr val="3A4F62"/>
            </a:solidFill>
            <a:prstDash val="solid"/>
          </a:ln>
        </p:spPr>
      </p:sp>
      <p:sp>
        <p:nvSpPr>
          <p:cNvPr id="7" name="Text 5"/>
          <p:cNvSpPr txBox="1"/>
          <p:nvPr/>
        </p:nvSpPr>
        <p:spPr>
          <a:xfrm>
            <a:off x="9902952" y="2880360"/>
            <a:ext cx="2816352" cy="100584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REGULATORY DRIVER</a:t>
            </a:r>
            <a:endParaRPr lang="en-US" sz="900" dirty="0"/>
          </a:p>
          <a:p>
            <a:pPr indent="0" marL="0">
              <a:spcAft>
                <a:spcPts val="300"/>
              </a:spcAft>
              <a:buNone/>
            </a:pPr>
            <a:r>
              <a:rPr lang="en-US" sz="1600" b="1" dirty="0">
                <a:solidFill>
                  <a:schemeClr val="bg1"/>
                </a:solidFill>
                <a:latin typeface="+mj-lt" pitchFamily="34" charset="0"/>
                <a:ea typeface="+mj-lt" pitchFamily="34" charset="-122"/>
                <a:cs typeface="+mj-lt" pitchFamily="34" charset="-120"/>
              </a:rPr>
              <a:t>DORA</a:t>
            </a:r>
            <a:endParaRPr lang="en-US" sz="900" dirty="0"/>
          </a:p>
          <a:p>
            <a:pPr indent="0" marL="0">
              <a:spcAft>
                <a:spcPts val="300"/>
              </a:spcAft>
              <a:buNone/>
            </a:pPr>
            <a:r>
              <a:rPr lang="en-US" sz="1050" dirty="0">
                <a:solidFill>
                  <a:srgbClr val="C9D5DF"/>
                </a:solidFill>
              </a:rPr>
              <a:t>Chapter V, Art. 28 to 30</a:t>
            </a:r>
            <a:endParaRPr lang="en-US" sz="900" dirty="0"/>
          </a:p>
        </p:txBody>
      </p:sp>
      <p:sp>
        <p:nvSpPr>
          <p:cNvPr id="8" name="Shape 6"/>
          <p:cNvSpPr/>
          <p:nvPr/>
        </p:nvSpPr>
        <p:spPr>
          <a:xfrm>
            <a:off x="13048488" y="2834640"/>
            <a:ext cx="3108960" cy="1097280"/>
          </a:xfrm>
          <a:prstGeom prst="rect">
            <a:avLst/>
          </a:prstGeom>
          <a:ln w="12700">
            <a:solidFill>
              <a:srgbClr val="3A4F62"/>
            </a:solidFill>
            <a:prstDash val="solid"/>
          </a:ln>
        </p:spPr>
      </p:sp>
      <p:sp>
        <p:nvSpPr>
          <p:cNvPr id="9" name="Text 7"/>
          <p:cNvSpPr txBox="1"/>
          <p:nvPr/>
        </p:nvSpPr>
        <p:spPr>
          <a:xfrm>
            <a:off x="13194792" y="2880360"/>
            <a:ext cx="2816352" cy="100584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CONTROL BASELINE</a:t>
            </a:r>
            <a:endParaRPr lang="en-US" sz="900" dirty="0"/>
          </a:p>
          <a:p>
            <a:pPr indent="0" marL="0">
              <a:spcAft>
                <a:spcPts val="300"/>
              </a:spcAft>
              <a:buNone/>
            </a:pPr>
            <a:r>
              <a:rPr lang="en-US" sz="1600" b="1" dirty="0">
                <a:solidFill>
                  <a:schemeClr val="bg1"/>
                </a:solidFill>
                <a:latin typeface="+mj-lt" pitchFamily="34" charset="0"/>
                <a:ea typeface="+mj-lt" pitchFamily="34" charset="-122"/>
                <a:cs typeface="+mj-lt" pitchFamily="34" charset="-120"/>
              </a:rPr>
              <a:t>CIS Controls v8.1 · IG3</a:t>
            </a:r>
            <a:endParaRPr lang="en-US" sz="900" dirty="0"/>
          </a:p>
          <a:p>
            <a:pPr indent="0" marL="0">
              <a:spcAft>
                <a:spcPts val="300"/>
              </a:spcAft>
              <a:buNone/>
            </a:pPr>
            <a:r>
              <a:rPr lang="en-US" sz="1050" dirty="0">
                <a:solidFill>
                  <a:srgbClr val="C9D5DF"/>
                </a:solidFill>
              </a:rPr>
              <a:t>Control 15, service provider management</a:t>
            </a:r>
            <a:endParaRPr lang="en-US" sz="900" dirty="0"/>
          </a:p>
        </p:txBody>
      </p:sp>
      <p:sp>
        <p:nvSpPr>
          <p:cNvPr id="10" name="Shape 8"/>
          <p:cNvSpPr/>
          <p:nvPr/>
        </p:nvSpPr>
        <p:spPr>
          <a:xfrm>
            <a:off x="16340328" y="2834640"/>
            <a:ext cx="3108960" cy="1097280"/>
          </a:xfrm>
          <a:prstGeom prst="rect">
            <a:avLst/>
          </a:prstGeom>
          <a:ln w="12700">
            <a:solidFill>
              <a:srgbClr val="3A4F62"/>
            </a:solidFill>
            <a:prstDash val="solid"/>
          </a:ln>
        </p:spPr>
      </p:sp>
      <p:sp>
        <p:nvSpPr>
          <p:cNvPr id="11" name="Text 9"/>
          <p:cNvSpPr txBox="1"/>
          <p:nvPr/>
        </p:nvSpPr>
        <p:spPr>
          <a:xfrm>
            <a:off x="16486632" y="2880360"/>
            <a:ext cx="2816352" cy="100584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SCOPE</a:t>
            </a:r>
            <a:endParaRPr lang="en-US" sz="900" dirty="0"/>
          </a:p>
          <a:p>
            <a:pPr indent="0" marL="0">
              <a:spcAft>
                <a:spcPts val="300"/>
              </a:spcAft>
              <a:buNone/>
            </a:pPr>
            <a:r>
              <a:rPr lang="en-US" sz="1600" b="1" dirty="0">
                <a:solidFill>
                  <a:schemeClr val="bg1"/>
                </a:solidFill>
                <a:latin typeface="+mj-lt" pitchFamily="34" charset="0"/>
                <a:ea typeface="+mj-lt" pitchFamily="34" charset="-122"/>
                <a:cs typeface="+mj-lt" pitchFamily="34" charset="-120"/>
              </a:rPr>
              <a:t>Providers and partners</a:t>
            </a:r>
            <a:endParaRPr lang="en-US" sz="900" dirty="0"/>
          </a:p>
          <a:p>
            <a:pPr indent="0" marL="0">
              <a:spcAft>
                <a:spcPts val="300"/>
              </a:spcAft>
              <a:buNone/>
            </a:pPr>
            <a:r>
              <a:rPr lang="en-US" sz="1050" dirty="0">
                <a:solidFill>
                  <a:srgbClr val="C9D5DF"/>
                </a:solidFill>
              </a:rPr>
              <a:t>ICT third parties and their subcontractors</a:t>
            </a:r>
            <a:endParaRPr lang="en-US" sz="900" dirty="0"/>
          </a:p>
        </p:txBody>
      </p:sp>
      <p:sp>
        <p:nvSpPr>
          <p:cNvPr id="12" name="Text 10"/>
          <p:cNvSpPr txBox="1"/>
          <p:nvPr/>
        </p:nvSpPr>
        <p:spPr>
          <a:xfrm>
            <a:off x="667512" y="484632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THE CHAIN</a:t>
            </a:r>
            <a:endParaRPr lang="en-US" sz="1000" dirty="0"/>
          </a:p>
        </p:txBody>
      </p:sp>
      <p:sp>
        <p:nvSpPr>
          <p:cNvPr id="13" name="Text 11"/>
          <p:cNvSpPr txBox="1"/>
          <p:nvPr/>
        </p:nvSpPr>
        <p:spPr>
          <a:xfrm>
            <a:off x="667512" y="5084064"/>
            <a:ext cx="100584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Nine linked steps, from need to exit</a:t>
            </a:r>
            <a:endParaRPr lang="en-US" sz="2800" dirty="0"/>
          </a:p>
        </p:txBody>
      </p:sp>
      <p:sp>
        <p:nvSpPr>
          <p:cNvPr id="14" name="Text 12"/>
          <p:cNvSpPr txBox="1"/>
          <p:nvPr/>
        </p:nvSpPr>
        <p:spPr>
          <a:xfrm>
            <a:off x="10853928" y="5120640"/>
            <a:ext cx="8595360" cy="365760"/>
          </a:xfrm>
          <a:prstGeom prst="rect">
            <a:avLst/>
          </a:prstGeom>
          <a:noFill/>
          <a:ln/>
        </p:spPr>
        <p:txBody>
          <a:bodyPr wrap="square" lIns="0" tIns="0" rIns="0" bIns="0" rtlCol="0" anchor="b"/>
          <a:lstStyle/>
          <a:p>
            <a:pPr algn="r" indent="0" marL="0">
              <a:buNone/>
            </a:pPr>
            <a:r>
              <a:rPr lang="en-US" sz="1200" dirty="0">
                <a:solidFill>
                  <a:schemeClr val="accent1"/>
                </a:solidFill>
              </a:rPr>
              <a:t>■ </a:t>
            </a:r>
            <a:pPr algn="r" indent="0" marL="0">
              <a:buNone/>
            </a:pPr>
            <a:r>
              <a:rPr lang="en-US" sz="1200" dirty="0">
                <a:solidFill>
                  <a:schemeClr val="tx2"/>
                </a:solidFill>
              </a:rPr>
              <a:t>Select and commit        </a:t>
            </a:r>
            <a:pPr algn="r" indent="0" marL="0">
              <a:buNone/>
            </a:pPr>
            <a:r>
              <a:rPr lang="en-US" sz="1200" dirty="0">
                <a:solidFill>
                  <a:schemeClr val="accent2"/>
                </a:solidFill>
              </a:rPr>
              <a:t>■ </a:t>
            </a:r>
            <a:pPr algn="r" indent="0" marL="0">
              <a:buNone/>
            </a:pPr>
            <a:r>
              <a:rPr lang="en-US" sz="1200" dirty="0">
                <a:solidFill>
                  <a:schemeClr val="tx2"/>
                </a:solidFill>
              </a:rPr>
              <a:t>Run, assure and exit</a:t>
            </a:r>
            <a:endParaRPr lang="en-US" sz="1200" dirty="0"/>
          </a:p>
        </p:txBody>
      </p:sp>
      <p:sp>
        <p:nvSpPr>
          <p:cNvPr id="15" name="Stage 1"/>
          <p:cNvSpPr/>
          <p:nvPr/>
        </p:nvSpPr>
        <p:spPr>
          <a:xfrm>
            <a:off x="667512" y="5806440"/>
            <a:ext cx="2338832" cy="676656"/>
          </a:xfrm>
          <a:prstGeom prst="homePlate">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01  </a:t>
            </a:r>
            <a:pPr algn="ctr" indent="0" marL="0">
              <a:buNone/>
            </a:pPr>
            <a:r>
              <a:rPr lang="en-US" sz="1300" b="1" dirty="0">
                <a:solidFill>
                  <a:schemeClr val="bg1"/>
                </a:solidFill>
                <a:latin typeface="+mj-lt" pitchFamily="34" charset="0"/>
                <a:ea typeface="+mj-lt" pitchFamily="34" charset="-122"/>
                <a:cs typeface="+mj-lt" pitchFamily="34" charset="-120"/>
              </a:rPr>
              <a:t>NEED</a:t>
            </a:r>
            <a:endParaRPr lang="en-US" sz="1400" dirty="0"/>
          </a:p>
        </p:txBody>
      </p:sp>
      <p:sp>
        <p:nvSpPr>
          <p:cNvPr id="16" name="Stage 2"/>
          <p:cNvSpPr/>
          <p:nvPr/>
        </p:nvSpPr>
        <p:spPr>
          <a:xfrm>
            <a:off x="2722880"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02  </a:t>
            </a:r>
            <a:pPr algn="ctr" indent="0" marL="0">
              <a:buNone/>
            </a:pPr>
            <a:r>
              <a:rPr lang="en-US" sz="1100" b="1" dirty="0">
                <a:solidFill>
                  <a:schemeClr val="bg1"/>
                </a:solidFill>
                <a:latin typeface="+mj-lt" pitchFamily="34" charset="0"/>
                <a:ea typeface="+mj-lt" pitchFamily="34" charset="-122"/>
                <a:cs typeface="+mj-lt" pitchFamily="34" charset="-120"/>
              </a:rPr>
              <a:t>RISK ASSESSMENT</a:t>
            </a:r>
            <a:endParaRPr lang="en-US" sz="1400" dirty="0"/>
          </a:p>
        </p:txBody>
      </p:sp>
      <p:sp>
        <p:nvSpPr>
          <p:cNvPr id="17" name="Stage 3"/>
          <p:cNvSpPr/>
          <p:nvPr/>
        </p:nvSpPr>
        <p:spPr>
          <a:xfrm>
            <a:off x="4778248"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03  </a:t>
            </a:r>
            <a:pPr algn="ctr" indent="0" marL="0">
              <a:buNone/>
            </a:pPr>
            <a:r>
              <a:rPr lang="en-US" sz="1300" b="1" dirty="0">
                <a:solidFill>
                  <a:schemeClr val="bg1"/>
                </a:solidFill>
                <a:latin typeface="+mj-lt" pitchFamily="34" charset="0"/>
                <a:ea typeface="+mj-lt" pitchFamily="34" charset="-122"/>
                <a:cs typeface="+mj-lt" pitchFamily="34" charset="-120"/>
              </a:rPr>
              <a:t>DUE DILIGENCE</a:t>
            </a:r>
            <a:endParaRPr lang="en-US" sz="1400" dirty="0"/>
          </a:p>
        </p:txBody>
      </p:sp>
      <p:sp>
        <p:nvSpPr>
          <p:cNvPr id="18" name="Stage 4"/>
          <p:cNvSpPr/>
          <p:nvPr/>
        </p:nvSpPr>
        <p:spPr>
          <a:xfrm>
            <a:off x="6833616"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04  </a:t>
            </a:r>
            <a:pPr algn="ctr" indent="0" marL="0">
              <a:buNone/>
            </a:pPr>
            <a:r>
              <a:rPr lang="en-US" sz="1300" b="1" dirty="0">
                <a:solidFill>
                  <a:schemeClr val="bg1"/>
                </a:solidFill>
                <a:latin typeface="+mj-lt" pitchFamily="34" charset="0"/>
                <a:ea typeface="+mj-lt" pitchFamily="34" charset="-122"/>
                <a:cs typeface="+mj-lt" pitchFamily="34" charset="-120"/>
              </a:rPr>
              <a:t>PROCUREMENT</a:t>
            </a:r>
            <a:endParaRPr lang="en-US" sz="1400" dirty="0"/>
          </a:p>
        </p:txBody>
      </p:sp>
      <p:sp>
        <p:nvSpPr>
          <p:cNvPr id="19" name="Stage 5"/>
          <p:cNvSpPr/>
          <p:nvPr/>
        </p:nvSpPr>
        <p:spPr>
          <a:xfrm>
            <a:off x="8888984"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05  </a:t>
            </a:r>
            <a:pPr algn="ctr" indent="0" marL="0">
              <a:buNone/>
            </a:pPr>
            <a:r>
              <a:rPr lang="en-US" sz="1300" b="1" dirty="0">
                <a:solidFill>
                  <a:schemeClr val="bg1"/>
                </a:solidFill>
                <a:latin typeface="+mj-lt" pitchFamily="34" charset="0"/>
                <a:ea typeface="+mj-lt" pitchFamily="34" charset="-122"/>
                <a:cs typeface="+mj-lt" pitchFamily="34" charset="-120"/>
              </a:rPr>
              <a:t>CONTRACT</a:t>
            </a:r>
            <a:endParaRPr lang="en-US" sz="1400" dirty="0"/>
          </a:p>
        </p:txBody>
      </p:sp>
      <p:sp>
        <p:nvSpPr>
          <p:cNvPr id="20" name="Stage 6"/>
          <p:cNvSpPr/>
          <p:nvPr/>
        </p:nvSpPr>
        <p:spPr>
          <a:xfrm>
            <a:off x="10944352"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06  </a:t>
            </a:r>
            <a:pPr algn="ctr" indent="0" marL="0">
              <a:buNone/>
            </a:pPr>
            <a:r>
              <a:rPr lang="en-US" sz="1300" b="1" dirty="0">
                <a:solidFill>
                  <a:schemeClr val="bg1"/>
                </a:solidFill>
                <a:latin typeface="+mj-lt" pitchFamily="34" charset="0"/>
                <a:ea typeface="+mj-lt" pitchFamily="34" charset="-122"/>
                <a:cs typeface="+mj-lt" pitchFamily="34" charset="-120"/>
              </a:rPr>
              <a:t>ONBOARDING</a:t>
            </a:r>
            <a:endParaRPr lang="en-US" sz="1400" dirty="0"/>
          </a:p>
        </p:txBody>
      </p:sp>
      <p:sp>
        <p:nvSpPr>
          <p:cNvPr id="21" name="Stage 7"/>
          <p:cNvSpPr/>
          <p:nvPr/>
        </p:nvSpPr>
        <p:spPr>
          <a:xfrm>
            <a:off x="12999720"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07  </a:t>
            </a:r>
            <a:pPr algn="ctr" indent="0" marL="0">
              <a:buNone/>
            </a:pPr>
            <a:r>
              <a:rPr lang="en-US" sz="1300" b="1" dirty="0">
                <a:solidFill>
                  <a:schemeClr val="bg1"/>
                </a:solidFill>
                <a:latin typeface="+mj-lt" pitchFamily="34" charset="0"/>
                <a:ea typeface="+mj-lt" pitchFamily="34" charset="-122"/>
                <a:cs typeface="+mj-lt" pitchFamily="34" charset="-120"/>
              </a:rPr>
              <a:t>MONITORING</a:t>
            </a:r>
            <a:endParaRPr lang="en-US" sz="1400" dirty="0"/>
          </a:p>
        </p:txBody>
      </p:sp>
      <p:sp>
        <p:nvSpPr>
          <p:cNvPr id="22" name="Stage 8"/>
          <p:cNvSpPr/>
          <p:nvPr/>
        </p:nvSpPr>
        <p:spPr>
          <a:xfrm>
            <a:off x="15055088"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08  </a:t>
            </a:r>
            <a:pPr algn="ctr" indent="0" marL="0">
              <a:buNone/>
            </a:pPr>
            <a:r>
              <a:rPr lang="en-US" sz="1300" b="1" dirty="0">
                <a:solidFill>
                  <a:schemeClr val="bg1"/>
                </a:solidFill>
                <a:latin typeface="+mj-lt" pitchFamily="34" charset="0"/>
                <a:ea typeface="+mj-lt" pitchFamily="34" charset="-122"/>
                <a:cs typeface="+mj-lt" pitchFamily="34" charset="-120"/>
              </a:rPr>
              <a:t>AUDIT</a:t>
            </a:r>
            <a:endParaRPr lang="en-US" sz="1400" dirty="0"/>
          </a:p>
        </p:txBody>
      </p:sp>
      <p:sp>
        <p:nvSpPr>
          <p:cNvPr id="23" name="Stage 9"/>
          <p:cNvSpPr/>
          <p:nvPr/>
        </p:nvSpPr>
        <p:spPr>
          <a:xfrm>
            <a:off x="17110456"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09  </a:t>
            </a:r>
            <a:pPr algn="ctr" indent="0" marL="0">
              <a:buNone/>
            </a:pPr>
            <a:r>
              <a:rPr lang="en-US" sz="1300" b="1" dirty="0">
                <a:solidFill>
                  <a:schemeClr val="bg1"/>
                </a:solidFill>
                <a:latin typeface="+mj-lt" pitchFamily="34" charset="0"/>
                <a:ea typeface="+mj-lt" pitchFamily="34" charset="-122"/>
                <a:cs typeface="+mj-lt" pitchFamily="34" charset="-120"/>
              </a:rPr>
              <a:t>EXIT</a:t>
            </a:r>
            <a:endParaRPr lang="en-US" sz="1400" dirty="0"/>
          </a:p>
        </p:txBody>
      </p:sp>
      <p:pic>
        <p:nvPicPr>
          <p:cNvPr id="24" name="Image 0" descr="preencoded.png">    </p:cNvPr>
          <p:cNvPicPr>
            <a:picLocks noChangeAspect="1"/>
          </p:cNvPicPr>
          <p:nvPr/>
        </p:nvPicPr>
        <p:blipFill>
          <a:blip r:embed="rId1"/>
          <a:stretch>
            <a:fillRect/>
          </a:stretch>
        </p:blipFill>
        <p:spPr>
          <a:xfrm>
            <a:off x="704088" y="6665976"/>
            <a:ext cx="384048" cy="384048"/>
          </a:xfrm>
          <a:prstGeom prst="rect">
            <a:avLst/>
          </a:prstGeom>
        </p:spPr>
      </p:pic>
      <p:sp>
        <p:nvSpPr>
          <p:cNvPr id="25" name="Text 22"/>
          <p:cNvSpPr txBox="1"/>
          <p:nvPr/>
        </p:nvSpPr>
        <p:spPr>
          <a:xfrm>
            <a:off x="704088"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The business need, and whether it supports a critical or important function.</a:t>
            </a:r>
            <a:endParaRPr lang="en-US" sz="1200" dirty="0"/>
          </a:p>
        </p:txBody>
      </p:sp>
      <p:pic>
        <p:nvPicPr>
          <p:cNvPr id="26" name="Image 1" descr="preencoded.png">    </p:cNvPr>
          <p:cNvPicPr>
            <a:picLocks noChangeAspect="1"/>
          </p:cNvPicPr>
          <p:nvPr/>
        </p:nvPicPr>
        <p:blipFill>
          <a:blip r:embed="rId2"/>
          <a:stretch>
            <a:fillRect/>
          </a:stretch>
        </p:blipFill>
        <p:spPr>
          <a:xfrm>
            <a:off x="2759456" y="6665976"/>
            <a:ext cx="384048" cy="384048"/>
          </a:xfrm>
          <a:prstGeom prst="rect">
            <a:avLst/>
          </a:prstGeom>
        </p:spPr>
      </p:pic>
      <p:sp>
        <p:nvSpPr>
          <p:cNvPr id="27" name="Text 23"/>
          <p:cNvSpPr txBox="1"/>
          <p:nvPr/>
        </p:nvSpPr>
        <p:spPr>
          <a:xfrm>
            <a:off x="2759456"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Inherent risk of the service, including concentration on one provider.</a:t>
            </a:r>
            <a:endParaRPr lang="en-US" sz="1200" dirty="0"/>
          </a:p>
        </p:txBody>
      </p:sp>
      <p:pic>
        <p:nvPicPr>
          <p:cNvPr id="28" name="Image 2" descr="preencoded.png">    </p:cNvPr>
          <p:cNvPicPr>
            <a:picLocks noChangeAspect="1"/>
          </p:cNvPicPr>
          <p:nvPr/>
        </p:nvPicPr>
        <p:blipFill>
          <a:blip r:embed="rId3"/>
          <a:stretch>
            <a:fillRect/>
          </a:stretch>
        </p:blipFill>
        <p:spPr>
          <a:xfrm>
            <a:off x="4814824" y="6665976"/>
            <a:ext cx="384048" cy="384048"/>
          </a:xfrm>
          <a:prstGeom prst="rect">
            <a:avLst/>
          </a:prstGeom>
        </p:spPr>
      </p:pic>
      <p:sp>
        <p:nvSpPr>
          <p:cNvPr id="29" name="Text 24"/>
          <p:cNvSpPr txBox="1"/>
          <p:nvPr/>
        </p:nvSpPr>
        <p:spPr>
          <a:xfrm>
            <a:off x="4814824"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Proof the provider can meet security, resilience and legal standards.</a:t>
            </a:r>
            <a:endParaRPr lang="en-US" sz="1200" dirty="0"/>
          </a:p>
        </p:txBody>
      </p:sp>
      <p:pic>
        <p:nvPicPr>
          <p:cNvPr id="30" name="Image 3" descr="preencoded.png">    </p:cNvPr>
          <p:cNvPicPr>
            <a:picLocks noChangeAspect="1"/>
          </p:cNvPicPr>
          <p:nvPr/>
        </p:nvPicPr>
        <p:blipFill>
          <a:blip r:embed="rId4"/>
          <a:stretch>
            <a:fillRect/>
          </a:stretch>
        </p:blipFill>
        <p:spPr>
          <a:xfrm>
            <a:off x="6870192" y="6665976"/>
            <a:ext cx="384048" cy="384048"/>
          </a:xfrm>
          <a:prstGeom prst="rect">
            <a:avLst/>
          </a:prstGeom>
        </p:spPr>
      </p:pic>
      <p:sp>
        <p:nvSpPr>
          <p:cNvPr id="31" name="Text 25"/>
          <p:cNvSpPr txBox="1"/>
          <p:nvPr/>
        </p:nvSpPr>
        <p:spPr>
          <a:xfrm>
            <a:off x="6870192"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Selection on weighted criteria, with conflicts of interest declared.</a:t>
            </a:r>
            <a:endParaRPr lang="en-US" sz="1200" dirty="0"/>
          </a:p>
        </p:txBody>
      </p:sp>
      <p:pic>
        <p:nvPicPr>
          <p:cNvPr id="32" name="Image 4" descr="preencoded.png">    </p:cNvPr>
          <p:cNvPicPr>
            <a:picLocks noChangeAspect="1"/>
          </p:cNvPicPr>
          <p:nvPr/>
        </p:nvPicPr>
        <p:blipFill>
          <a:blip r:embed="rId5"/>
          <a:stretch>
            <a:fillRect/>
          </a:stretch>
        </p:blipFill>
        <p:spPr>
          <a:xfrm>
            <a:off x="8925560" y="6665976"/>
            <a:ext cx="384048" cy="384048"/>
          </a:xfrm>
          <a:prstGeom prst="rect">
            <a:avLst/>
          </a:prstGeom>
        </p:spPr>
      </p:pic>
      <p:sp>
        <p:nvSpPr>
          <p:cNvPr id="33" name="Text 26"/>
          <p:cNvSpPr txBox="1"/>
          <p:nvPr/>
        </p:nvSpPr>
        <p:spPr>
          <a:xfrm>
            <a:off x="8925560"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Mandatory clauses agreed: service levels, audit rights, incidents, exit.</a:t>
            </a:r>
            <a:endParaRPr lang="en-US" sz="1200" dirty="0"/>
          </a:p>
        </p:txBody>
      </p:sp>
      <p:pic>
        <p:nvPicPr>
          <p:cNvPr id="34" name="Image 5" descr="preencoded.png">    </p:cNvPr>
          <p:cNvPicPr>
            <a:picLocks noChangeAspect="1"/>
          </p:cNvPicPr>
          <p:nvPr/>
        </p:nvPicPr>
        <p:blipFill>
          <a:blip r:embed="rId6"/>
          <a:stretch>
            <a:fillRect/>
          </a:stretch>
        </p:blipFill>
        <p:spPr>
          <a:xfrm>
            <a:off x="10980928" y="6665976"/>
            <a:ext cx="384048" cy="384048"/>
          </a:xfrm>
          <a:prstGeom prst="rect">
            <a:avLst/>
          </a:prstGeom>
        </p:spPr>
      </p:pic>
      <p:sp>
        <p:nvSpPr>
          <p:cNvPr id="35" name="Text 27"/>
          <p:cNvSpPr txBox="1"/>
          <p:nvPr/>
        </p:nvSpPr>
        <p:spPr>
          <a:xfrm>
            <a:off x="10980928"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Register updated, access controlled and monitoring switched on.</a:t>
            </a:r>
            <a:endParaRPr lang="en-US" sz="1200" dirty="0"/>
          </a:p>
        </p:txBody>
      </p:sp>
      <p:pic>
        <p:nvPicPr>
          <p:cNvPr id="36" name="Image 6" descr="preencoded.png">    </p:cNvPr>
          <p:cNvPicPr>
            <a:picLocks noChangeAspect="1"/>
          </p:cNvPicPr>
          <p:nvPr/>
        </p:nvPicPr>
        <p:blipFill>
          <a:blip r:embed="rId7"/>
          <a:stretch>
            <a:fillRect/>
          </a:stretch>
        </p:blipFill>
        <p:spPr>
          <a:xfrm>
            <a:off x="13036296" y="6665976"/>
            <a:ext cx="384048" cy="384048"/>
          </a:xfrm>
          <a:prstGeom prst="rect">
            <a:avLst/>
          </a:prstGeom>
        </p:spPr>
      </p:pic>
      <p:sp>
        <p:nvSpPr>
          <p:cNvPr id="37" name="Text 28"/>
          <p:cNvSpPr txBox="1"/>
          <p:nvPr/>
        </p:nvSpPr>
        <p:spPr>
          <a:xfrm>
            <a:off x="13036296"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Service levels, incidents and security posture tracked through the term.</a:t>
            </a:r>
            <a:endParaRPr lang="en-US" sz="1200" dirty="0"/>
          </a:p>
        </p:txBody>
      </p:sp>
      <p:pic>
        <p:nvPicPr>
          <p:cNvPr id="38" name="Image 7" descr="preencoded.png">    </p:cNvPr>
          <p:cNvPicPr>
            <a:picLocks noChangeAspect="1"/>
          </p:cNvPicPr>
          <p:nvPr/>
        </p:nvPicPr>
        <p:blipFill>
          <a:blip r:embed="rId8"/>
          <a:stretch>
            <a:fillRect/>
          </a:stretch>
        </p:blipFill>
        <p:spPr>
          <a:xfrm>
            <a:off x="15091664" y="6665976"/>
            <a:ext cx="384048" cy="384048"/>
          </a:xfrm>
          <a:prstGeom prst="rect">
            <a:avLst/>
          </a:prstGeom>
        </p:spPr>
      </p:pic>
      <p:sp>
        <p:nvSpPr>
          <p:cNvPr id="39" name="Text 29"/>
          <p:cNvSpPr txBox="1"/>
          <p:nvPr/>
        </p:nvSpPr>
        <p:spPr>
          <a:xfrm>
            <a:off x="15091664"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Independent assurance: inspections, pooled audits, certifications, testing.</a:t>
            </a:r>
            <a:endParaRPr lang="en-US" sz="1200" dirty="0"/>
          </a:p>
        </p:txBody>
      </p:sp>
      <p:pic>
        <p:nvPicPr>
          <p:cNvPr id="40" name="Image 8" descr="preencoded.png">    </p:cNvPr>
          <p:cNvPicPr>
            <a:picLocks noChangeAspect="1"/>
          </p:cNvPicPr>
          <p:nvPr/>
        </p:nvPicPr>
        <p:blipFill>
          <a:blip r:embed="rId9"/>
          <a:stretch>
            <a:fillRect/>
          </a:stretch>
        </p:blipFill>
        <p:spPr>
          <a:xfrm>
            <a:off x="17147032" y="6665976"/>
            <a:ext cx="384048" cy="384048"/>
          </a:xfrm>
          <a:prstGeom prst="rect">
            <a:avLst/>
          </a:prstGeom>
        </p:spPr>
      </p:pic>
      <p:sp>
        <p:nvSpPr>
          <p:cNvPr id="41" name="Text 30"/>
          <p:cNvSpPr txBox="1"/>
          <p:nvPr/>
        </p:nvSpPr>
        <p:spPr>
          <a:xfrm>
            <a:off x="17147032"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A tested plan to leave: data returned, service moved, access removed.</a:t>
            </a:r>
            <a:endParaRPr lang="en-US" sz="1200" dirty="0"/>
          </a:p>
        </p:txBody>
      </p:sp>
      <p:sp>
        <p:nvSpPr>
          <p:cNvPr id="42" name="Text 31"/>
          <p:cNvSpPr txBox="1"/>
          <p:nvPr/>
        </p:nvSpPr>
        <p:spPr>
          <a:xfrm>
            <a:off x="667512" y="8311896"/>
            <a:ext cx="1600200" cy="329184"/>
          </a:xfrm>
          <a:prstGeom prst="rect">
            <a:avLst/>
          </a:prstGeom>
          <a:noFill/>
          <a:ln w="12700">
            <a:solidFill>
              <a:schemeClr val="tx1"/>
            </a:solidFill>
          </a:ln>
        </p:spPr>
        <p:txBody>
          <a:bodyPr wrap="square" lIns="0" tIns="0" rIns="0" bIns="0" rtlCol="0" anchor="ctr"/>
          <a:lstStyle/>
          <a:p>
            <a:pPr algn="ctr" indent="0" marL="0">
              <a:buNone/>
            </a:pPr>
            <a:r>
              <a:rPr lang="en-US" sz="1000" spc="250" kern="0" dirty="0">
                <a:solidFill>
                  <a:schemeClr val="tx1"/>
                </a:solidFill>
              </a:rPr>
              <a:t>WORKED EXAMPLE</a:t>
            </a:r>
            <a:endParaRPr lang="en-US" sz="1000" dirty="0"/>
          </a:p>
        </p:txBody>
      </p:sp>
      <p:sp>
        <p:nvSpPr>
          <p:cNvPr id="43" name="Text 32"/>
          <p:cNvSpPr txBox="1"/>
          <p:nvPr/>
        </p:nvSpPr>
        <p:spPr>
          <a:xfrm>
            <a:off x="2450592" y="8275320"/>
            <a:ext cx="9144000" cy="402336"/>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A SaaS fraud screening provider for the customer portal</a:t>
            </a:r>
            <a:endParaRPr lang="en-US" sz="2200" dirty="0"/>
          </a:p>
        </p:txBody>
      </p:sp>
      <p:sp>
        <p:nvSpPr>
          <p:cNvPr id="44" name="Text 33"/>
          <p:cNvSpPr txBox="1"/>
          <p:nvPr/>
        </p:nvSpPr>
        <p:spPr>
          <a:xfrm>
            <a:off x="12134088" y="8311896"/>
            <a:ext cx="7315200" cy="329184"/>
          </a:xfrm>
          <a:prstGeom prst="rect">
            <a:avLst/>
          </a:prstGeom>
          <a:noFill/>
          <a:ln/>
        </p:spPr>
        <p:txBody>
          <a:bodyPr wrap="square" lIns="0" tIns="0" rIns="0" bIns="0" rtlCol="0" anchor="ctr"/>
          <a:lstStyle/>
          <a:p>
            <a:pPr algn="r" indent="0" marL="0">
              <a:buNone/>
            </a:pPr>
            <a:r>
              <a:rPr lang="en-US" sz="1200" dirty="0">
                <a:solidFill>
                  <a:schemeClr val="tx2"/>
                </a:solidFill>
              </a:rPr>
              <a:t>Traces to SCM-003 and SOC-UC-003 · Bracketed values are placeholders</a:t>
            </a:r>
            <a:endParaRPr lang="en-US" sz="1200" dirty="0"/>
          </a:p>
        </p:txBody>
      </p:sp>
      <p:sp>
        <p:nvSpPr>
          <p:cNvPr id="45" name="Example 01"/>
          <p:cNvSpPr txBox="1"/>
          <p:nvPr/>
        </p:nvSpPr>
        <p:spPr>
          <a:xfrm>
            <a:off x="667512"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01 NEED</a:t>
            </a:r>
            <a:endParaRPr lang="en-US" sz="950" dirty="0"/>
          </a:p>
          <a:p>
            <a:pPr indent="0" marL="0">
              <a:spcAft>
                <a:spcPts val="500"/>
              </a:spcAft>
              <a:buNone/>
            </a:pPr>
            <a:r>
              <a:rPr lang="en-US" sz="1200" dirty="0">
                <a:solidFill>
                  <a:schemeClr val="tx1"/>
                </a:solidFill>
              </a:rPr>
              <a:t>Fraud screening for customer portal payments. It supports a critical function.</a:t>
            </a:r>
            <a:endParaRPr lang="en-US" sz="950" dirty="0"/>
          </a:p>
        </p:txBody>
      </p:sp>
      <p:sp>
        <p:nvSpPr>
          <p:cNvPr id="46" name="Example 02"/>
          <p:cNvSpPr txBox="1"/>
          <p:nvPr/>
        </p:nvSpPr>
        <p:spPr>
          <a:xfrm>
            <a:off x="2722880"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02 RISK ASSESSMENT</a:t>
            </a:r>
            <a:endParaRPr lang="en-US" sz="950" dirty="0"/>
          </a:p>
          <a:p>
            <a:pPr indent="0" marL="0">
              <a:spcAft>
                <a:spcPts val="500"/>
              </a:spcAft>
              <a:buNone/>
            </a:pPr>
            <a:r>
              <a:rPr lang="en-US" sz="1200" dirty="0">
                <a:solidFill>
                  <a:schemeClr val="tx1"/>
                </a:solidFill>
              </a:rPr>
              <a:t>Inherent risk High: customer data processed, service in the payment path, few alternative providers.</a:t>
            </a:r>
            <a:endParaRPr lang="en-US" sz="950" dirty="0"/>
          </a:p>
        </p:txBody>
      </p:sp>
      <p:sp>
        <p:nvSpPr>
          <p:cNvPr id="47" name="Example 03"/>
          <p:cNvSpPr txBox="1"/>
          <p:nvPr/>
        </p:nvSpPr>
        <p:spPr>
          <a:xfrm>
            <a:off x="4778248"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03 DUE DILIGENCE</a:t>
            </a:r>
            <a:endParaRPr lang="en-US" sz="950" dirty="0"/>
          </a:p>
          <a:p>
            <a:pPr indent="0" marL="0">
              <a:spcAft>
                <a:spcPts val="500"/>
              </a:spcAft>
              <a:buNone/>
            </a:pPr>
            <a:r>
              <a:rPr lang="en-US" sz="1200" dirty="0">
                <a:solidFill>
                  <a:schemeClr val="tx1"/>
                </a:solidFill>
              </a:rPr>
              <a:t>ISO 27001 certificate and SOC 2 Type II report reviewed. Two subcontractors identified. Financial standing checked.</a:t>
            </a:r>
            <a:endParaRPr lang="en-US" sz="950" dirty="0"/>
          </a:p>
        </p:txBody>
      </p:sp>
      <p:sp>
        <p:nvSpPr>
          <p:cNvPr id="48" name="Example 04"/>
          <p:cNvSpPr txBox="1"/>
          <p:nvPr/>
        </p:nvSpPr>
        <p:spPr>
          <a:xfrm>
            <a:off x="6833616"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04 PROCUREMENT</a:t>
            </a:r>
            <a:endParaRPr lang="en-US" sz="950" dirty="0"/>
          </a:p>
          <a:p>
            <a:pPr indent="0" marL="0">
              <a:spcAft>
                <a:spcPts val="500"/>
              </a:spcAft>
              <a:buNone/>
            </a:pPr>
            <a:r>
              <a:rPr lang="en-US" sz="1200" dirty="0">
                <a:solidFill>
                  <a:schemeClr val="tx1"/>
                </a:solidFill>
              </a:rPr>
              <a:t>Three providers scored. Security and resilience carry [30%] of the score. No conflicts declared.</a:t>
            </a:r>
            <a:endParaRPr lang="en-US" sz="950" dirty="0"/>
          </a:p>
        </p:txBody>
      </p:sp>
      <p:sp>
        <p:nvSpPr>
          <p:cNvPr id="49" name="Example 05"/>
          <p:cNvSpPr txBox="1"/>
          <p:nvPr/>
        </p:nvSpPr>
        <p:spPr>
          <a:xfrm>
            <a:off x="8888984"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05 CONTRACT</a:t>
            </a:r>
            <a:endParaRPr lang="en-US" sz="950" dirty="0"/>
          </a:p>
          <a:p>
            <a:pPr indent="0" marL="0">
              <a:spcAft>
                <a:spcPts val="500"/>
              </a:spcAft>
              <a:buNone/>
            </a:pPr>
            <a:r>
              <a:rPr lang="en-US" sz="1200" dirty="0">
                <a:solidFill>
                  <a:schemeClr val="tx1"/>
                </a:solidFill>
              </a:rPr>
              <a:t>DORA Art. 30 clauses agreed: audit and access rights, incident support, EU data location, transition period.</a:t>
            </a:r>
            <a:endParaRPr lang="en-US" sz="950" dirty="0"/>
          </a:p>
        </p:txBody>
      </p:sp>
      <p:sp>
        <p:nvSpPr>
          <p:cNvPr id="50" name="Example 06"/>
          <p:cNvSpPr txBox="1"/>
          <p:nvPr/>
        </p:nvSpPr>
        <p:spPr>
          <a:xfrm>
            <a:off x="10944352"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06 ONBOARDING</a:t>
            </a:r>
            <a:endParaRPr lang="en-US" sz="950" dirty="0"/>
          </a:p>
          <a:p>
            <a:pPr indent="0" marL="0">
              <a:spcAft>
                <a:spcPts val="500"/>
              </a:spcAft>
              <a:buNone/>
            </a:pPr>
            <a:r>
              <a:rPr lang="en-US" sz="1200" dirty="0">
                <a:solidFill>
                  <a:schemeClr val="tx1"/>
                </a:solidFill>
              </a:rPr>
              <a:t>Entry added to the register of information. Provider logs sent to the SIEM. Access through PAM.</a:t>
            </a:r>
            <a:endParaRPr lang="en-US" sz="950" dirty="0"/>
          </a:p>
        </p:txBody>
      </p:sp>
      <p:sp>
        <p:nvSpPr>
          <p:cNvPr id="51" name="Example 07"/>
          <p:cNvSpPr txBox="1"/>
          <p:nvPr/>
        </p:nvSpPr>
        <p:spPr>
          <a:xfrm>
            <a:off x="12999720"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07 MONITORING</a:t>
            </a:r>
            <a:endParaRPr lang="en-US" sz="950" dirty="0"/>
          </a:p>
          <a:p>
            <a:pPr indent="0" marL="0">
              <a:spcAft>
                <a:spcPts val="500"/>
              </a:spcAft>
              <a:buNone/>
            </a:pPr>
            <a:r>
              <a:rPr lang="en-US" sz="1200" dirty="0">
                <a:solidFill>
                  <a:schemeClr val="tx1"/>
                </a:solidFill>
              </a:rPr>
              <a:t>Monthly service review. Availability and incident service levels tracked. Provider incidents go to the SOC.</a:t>
            </a:r>
            <a:endParaRPr lang="en-US" sz="950" dirty="0"/>
          </a:p>
        </p:txBody>
      </p:sp>
      <p:sp>
        <p:nvSpPr>
          <p:cNvPr id="52" name="Example 08"/>
          <p:cNvSpPr txBox="1"/>
          <p:nvPr/>
        </p:nvSpPr>
        <p:spPr>
          <a:xfrm>
            <a:off x="15055088"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08 AUDIT</a:t>
            </a:r>
            <a:endParaRPr lang="en-US" sz="950" dirty="0"/>
          </a:p>
          <a:p>
            <a:pPr indent="0" marL="0">
              <a:spcAft>
                <a:spcPts val="500"/>
              </a:spcAft>
              <a:buNone/>
            </a:pPr>
            <a:r>
              <a:rPr lang="en-US" sz="1200" dirty="0">
                <a:solidFill>
                  <a:schemeClr val="tx1"/>
                </a:solidFill>
              </a:rPr>
              <a:t>Annual assurance review. On-site or pooled audit every [3 years]. Findings tracked to closure.</a:t>
            </a:r>
            <a:endParaRPr lang="en-US" sz="950" dirty="0"/>
          </a:p>
        </p:txBody>
      </p:sp>
      <p:sp>
        <p:nvSpPr>
          <p:cNvPr id="53" name="Example 09"/>
          <p:cNvSpPr txBox="1"/>
          <p:nvPr/>
        </p:nvSpPr>
        <p:spPr>
          <a:xfrm>
            <a:off x="17110456"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09 EXIT</a:t>
            </a:r>
            <a:endParaRPr lang="en-US" sz="950" dirty="0"/>
          </a:p>
          <a:p>
            <a:pPr indent="0" marL="0">
              <a:spcAft>
                <a:spcPts val="500"/>
              </a:spcAft>
              <a:buNone/>
            </a:pPr>
            <a:r>
              <a:rPr lang="en-US" sz="1200" dirty="0">
                <a:solidFill>
                  <a:schemeClr val="tx1"/>
                </a:solidFill>
              </a:rPr>
              <a:t>Exit plan tested: data export verified, alternative provider identified, [6-month] transition period.</a:t>
            </a:r>
            <a:endParaRPr lang="en-US" sz="950" dirty="0"/>
          </a:p>
        </p:txBody>
      </p:sp>
      <p:sp>
        <p:nvSpPr>
          <p:cNvPr id="54" name="Text 43"/>
          <p:cNvSpPr txBox="1"/>
          <p:nvPr/>
        </p:nvSpPr>
        <p:spPr>
          <a:xfrm>
            <a:off x="667512" y="1110996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1</a:t>
            </a:r>
            <a:endParaRPr lang="en-US" sz="1000" dirty="0"/>
          </a:p>
        </p:txBody>
      </p:sp>
      <p:sp>
        <p:nvSpPr>
          <p:cNvPr id="55" name="Text 44"/>
          <p:cNvSpPr txBox="1"/>
          <p:nvPr/>
        </p:nvSpPr>
        <p:spPr>
          <a:xfrm>
            <a:off x="667512" y="11347704"/>
            <a:ext cx="96012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Third-party risk and assurance matrix</a:t>
            </a:r>
            <a:endParaRPr lang="en-US" sz="2800" dirty="0"/>
          </a:p>
        </p:txBody>
      </p:sp>
      <p:sp>
        <p:nvSpPr>
          <p:cNvPr id="56" name="Text 45"/>
          <p:cNvSpPr txBox="1"/>
          <p:nvPr/>
        </p:nvSpPr>
        <p:spPr>
          <a:xfrm>
            <a:off x="10671048" y="11128248"/>
            <a:ext cx="8778240" cy="694944"/>
          </a:xfrm>
          <a:prstGeom prst="rect">
            <a:avLst/>
          </a:prstGeom>
          <a:noFill/>
          <a:ln/>
        </p:spPr>
        <p:txBody>
          <a:bodyPr wrap="square" lIns="0" tIns="0" rIns="0" bIns="0" rtlCol="0" anchor="b"/>
          <a:lstStyle/>
          <a:p>
            <a:pPr algn="r" indent="0" marL="0">
              <a:buNone/>
            </a:pPr>
            <a:r>
              <a:rPr lang="en-US" sz="1200" dirty="0">
                <a:solidFill>
                  <a:schemeClr val="tx2"/>
                </a:solidFill>
              </a:rPr>
              <a:t>One row per provider type. Each row runs from the function supported to the clauses, assurance and exit plan that keep the risk within appetite.</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67512" y="12024360"/>
          <a:ext cx="15087600" cy="914400"/>
        </p:xfrm>
        <a:graphic>
          <a:graphicData uri="http://schemas.openxmlformats.org/drawingml/2006/table">
            <a:tbl>
              <a:tblPr/>
              <a:tblGrid>
                <a:gridCol w="955006"/>
                <a:gridCol w="1485564"/>
                <a:gridCol w="1697788"/>
                <a:gridCol w="2016123"/>
                <a:gridCol w="901950"/>
                <a:gridCol w="2334458"/>
                <a:gridCol w="2334458"/>
                <a:gridCol w="2016123"/>
                <a:gridCol w="2122235"/>
                <a:gridCol w="2016123"/>
                <a:gridCol w="901950"/>
              </a:tblGrid>
              <a:tr h="493522">
                <a:tc>
                  <a:txBody>
                    <a:bodyPr/>
                    <a:lstStyle/>
                    <a:p>
                      <a:pPr indent="0" marL="0">
                        <a:buNone/>
                      </a:pPr>
                      <a:r>
                        <a:rPr lang="en-US" sz="1150" b="1" dirty="0">
                          <a:solidFill>
                            <a:schemeClr val="bg1"/>
                          </a:solidFill>
                        </a:rPr>
                        <a:t>ID</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Provider type</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Function supported</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Risk scenario</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Inherent risk</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Due diligence</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Contract clauses</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Monitoring</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Audit and assurance</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Exit strategy</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Residual risk</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849884">
                <a:tc>
                  <a:txBody>
                    <a:bodyPr/>
                    <a:lstStyle/>
                    <a:p>
                      <a:pPr indent="0" marL="0">
                        <a:buNone/>
                      </a:pPr>
                      <a:r>
                        <a:rPr lang="en-US" sz="1150" b="1" dirty="0">
                          <a:solidFill>
                            <a:schemeClr val="tx1"/>
                          </a:solidFill>
                        </a:rPr>
                        <a:t>TPR-001</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Cloud infrastructure provider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Hosts the customer portal and the payments API. Critical.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Region outage or provider failure. Concentration on one provider.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bg1"/>
                          </a:solidFill>
                        </a:rPr>
                        <a:t>Critical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ISO 27001 and SOC 2 Type II reports, resilience architecture review, concentration assessment (Art. 29)</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Quantitative service levels, data location, access and audit rights, TLPT cooperation, transition period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Service health feeds to the NOC, monthly service review, provider incident notices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Pooled audit or certification review each year. Own inspection right retained.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Multi-region design, tested failover, documented migration path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849884">
                <a:tc>
                  <a:txBody>
                    <a:bodyPr/>
                    <a:lstStyle/>
                    <a:p>
                      <a:pPr indent="0" marL="0">
                        <a:buNone/>
                      </a:pPr>
                      <a:r>
                        <a:rPr lang="en-US" sz="1150" b="1" dirty="0">
                          <a:solidFill>
                            <a:schemeClr val="tx1"/>
                          </a:solidFill>
                        </a:rPr>
                        <a:t>TPR-002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SaaS business application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Fraud screening in the payment path. Critical.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 provider breach exposes customer data, or the service stops.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High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150" dirty="0">
                          <a:solidFill>
                            <a:schemeClr val="tx1"/>
                          </a:solidFill>
                        </a:rPr>
                        <a:t>Security questionnaire with evidence, penetration test summary, subcontractor list, data protection review</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Data protection terms, incident assistance, subcontracting conditions, data return on termination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Availability and incident service levels, provider logs to the SIEM (CIS 8.12)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Annual assurance review. On-site or pooled audit every [3 years].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Data export tested, alternative provider identified, [6-month] transition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849884">
                <a:tc>
                  <a:txBody>
                    <a:bodyPr/>
                    <a:lstStyle/>
                    <a:p>
                      <a:pPr indent="0" marL="0">
                        <a:buNone/>
                      </a:pPr>
                      <a:r>
                        <a:rPr lang="en-US" sz="1150" b="1" dirty="0">
                          <a:solidFill>
                            <a:schemeClr val="tx1"/>
                          </a:solidFill>
                        </a:rPr>
                        <a:t>TPR-003</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Managed security service provider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Outsourced monitoring or response. Important.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 missed detection, or misuse of the provider’s privileged access.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High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150" dirty="0">
                          <a:solidFill>
                            <a:schemeClr val="tx1"/>
                          </a:solidFill>
                        </a:rPr>
                        <a:t>Analyst vetting, tooling and process review, reference checks, SOC 2 Type II report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Detection and response service levels, reporting duties, staff vetting, audit rights, awareness training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Monthly KPI review against the SOC KPIs, joint incident exercises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Annual service audit. Detection tested in purple-team exercises.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Use cases and playbooks owned by the entity. Handover plan.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849884">
                <a:tc>
                  <a:txBody>
                    <a:bodyPr/>
                    <a:lstStyle/>
                    <a:p>
                      <a:pPr indent="0" marL="0">
                        <a:buNone/>
                      </a:pPr>
                      <a:r>
                        <a:rPr lang="en-US" sz="1150" b="1" dirty="0">
                          <a:solidFill>
                            <a:schemeClr val="tx1"/>
                          </a:solidFill>
                        </a:rPr>
                        <a:t>TPR-004</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Software or hardware product vendor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SIEM platform, network devices, security agents. Important.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 compromised update or an unpatched vulnerability in the product.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High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150" dirty="0">
                          <a:solidFill>
                            <a:schemeClr val="tx1"/>
                          </a:solidFill>
                        </a:rPr>
                        <a:t>Secure development evidence, SBOM, vulnerability handling process, support period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Vulnerability notification, patch timelines, support period, SBOM delivery</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Vendor advisories tracked, patch service level measured (CIS 7), end-of-life watch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Review of security attestations. Own testing before deployment.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Replacement roadmap. Configuration and data portable.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849884">
                <a:tc>
                  <a:txBody>
                    <a:bodyPr/>
                    <a:lstStyle/>
                    <a:p>
                      <a:pPr indent="0" marL="0">
                        <a:buNone/>
                      </a:pPr>
                      <a:r>
                        <a:rPr lang="en-US" sz="1150" b="1" dirty="0">
                          <a:solidFill>
                            <a:schemeClr val="tx1"/>
                          </a:solidFill>
                        </a:rPr>
                        <a:t>TPR-005</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AI model or AI-enabled service provider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Decision support or a customer-facing assistant. [Criticality]</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 unannounced model change, entity data used for training, or unclear AI Act duties.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High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150" dirty="0">
                          <a:solidFill>
                            <a:schemeClr val="tx1"/>
                          </a:solidFill>
                        </a:rPr>
                        <a:t>Model documentation, instructions for use, training-data terms, AI Act role analysis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Written agreement on duties (AI Act Art. 25), no training on entity data, change notice, logging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Output quality and drift checks, incident reports, change notices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Review against ISO/IEC 42001 controls. Testing of model behaviour.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Prompts, data and logs exportable. Alternative model identified.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493522">
                <a:tc>
                  <a:txBody>
                    <a:bodyPr/>
                    <a:lstStyle/>
                    <a:p>
                      <a:pPr indent="0" marL="0">
                        <a:buNone/>
                      </a:pPr>
                      <a:r>
                        <a:rPr lang="en-US" sz="1150" b="1" dirty="0">
                          <a:solidFill>
                            <a:schemeClr val="tx2"/>
                          </a:solidFill>
                        </a:rPr>
                        <a:t>TPR-0NN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[Provider type]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[Function, criticality]</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[Scenario]</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[Rating]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[Evidence]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[Clauses]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[Monitoring]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[Assurance]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[Exit]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[Rating]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58" name="Text 46"/>
          <p:cNvSpPr txBox="1"/>
          <p:nvPr/>
        </p:nvSpPr>
        <p:spPr>
          <a:xfrm>
            <a:off x="667512" y="18038064"/>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2</a:t>
            </a:r>
            <a:endParaRPr lang="en-US" sz="1000" dirty="0"/>
          </a:p>
        </p:txBody>
      </p:sp>
      <p:sp>
        <p:nvSpPr>
          <p:cNvPr id="59" name="Text 47"/>
          <p:cNvSpPr txBox="1"/>
          <p:nvPr/>
        </p:nvSpPr>
        <p:spPr>
          <a:xfrm>
            <a:off x="667512" y="18275808"/>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Provider tiering</a:t>
            </a:r>
            <a:endParaRPr lang="en-US" sz="2400" dirty="0"/>
          </a:p>
        </p:txBody>
      </p:sp>
      <p:sp>
        <p:nvSpPr>
          <p:cNvPr id="60" name="Text 48"/>
          <p:cNvSpPr txBox="1"/>
          <p:nvPr/>
        </p:nvSpPr>
        <p:spPr>
          <a:xfrm>
            <a:off x="667512" y="18751296"/>
            <a:ext cx="9208008" cy="384048"/>
          </a:xfrm>
          <a:prstGeom prst="rect">
            <a:avLst/>
          </a:prstGeom>
          <a:noFill/>
          <a:ln/>
        </p:spPr>
        <p:txBody>
          <a:bodyPr wrap="square" lIns="0" tIns="0" rIns="0" bIns="0" rtlCol="0" anchor="t"/>
          <a:lstStyle/>
          <a:p>
            <a:pPr indent="0" marL="0">
              <a:buNone/>
            </a:pPr>
            <a:r>
              <a:rPr lang="en-US" sz="1150" dirty="0">
                <a:solidFill>
                  <a:schemeClr val="tx2"/>
                </a:solidFill>
              </a:rPr>
              <a:t>Hybrid: tier by description or by numbers. Bracketed values are placeholders to set against your own risk appetite.</a:t>
            </a:r>
            <a:endParaRPr lang="en-US" sz="11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667512" y="19245072"/>
          <a:ext cx="15087600" cy="914400"/>
        </p:xfrm>
        <a:graphic>
          <a:graphicData uri="http://schemas.openxmlformats.org/drawingml/2006/table">
            <a:tbl>
              <a:tblPr/>
              <a:tblGrid>
                <a:gridCol w="829550"/>
                <a:gridCol w="2156831"/>
                <a:gridCol w="1907966"/>
                <a:gridCol w="1659101"/>
                <a:gridCol w="995460"/>
                <a:gridCol w="1659101"/>
              </a:tblGrid>
              <a:tr h="509016">
                <a:tc>
                  <a:txBody>
                    <a:bodyPr/>
                    <a:lstStyle/>
                    <a:p>
                      <a:pPr indent="0" marL="0">
                        <a:buNone/>
                      </a:pPr>
                      <a:r>
                        <a:rPr lang="en-US" sz="1200" b="1" dirty="0">
                          <a:solidFill>
                            <a:schemeClr val="bg1"/>
                          </a:solidFill>
                        </a:rPr>
                        <a:t>Tier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Qualitative criteria</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Quantitative trigger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Due diligence depth</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Review cycle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Audit approach</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880872">
                <a:tc>
                  <a:txBody>
                    <a:bodyPr/>
                    <a:lstStyle/>
                    <a:p>
                      <a:pPr indent="0" marL="0">
                        <a:buNone/>
                      </a:pPr>
                      <a:r>
                        <a:rPr lang="en-US" sz="1200" b="1" dirty="0">
                          <a:solidFill>
                            <a:schemeClr val="bg1"/>
                          </a:solidFill>
                        </a:rPr>
                        <a:t>Tier 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Supports a critical or important function. Failure stops the service.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[Over X clients affected], [RTO under Y hours] or [spend over €Z]</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Full assessment, exit plan tested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[Annual]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Own or pooled audit, plus certifications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94944">
                <a:tc>
                  <a:txBody>
                    <a:bodyPr/>
                    <a:lstStyle/>
                    <a:p>
                      <a:pPr indent="0" marL="0">
                        <a:buNone/>
                      </a:pPr>
                      <a:r>
                        <a:rPr lang="en-US" sz="1200" b="1" dirty="0">
                          <a:solidFill>
                            <a:schemeClr val="tx1"/>
                          </a:solidFill>
                        </a:rPr>
                        <a:t>Tier 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1"/>
                          </a:solidFill>
                        </a:rPr>
                        <a:t>Handles confidential or personal data, or holds privileged access.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[Over X records] or [any privileged account]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Full questionnaire with evidence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[Annual]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Certification and report review, audit on trigger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94944">
                <a:tc>
                  <a:txBody>
                    <a:bodyPr/>
                    <a:lstStyle/>
                    <a:p>
                      <a:pPr indent="0" marL="0">
                        <a:buNone/>
                      </a:pPr>
                      <a:r>
                        <a:rPr lang="en-US" sz="1200" b="1" dirty="0">
                          <a:solidFill>
                            <a:schemeClr val="tx1"/>
                          </a:solidFill>
                        </a:rPr>
                        <a:t>Tier 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00" dirty="0">
                          <a:solidFill>
                            <a:schemeClr val="tx1"/>
                          </a:solidFill>
                        </a:rPr>
                        <a:t>Business service with limited data and no privileged access.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Below Tier 2 thresholds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Short questionnaire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[Every 2 years]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Certification review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Tier 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rPr>
                        <a:t>Commodity supply with no data or system access.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Basic checks at onboarding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renewal]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62" name="Text 49"/>
          <p:cNvSpPr txBox="1"/>
          <p:nvPr/>
        </p:nvSpPr>
        <p:spPr>
          <a:xfrm>
            <a:off x="10241280" y="18038064"/>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3</a:t>
            </a:r>
            <a:endParaRPr lang="en-US" sz="1000" dirty="0"/>
          </a:p>
        </p:txBody>
      </p:sp>
      <p:sp>
        <p:nvSpPr>
          <p:cNvPr id="63" name="Text 50"/>
          <p:cNvSpPr txBox="1"/>
          <p:nvPr/>
        </p:nvSpPr>
        <p:spPr>
          <a:xfrm>
            <a:off x="10241280" y="18275808"/>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Risk assessment domains</a:t>
            </a:r>
            <a:endParaRPr lang="en-US" sz="2400" dirty="0"/>
          </a:p>
        </p:txBody>
      </p:sp>
      <p:sp>
        <p:nvSpPr>
          <p:cNvPr id="64" name="Text 51"/>
          <p:cNvSpPr txBox="1"/>
          <p:nvPr/>
        </p:nvSpPr>
        <p:spPr>
          <a:xfrm>
            <a:off x="10241280" y="18751296"/>
            <a:ext cx="9208008" cy="384048"/>
          </a:xfrm>
          <a:prstGeom prst="rect">
            <a:avLst/>
          </a:prstGeom>
          <a:noFill/>
          <a:ln/>
        </p:spPr>
        <p:txBody>
          <a:bodyPr wrap="square" lIns="0" tIns="0" rIns="0" bIns="0" rtlCol="0" anchor="t"/>
          <a:lstStyle/>
          <a:p>
            <a:pPr indent="0" marL="0">
              <a:buNone/>
            </a:pPr>
            <a:r>
              <a:rPr lang="en-US" sz="1150" dirty="0">
                <a:solidFill>
                  <a:schemeClr val="tx2"/>
                </a:solidFill>
              </a:rPr>
              <a:t>What is assessed before signing, and the evidence that supports it.</a:t>
            </a:r>
            <a:endParaRPr lang="en-US" sz="1150" dirty="0"/>
          </a:p>
        </p:txBody>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10241280" y="19245072"/>
          <a:ext cx="15087600" cy="914400"/>
        </p:xfrm>
        <a:graphic>
          <a:graphicData uri="http://schemas.openxmlformats.org/drawingml/2006/table">
            <a:tbl>
              <a:tblPr/>
              <a:tblGrid>
                <a:gridCol w="2206085"/>
                <a:gridCol w="3548920"/>
                <a:gridCol w="3453003"/>
              </a:tblGrid>
              <a:tr h="365760">
                <a:tc>
                  <a:txBody>
                    <a:bodyPr/>
                    <a:lstStyle/>
                    <a:p>
                      <a:pPr indent="0" marL="0">
                        <a:buNone/>
                      </a:pPr>
                      <a:r>
                        <a:rPr lang="en-US" sz="1200" b="1" dirty="0">
                          <a:solidFill>
                            <a:schemeClr val="bg1"/>
                          </a:solidFill>
                        </a:rPr>
                        <a:t>Domain</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is assessed</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Typical evidence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09016">
                <a:tc>
                  <a:txBody>
                    <a:bodyPr/>
                    <a:lstStyle/>
                    <a:p>
                      <a:pPr indent="0" marL="0">
                        <a:buNone/>
                      </a:pPr>
                      <a:r>
                        <a:rPr lang="en-US" sz="1200" b="1" dirty="0">
                          <a:solidFill>
                            <a:schemeClr val="tx1"/>
                          </a:solidFill>
                        </a:rPr>
                        <a:t>Information security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Control environment, access management, vulnerability handling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ISO 27001 certificate, SOC 2 Type II report, penetration test summary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Operational resilience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Continuity, recovery times, capacity, redundancy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Continuity and recovery test reports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Data protection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Personal data processed, data location, transfers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Data processing agreement, transfer assessment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Concentration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Dependence on one provider and how easily it can be replaced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Register of information, market analysis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Subcontracting chain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Who else delivers the service and under what terms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Subcontractor list, flow-down clauses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Financial and legal standing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Solvency, sanctions, litigation, insurance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Accounts, screening results, insurance certificate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Access and integration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Privileged access, connectivity, logging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Architecture review, PAM design, log specification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Use of AI</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Where the provider supplies or relies on AI</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Model documentation, instructions for use, training-data terms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66" name="Text 52"/>
          <p:cNvSpPr txBox="1"/>
          <p:nvPr/>
        </p:nvSpPr>
        <p:spPr>
          <a:xfrm>
            <a:off x="667512" y="2446020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4</a:t>
            </a:r>
            <a:endParaRPr lang="en-US" sz="1000" dirty="0"/>
          </a:p>
        </p:txBody>
      </p:sp>
      <p:sp>
        <p:nvSpPr>
          <p:cNvPr id="67" name="Text 53"/>
          <p:cNvSpPr txBox="1"/>
          <p:nvPr/>
        </p:nvSpPr>
        <p:spPr>
          <a:xfrm>
            <a:off x="667512" y="24697944"/>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Procurement gates</a:t>
            </a:r>
            <a:endParaRPr lang="en-US" sz="2400" dirty="0"/>
          </a:p>
        </p:txBody>
      </p:sp>
      <p:sp>
        <p:nvSpPr>
          <p:cNvPr id="68" name="Text 54"/>
          <p:cNvSpPr txBox="1"/>
          <p:nvPr/>
        </p:nvSpPr>
        <p:spPr>
          <a:xfrm>
            <a:off x="667512" y="25173432"/>
            <a:ext cx="9208008" cy="384048"/>
          </a:xfrm>
          <a:prstGeom prst="rect">
            <a:avLst/>
          </a:prstGeom>
          <a:noFill/>
          <a:ln/>
        </p:spPr>
        <p:txBody>
          <a:bodyPr wrap="square" lIns="0" tIns="0" rIns="0" bIns="0" rtlCol="0" anchor="t"/>
          <a:lstStyle/>
          <a:p>
            <a:pPr indent="0" marL="0">
              <a:buNone/>
            </a:pPr>
            <a:r>
              <a:rPr lang="en-US" sz="1150" dirty="0">
                <a:solidFill>
                  <a:schemeClr val="tx2"/>
                </a:solidFill>
              </a:rPr>
              <a:t>Each gate has one decision, one owner and one output.</a:t>
            </a:r>
            <a:endParaRPr lang="en-US" sz="1150" dirty="0"/>
          </a:p>
        </p:txBody>
      </p:sp>
      <p:graphicFrame>
        <p:nvGraphicFramePr>
          <p:cNvPr id="5" name="Table 3"/>
          <p:cNvGraphicFramePr>
            <a:graphicFrameLocks noGrp="1"/>
          </p:cNvGraphicFramePr>
          <p:nvPr>
            <p:extLst>
              <p:ext uri="{D42A27DB-BD31-4B8C-83A1-F6EECF244321}">
                <p14:modId xmlns:p14="http://schemas.microsoft.com/office/powerpoint/2010/main" val="1579011935"/>
              </p:ext>
            </p:extLst>
          </p:nvPr>
        </p:nvGraphicFramePr>
        <p:xfrm>
          <a:off x="667512" y="25667208"/>
          <a:ext cx="15087600" cy="914400"/>
        </p:xfrm>
        <a:graphic>
          <a:graphicData uri="http://schemas.openxmlformats.org/drawingml/2006/table">
            <a:tbl>
              <a:tblPr/>
              <a:tblGrid>
                <a:gridCol w="1303020"/>
                <a:gridCol w="2779776"/>
                <a:gridCol w="1563624"/>
                <a:gridCol w="1563624"/>
                <a:gridCol w="1997964"/>
              </a:tblGrid>
              <a:tr h="365760">
                <a:tc>
                  <a:txBody>
                    <a:bodyPr/>
                    <a:lstStyle/>
                    <a:p>
                      <a:pPr indent="0" marL="0">
                        <a:buNone/>
                      </a:pPr>
                      <a:r>
                        <a:rPr lang="en-US" sz="1200" b="1" dirty="0">
                          <a:solidFill>
                            <a:schemeClr val="bg1"/>
                          </a:solidFill>
                        </a:rPr>
                        <a:t>Gate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Decision</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Owner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Output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DORA anchor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694944">
                <a:tc>
                  <a:txBody>
                    <a:bodyPr/>
                    <a:lstStyle/>
                    <a:p>
                      <a:pPr indent="0" marL="0">
                        <a:buNone/>
                      </a:pPr>
                      <a:r>
                        <a:rPr lang="en-US" sz="1200" b="1" dirty="0">
                          <a:solidFill>
                            <a:schemeClr val="tx1"/>
                          </a:solidFill>
                        </a:rPr>
                        <a:t>1 Intake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 this an ICT service? Does it support a critical or important function?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Business owner, third-party risk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Criticality assessment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28(4)(a)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694944">
                <a:tc>
                  <a:txBody>
                    <a:bodyPr/>
                    <a:lstStyle/>
                    <a:p>
                      <a:pPr indent="0" marL="0">
                        <a:buNone/>
                      </a:pPr>
                      <a:r>
                        <a:rPr lang="en-US" sz="1200" b="1" dirty="0">
                          <a:solidFill>
                            <a:schemeClr val="tx1"/>
                          </a:solidFill>
                        </a:rPr>
                        <a:t>2 Risk assessment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Are the inherent risk and the concentration risk acceptable?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Third-party risk, security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Risk assessment record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28(4)(c), Art. 29, Del. Reg. 2024/1773 Art. 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694944">
                <a:tc>
                  <a:txBody>
                    <a:bodyPr/>
                    <a:lstStyle/>
                    <a:p>
                      <a:pPr indent="0" marL="0">
                        <a:buNone/>
                      </a:pPr>
                      <a:r>
                        <a:rPr lang="en-US" sz="1200" b="1" dirty="0">
                          <a:solidFill>
                            <a:schemeClr val="tx1"/>
                          </a:solidFill>
                        </a:rPr>
                        <a:t>3 Due diligence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Does the provider meet security, resilience and legal standards?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Security, DPO, legal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Due diligence report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28(4)(d), Art. 28(5), Del. Reg. 2024/1773 Art. 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694944">
                <a:tc>
                  <a:txBody>
                    <a:bodyPr/>
                    <a:lstStyle/>
                    <a:p>
                      <a:pPr indent="0" marL="0">
                        <a:buNone/>
                      </a:pPr>
                      <a:r>
                        <a:rPr lang="en-US" sz="1200" b="1" dirty="0">
                          <a:solidFill>
                            <a:schemeClr val="tx1"/>
                          </a:solidFill>
                        </a:rPr>
                        <a:t>4 Selection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Which provider wins on weighted criteria? Is there a conflict of interest?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Procurement, business owner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Scoring sheet, conflict declaration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28(4)(e), Del. Reg. 2024/1773 Art. 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694944">
                <a:tc>
                  <a:txBody>
                    <a:bodyPr/>
                    <a:lstStyle/>
                    <a:p>
                      <a:pPr indent="0" marL="0">
                        <a:buNone/>
                      </a:pPr>
                      <a:r>
                        <a:rPr lang="en-US" sz="1200" b="1" dirty="0">
                          <a:solidFill>
                            <a:schemeClr val="tx1"/>
                          </a:solidFill>
                        </a:rPr>
                        <a:t>5 Contract approval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Are all mandatory clauses in? Is the authority informed of a planned critical arrangement?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Legal, third-party risk</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Clause checklist, notification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30, Art. 28(3), Del. Reg. 2024/1773 Art. 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694944">
                <a:tc>
                  <a:txBody>
                    <a:bodyPr/>
                    <a:lstStyle/>
                    <a:p>
                      <a:pPr indent="0" marL="0">
                        <a:buNone/>
                      </a:pPr>
                      <a:r>
                        <a:rPr lang="en-US" sz="1200" b="1" dirty="0">
                          <a:solidFill>
                            <a:schemeClr val="tx1"/>
                          </a:solidFill>
                        </a:rPr>
                        <a:t>6 Go-live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 the register updated, access controlled and monitoring switched 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Service owner, SOC and NOC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Register entry, onboarding checklist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28(3), Impl. Reg. 2024/2956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bl>
          </a:graphicData>
        </a:graphic>
      </p:graphicFrame>
      <p:sp>
        <p:nvSpPr>
          <p:cNvPr id="70" name="Text 55"/>
          <p:cNvSpPr txBox="1"/>
          <p:nvPr/>
        </p:nvSpPr>
        <p:spPr>
          <a:xfrm>
            <a:off x="10241280" y="2446020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5</a:t>
            </a:r>
            <a:endParaRPr lang="en-US" sz="1000" dirty="0"/>
          </a:p>
        </p:txBody>
      </p:sp>
      <p:sp>
        <p:nvSpPr>
          <p:cNvPr id="71" name="Text 56"/>
          <p:cNvSpPr txBox="1"/>
          <p:nvPr/>
        </p:nvSpPr>
        <p:spPr>
          <a:xfrm>
            <a:off x="10241280" y="24697944"/>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Audit and assurance methods</a:t>
            </a:r>
            <a:endParaRPr lang="en-US" sz="2400" dirty="0"/>
          </a:p>
        </p:txBody>
      </p:sp>
      <p:sp>
        <p:nvSpPr>
          <p:cNvPr id="72" name="Text 57"/>
          <p:cNvSpPr txBox="1"/>
          <p:nvPr/>
        </p:nvSpPr>
        <p:spPr>
          <a:xfrm>
            <a:off x="10241280" y="25173432"/>
            <a:ext cx="9208008" cy="384048"/>
          </a:xfrm>
          <a:prstGeom prst="rect">
            <a:avLst/>
          </a:prstGeom>
          <a:noFill/>
          <a:ln/>
        </p:spPr>
        <p:txBody>
          <a:bodyPr wrap="square" lIns="0" tIns="0" rIns="0" bIns="0" rtlCol="0" anchor="t"/>
          <a:lstStyle/>
          <a:p>
            <a:pPr indent="0" marL="0">
              <a:buNone/>
            </a:pPr>
            <a:r>
              <a:rPr lang="en-US" sz="1150" dirty="0">
                <a:solidFill>
                  <a:schemeClr val="tx2"/>
                </a:solidFill>
              </a:rPr>
              <a:t>How to gain assurance over partners and vendors, and where each method stops.</a:t>
            </a:r>
            <a:endParaRPr lang="en-US" sz="1150" dirty="0"/>
          </a:p>
        </p:txBody>
      </p:sp>
      <p:graphicFrame>
        <p:nvGraphicFramePr>
          <p:cNvPr id="6" name="Table 4"/>
          <p:cNvGraphicFramePr>
            <a:graphicFrameLocks noGrp="1"/>
          </p:cNvGraphicFramePr>
          <p:nvPr>
            <p:extLst>
              <p:ext uri="{D42A27DB-BD31-4B8C-83A1-F6EECF244321}">
                <p14:modId xmlns:p14="http://schemas.microsoft.com/office/powerpoint/2010/main" val="1579011935"/>
              </p:ext>
            </p:extLst>
          </p:nvPr>
        </p:nvGraphicFramePr>
        <p:xfrm>
          <a:off x="10241280" y="25667208"/>
          <a:ext cx="15087600" cy="914400"/>
        </p:xfrm>
        <a:graphic>
          <a:graphicData uri="http://schemas.openxmlformats.org/drawingml/2006/table">
            <a:tbl>
              <a:tblPr/>
              <a:tblGrid>
                <a:gridCol w="2014252"/>
                <a:gridCol w="2685669"/>
                <a:gridCol w="2110169"/>
                <a:gridCol w="2397919"/>
              </a:tblGrid>
              <a:tr h="365760">
                <a:tc>
                  <a:txBody>
                    <a:bodyPr/>
                    <a:lstStyle/>
                    <a:p>
                      <a:pPr indent="0" marL="0">
                        <a:buNone/>
                      </a:pPr>
                      <a:r>
                        <a:rPr lang="en-US" sz="1200" b="1" dirty="0">
                          <a:solidFill>
                            <a:schemeClr val="bg1"/>
                          </a:solidFill>
                        </a:rPr>
                        <a:t>Method</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gives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When to use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Limits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09016">
                <a:tc>
                  <a:txBody>
                    <a:bodyPr/>
                    <a:lstStyle/>
                    <a:p>
                      <a:pPr indent="0" marL="0">
                        <a:buNone/>
                      </a:pPr>
                      <a:r>
                        <a:rPr lang="en-US" sz="1200" b="1" dirty="0">
                          <a:solidFill>
                            <a:schemeClr val="tx1"/>
                          </a:solidFill>
                        </a:rPr>
                        <a:t>Own on-site audit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Direct evidence that controls operate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Tier 1, or after a major incident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Costly. Needs skilled auditors.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Pooled audit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One audit shared with other customers of the provider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Large cloud and SaaS providers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Scope is set jointly.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Certifications and reports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ISO 27001 certificate, SOC 2 Type II, ISAE 3402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Every tier, as a baseline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Scope and period may not cover your service.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Questionnaire with evidence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Self-assessment backed by documents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Tier 2 and Tier 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Self-declared.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Continuous monitoring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Service levels, incidents, external security ratings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Every tier, between audits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Outside-in view only.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Technical testing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Penetration test results, TLPT participation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Tier 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Needs a contract right (Art. 30(3)(d)).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Subcontractor assurance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Evidence that duties flow down the chain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Critical functions with subcontracting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Depends on provider cooperation.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74" name="Text 58"/>
          <p:cNvSpPr txBox="1"/>
          <p:nvPr/>
        </p:nvSpPr>
        <p:spPr>
          <a:xfrm>
            <a:off x="667512" y="30979872"/>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6</a:t>
            </a:r>
            <a:endParaRPr lang="en-US" sz="1000" dirty="0"/>
          </a:p>
        </p:txBody>
      </p:sp>
      <p:sp>
        <p:nvSpPr>
          <p:cNvPr id="75" name="Text 59"/>
          <p:cNvSpPr txBox="1"/>
          <p:nvPr/>
        </p:nvSpPr>
        <p:spPr>
          <a:xfrm>
            <a:off x="667512" y="31217616"/>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Contract clause checklist</a:t>
            </a:r>
            <a:endParaRPr lang="en-US" sz="2400" dirty="0"/>
          </a:p>
        </p:txBody>
      </p:sp>
      <p:sp>
        <p:nvSpPr>
          <p:cNvPr id="76" name="Text 60"/>
          <p:cNvSpPr txBox="1"/>
          <p:nvPr/>
        </p:nvSpPr>
        <p:spPr>
          <a:xfrm>
            <a:off x="667512" y="31693104"/>
            <a:ext cx="9208008" cy="384048"/>
          </a:xfrm>
          <a:prstGeom prst="rect">
            <a:avLst/>
          </a:prstGeom>
          <a:noFill/>
          <a:ln/>
        </p:spPr>
        <p:txBody>
          <a:bodyPr wrap="square" lIns="0" tIns="0" rIns="0" bIns="0" rtlCol="0" anchor="t"/>
          <a:lstStyle/>
          <a:p>
            <a:pPr indent="0" marL="0">
              <a:buNone/>
            </a:pPr>
            <a:r>
              <a:rPr lang="en-US" sz="1150" dirty="0">
                <a:solidFill>
                  <a:schemeClr val="tx2"/>
                </a:solidFill>
              </a:rPr>
              <a:t>DORA Art. 30: nine clauses for every ICT contract, six more where a critical or important function is supported.</a:t>
            </a:r>
            <a:endParaRPr lang="en-US" sz="1150" dirty="0"/>
          </a:p>
        </p:txBody>
      </p:sp>
      <p:graphicFrame>
        <p:nvGraphicFramePr>
          <p:cNvPr id="7" name="Table 5"/>
          <p:cNvGraphicFramePr>
            <a:graphicFrameLocks noGrp="1"/>
          </p:cNvGraphicFramePr>
          <p:nvPr>
            <p:extLst>
              <p:ext uri="{D42A27DB-BD31-4B8C-83A1-F6EECF244321}">
                <p14:modId xmlns:p14="http://schemas.microsoft.com/office/powerpoint/2010/main" val="1579011935"/>
              </p:ext>
            </p:extLst>
          </p:nvPr>
        </p:nvGraphicFramePr>
        <p:xfrm>
          <a:off x="667512" y="32186880"/>
          <a:ext cx="15087600" cy="914400"/>
        </p:xfrm>
        <a:graphic>
          <a:graphicData uri="http://schemas.openxmlformats.org/drawingml/2006/table">
            <a:tbl>
              <a:tblPr/>
              <a:tblGrid>
                <a:gridCol w="4193746"/>
                <a:gridCol w="1458694"/>
                <a:gridCol w="1732200"/>
                <a:gridCol w="1823368"/>
              </a:tblGrid>
              <a:tr h="509016">
                <a:tc>
                  <a:txBody>
                    <a:bodyPr/>
                    <a:lstStyle/>
                    <a:p>
                      <a:pPr indent="0" marL="0">
                        <a:buNone/>
                      </a:pPr>
                      <a:r>
                        <a:rPr lang="en-US" sz="1200" b="1" dirty="0">
                          <a:solidFill>
                            <a:schemeClr val="bg1"/>
                          </a:solidFill>
                        </a:rPr>
                        <a:t>Clause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Applies to</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DORA</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Related requirement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09016">
                <a:tc>
                  <a:txBody>
                    <a:bodyPr/>
                    <a:lstStyle/>
                    <a:p>
                      <a:pPr indent="0" marL="0">
                        <a:buNone/>
                      </a:pPr>
                      <a:r>
                        <a:rPr lang="en-US" sz="1200" b="1" dirty="0">
                          <a:solidFill>
                            <a:schemeClr val="tx1"/>
                          </a:solidFill>
                        </a:rPr>
                        <a:t>Service description and subcontracting conditions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All ICT contracts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30(2)(a)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GDPR Art. 28(2), 28(4)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Locations of service delivery and data processing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All ICT contracts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30(2)(b)</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GDPR Art. 44 to 46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Data availability, authenticity, integrity and confidentiality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All ICT contracts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30(2)(c)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GDPR Art. 28(3), Art. 32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Access, recovery and return of data on insolvency or termination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All ICT contracts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30(2)(d)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GDPR Art. 28(3)(g)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Service level descriptions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All ICT contracts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30(2)(e)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ISO/IEC 27001 A.5.20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Incident assistance at no extra or a pre-agreed cost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All ICT contracts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30(2)(f)</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GDPR Art. 33(2)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Full cooperation with competent authorities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All ICT contracts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30(2)(g)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Termination rights and minimum notice periods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All ICT contracts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30(2)(h), Art. 28(7)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CIS 15.7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Participation in security awareness and resilience training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All ICT contracts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30(2)(i)</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CIS 14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Precise quantitative and qualitative service level targets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Critical or important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00" dirty="0">
                          <a:solidFill>
                            <a:schemeClr val="tx1"/>
                          </a:solidFill>
                        </a:rPr>
                        <a:t>Art. 30(3)(a)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Notice periods and reporting of material developments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Critical or important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00" dirty="0">
                          <a:solidFill>
                            <a:schemeClr val="tx1"/>
                          </a:solidFill>
                        </a:rPr>
                        <a:t>Art. 30(3)(b)</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Tested contingency plans and ICT security measures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Critical or important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00" dirty="0">
                          <a:solidFill>
                            <a:schemeClr val="tx1"/>
                          </a:solidFill>
                        </a:rPr>
                        <a:t>Art. 30(3)(c)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ISO/IEC 27001 A.5.30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Participation in threat-led penetration testing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Critical or important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00" dirty="0">
                          <a:solidFill>
                            <a:schemeClr val="tx1"/>
                          </a:solidFill>
                        </a:rPr>
                        <a:t>Art. 30(3)(d)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DORA Art. 26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Unrestricted access, inspection and audit rights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Critical or important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00" dirty="0">
                          <a:solidFill>
                            <a:schemeClr val="tx1"/>
                          </a:solidFill>
                        </a:rPr>
                        <a:t>Art. 30(3)(e)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GDPR Art. 28(3)(h)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Exit strategy with a mandatory transition period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Critical or important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00" dirty="0">
                          <a:solidFill>
                            <a:schemeClr val="tx1"/>
                          </a:solidFill>
                        </a:rPr>
                        <a:t>Art. 30(3)(f), Art. 28(8)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GDPR Art. 28(3)(g)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78" name="Text 61"/>
          <p:cNvSpPr txBox="1"/>
          <p:nvPr/>
        </p:nvSpPr>
        <p:spPr>
          <a:xfrm>
            <a:off x="10241280" y="30979872"/>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7</a:t>
            </a:r>
            <a:endParaRPr lang="en-US" sz="1000" dirty="0"/>
          </a:p>
        </p:txBody>
      </p:sp>
      <p:sp>
        <p:nvSpPr>
          <p:cNvPr id="79" name="Text 62"/>
          <p:cNvSpPr txBox="1"/>
          <p:nvPr/>
        </p:nvSpPr>
        <p:spPr>
          <a:xfrm>
            <a:off x="10241280" y="31217616"/>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KPIs for the management body</a:t>
            </a:r>
            <a:endParaRPr lang="en-US" sz="2400" dirty="0"/>
          </a:p>
        </p:txBody>
      </p:sp>
      <p:sp>
        <p:nvSpPr>
          <p:cNvPr id="80" name="Text 63"/>
          <p:cNvSpPr txBox="1"/>
          <p:nvPr/>
        </p:nvSpPr>
        <p:spPr>
          <a:xfrm>
            <a:off x="10241280" y="31693104"/>
            <a:ext cx="9208008" cy="384048"/>
          </a:xfrm>
          <a:prstGeom prst="rect">
            <a:avLst/>
          </a:prstGeom>
          <a:noFill/>
          <a:ln/>
        </p:spPr>
        <p:txBody>
          <a:bodyPr wrap="square" lIns="0" tIns="0" rIns="0" bIns="0" rtlCol="0" anchor="t"/>
          <a:lstStyle/>
          <a:p>
            <a:pPr indent="0" marL="0">
              <a:buNone/>
            </a:pPr>
            <a:r>
              <a:rPr lang="en-US" sz="1150" dirty="0">
                <a:solidFill>
                  <a:schemeClr val="tx2"/>
                </a:solidFill>
              </a:rPr>
              <a:t>Targets are placeholders. Each metric names where the evidence comes from.</a:t>
            </a:r>
            <a:endParaRPr lang="en-US" sz="1150" dirty="0"/>
          </a:p>
        </p:txBody>
      </p:sp>
      <p:graphicFrame>
        <p:nvGraphicFramePr>
          <p:cNvPr id="8" name="Table 6"/>
          <p:cNvGraphicFramePr>
            <a:graphicFrameLocks noGrp="1"/>
          </p:cNvGraphicFramePr>
          <p:nvPr>
            <p:extLst>
              <p:ext uri="{D42A27DB-BD31-4B8C-83A1-F6EECF244321}">
                <p14:modId xmlns:p14="http://schemas.microsoft.com/office/powerpoint/2010/main" val="1579011935"/>
              </p:ext>
            </p:extLst>
          </p:nvPr>
        </p:nvGraphicFramePr>
        <p:xfrm>
          <a:off x="10241280" y="32186880"/>
          <a:ext cx="15087600" cy="914400"/>
        </p:xfrm>
        <a:graphic>
          <a:graphicData uri="http://schemas.openxmlformats.org/drawingml/2006/table">
            <a:tbl>
              <a:tblPr/>
              <a:tblGrid>
                <a:gridCol w="2209922"/>
                <a:gridCol w="3222803"/>
                <a:gridCol w="920801"/>
                <a:gridCol w="2854482"/>
              </a:tblGrid>
              <a:tr h="365760">
                <a:tc>
                  <a:txBody>
                    <a:bodyPr/>
                    <a:lstStyle/>
                    <a:p>
                      <a:pPr indent="0" marL="0">
                        <a:buNone/>
                      </a:pPr>
                      <a:r>
                        <a:rPr lang="en-US" sz="1200" b="1" dirty="0">
                          <a:solidFill>
                            <a:schemeClr val="bg1"/>
                          </a:solidFill>
                        </a:rPr>
                        <a:t>Metric</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shows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Target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Evidence source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09016">
                <a:tc>
                  <a:txBody>
                    <a:bodyPr/>
                    <a:lstStyle/>
                    <a:p>
                      <a:pPr indent="0" marL="0">
                        <a:buNone/>
                      </a:pPr>
                      <a:r>
                        <a:rPr lang="en-US" sz="1200" b="1" dirty="0">
                          <a:solidFill>
                            <a:schemeClr val="tx1"/>
                          </a:solidFill>
                        </a:rPr>
                        <a:t>Register completeness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ICT contracts recorded with all mandatory fields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Register of information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Due diligence before signing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new contracts with a completed assessment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Procurement gate records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Mandatory clauses in place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contracts that pass the clause checklist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Clause checklist results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Tested exit plans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Tier 1 providers with an exit plan tested in the period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Exit test reports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Assurance reviews on time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scheduled reviews and audits completed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Assurance calendar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Audit findings overdue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Open provider findings past their due date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Findings tracker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Provider incidents notified on time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Provider met the contract notice period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Incident records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Concentration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critical functions that depend on a single provider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Register of information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82" name="Text 64"/>
          <p:cNvSpPr txBox="1"/>
          <p:nvPr/>
        </p:nvSpPr>
        <p:spPr>
          <a:xfrm>
            <a:off x="10241280" y="37264848"/>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8</a:t>
            </a:r>
            <a:endParaRPr lang="en-US" sz="1000" dirty="0"/>
          </a:p>
        </p:txBody>
      </p:sp>
      <p:sp>
        <p:nvSpPr>
          <p:cNvPr id="83" name="Text 65"/>
          <p:cNvSpPr txBox="1"/>
          <p:nvPr/>
        </p:nvSpPr>
        <p:spPr>
          <a:xfrm>
            <a:off x="10241280" y="37502592"/>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Tooling support: Microsoft, QRadar and Sentinel</a:t>
            </a:r>
            <a:endParaRPr lang="en-US" sz="2400" dirty="0"/>
          </a:p>
        </p:txBody>
      </p:sp>
      <p:sp>
        <p:nvSpPr>
          <p:cNvPr id="84" name="Text 66"/>
          <p:cNvSpPr txBox="1"/>
          <p:nvPr/>
        </p:nvSpPr>
        <p:spPr>
          <a:xfrm>
            <a:off x="10241280" y="37978080"/>
            <a:ext cx="9208008" cy="384048"/>
          </a:xfrm>
          <a:prstGeom prst="rect">
            <a:avLst/>
          </a:prstGeom>
          <a:noFill/>
          <a:ln/>
        </p:spPr>
        <p:txBody>
          <a:bodyPr wrap="square" lIns="0" tIns="0" rIns="0" bIns="0" rtlCol="0" anchor="t"/>
          <a:lstStyle/>
          <a:p>
            <a:pPr indent="0" marL="0">
              <a:buNone/>
            </a:pPr>
            <a:r>
              <a:rPr lang="en-US" sz="1150" dirty="0">
                <a:solidFill>
                  <a:schemeClr val="tx2"/>
                </a:solidFill>
              </a:rPr>
              <a:t>Where existing tooling supplies evidence. Provider activity is monitored in QRadar today and in the same shape for Sentinel.</a:t>
            </a:r>
            <a:endParaRPr lang="en-US" sz="1150" dirty="0"/>
          </a:p>
        </p:txBody>
      </p:sp>
      <p:graphicFrame>
        <p:nvGraphicFramePr>
          <p:cNvPr id="9" name="Table 7"/>
          <p:cNvGraphicFramePr>
            <a:graphicFrameLocks noGrp="1"/>
          </p:cNvGraphicFramePr>
          <p:nvPr>
            <p:extLst>
              <p:ext uri="{D42A27DB-BD31-4B8C-83A1-F6EECF244321}">
                <p14:modId xmlns:p14="http://schemas.microsoft.com/office/powerpoint/2010/main" val="1579011935"/>
              </p:ext>
            </p:extLst>
          </p:nvPr>
        </p:nvGraphicFramePr>
        <p:xfrm>
          <a:off x="10241280" y="38471856"/>
          <a:ext cx="15087600" cy="914400"/>
        </p:xfrm>
        <a:graphic>
          <a:graphicData uri="http://schemas.openxmlformats.org/drawingml/2006/table">
            <a:tbl>
              <a:tblPr/>
              <a:tblGrid>
                <a:gridCol w="1688135"/>
                <a:gridCol w="2762402"/>
                <a:gridCol w="2302002"/>
                <a:gridCol w="2455469"/>
              </a:tblGrid>
              <a:tr h="509016">
                <a:tc>
                  <a:txBody>
                    <a:bodyPr/>
                    <a:lstStyle/>
                    <a:p>
                      <a:pPr indent="0" marL="0">
                        <a:buNone/>
                      </a:pPr>
                      <a:r>
                        <a:rPr lang="en-US" sz="1200" b="1" dirty="0">
                          <a:solidFill>
                            <a:schemeClr val="bg1"/>
                          </a:solidFill>
                        </a:rPr>
                        <a:t>Capability</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Microsoft tooling</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IBM QRadar, in use today</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Microsoft Sentinel, alignment target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509016">
                <a:tc>
                  <a:txBody>
                    <a:bodyPr/>
                    <a:lstStyle/>
                    <a:p>
                      <a:pPr indent="0" marL="0">
                        <a:buNone/>
                      </a:pPr>
                      <a:r>
                        <a:rPr lang="en-US" sz="1200" b="1" dirty="0">
                          <a:solidFill>
                            <a:schemeClr val="tx1"/>
                          </a:solidFill>
                        </a:rPr>
                        <a:t>Unapproved cloud services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Defender for Cloud Apps discovery and app risk scores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Proxy and firewall logs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Cloud discovery data through the Defender XDR connector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694944">
                <a:tc>
                  <a:txBody>
                    <a:bodyPr/>
                    <a:lstStyle/>
                    <a:p>
                      <a:pPr indent="0" marL="0">
                        <a:buNone/>
                      </a:pPr>
                      <a:r>
                        <a:rPr lang="en-US" sz="1200" b="1" dirty="0">
                          <a:solidFill>
                            <a:schemeClr val="tx1"/>
                          </a:solidFill>
                        </a:rPr>
                        <a:t>Provider identities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Entra ID guest governance, entitlement management, access reviews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Sign-in logs through the Microsoft Entra ID DSM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Microsoft Entra ID connector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Privileged provider access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Entra Privileged Identity Management, PAM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Rule on provider accounts (SOC-UC-003)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Analytics rule with a watchlist of provider identities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Provider logs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Provider logs as log sources (CIS 8.12)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Provider logs through data connectors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Data shared with providers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Purview sensitivity labels and data loss prevention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DLP alerts as a log source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Purview alerts through the Defender XDR connector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Compliance tracking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Purview Compliance Manager assessments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Assurance on Microsoft itself</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Service Trust Portal audit reports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bl>
          </a:graphicData>
        </a:graphic>
      </p:graphicFrame>
      <p:sp>
        <p:nvSpPr>
          <p:cNvPr id="86" name="Text 67"/>
          <p:cNvSpPr txBox="1"/>
          <p:nvPr/>
        </p:nvSpPr>
        <p:spPr>
          <a:xfrm>
            <a:off x="667512" y="43507152"/>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9</a:t>
            </a:r>
            <a:endParaRPr lang="en-US" sz="1000" dirty="0"/>
          </a:p>
        </p:txBody>
      </p:sp>
      <p:sp>
        <p:nvSpPr>
          <p:cNvPr id="87" name="Text 68"/>
          <p:cNvSpPr txBox="1"/>
          <p:nvPr/>
        </p:nvSpPr>
        <p:spPr>
          <a:xfrm>
            <a:off x="667512" y="43744896"/>
            <a:ext cx="96012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Control framework cross-mapping</a:t>
            </a:r>
            <a:endParaRPr lang="en-US" sz="2800" dirty="0"/>
          </a:p>
        </p:txBody>
      </p:sp>
      <p:sp>
        <p:nvSpPr>
          <p:cNvPr id="88" name="Text 69"/>
          <p:cNvSpPr txBox="1"/>
          <p:nvPr/>
        </p:nvSpPr>
        <p:spPr>
          <a:xfrm>
            <a:off x="10671048" y="43525440"/>
            <a:ext cx="8778240" cy="694944"/>
          </a:xfrm>
          <a:prstGeom prst="rect">
            <a:avLst/>
          </a:prstGeom>
          <a:noFill/>
          <a:ln/>
        </p:spPr>
        <p:txBody>
          <a:bodyPr wrap="square" lIns="0" tIns="0" rIns="0" bIns="0" rtlCol="0" anchor="b"/>
          <a:lstStyle/>
          <a:p>
            <a:pPr algn="r" indent="0" marL="0">
              <a:buNone/>
            </a:pPr>
            <a:r>
              <a:rPr lang="en-US" sz="1200" dirty="0">
                <a:solidFill>
                  <a:schemeClr val="tx2"/>
                </a:solidFill>
              </a:rPr>
              <a:t>Third-party risk functions against the same framework set. The CRA, the EU AI Act and ISO/IEC 42001 apply only where the entity makes or uses in-scope products and AI systems. A dash means no direct requirement.</a:t>
            </a:r>
            <a:endParaRPr lang="en-US" sz="1200" dirty="0"/>
          </a:p>
        </p:txBody>
      </p:sp>
      <p:graphicFrame>
        <p:nvGraphicFramePr>
          <p:cNvPr id="10" name="Table 8"/>
          <p:cNvGraphicFramePr>
            <a:graphicFrameLocks noGrp="1"/>
          </p:cNvGraphicFramePr>
          <p:nvPr>
            <p:extLst>
              <p:ext uri="{D42A27DB-BD31-4B8C-83A1-F6EECF244321}">
                <p14:modId xmlns:p14="http://schemas.microsoft.com/office/powerpoint/2010/main" val="1579011935"/>
              </p:ext>
            </p:extLst>
          </p:nvPr>
        </p:nvGraphicFramePr>
        <p:xfrm>
          <a:off x="667512" y="44421552"/>
          <a:ext cx="15087600" cy="914400"/>
        </p:xfrm>
        <a:graphic>
          <a:graphicData uri="http://schemas.openxmlformats.org/drawingml/2006/table">
            <a:tbl>
              <a:tblPr/>
              <a:tblGrid>
                <a:gridCol w="2832173"/>
                <a:gridCol w="1714210"/>
                <a:gridCol w="2086864"/>
                <a:gridCol w="2683111"/>
                <a:gridCol w="1788741"/>
                <a:gridCol w="1937802"/>
                <a:gridCol w="2161395"/>
                <a:gridCol w="1639679"/>
                <a:gridCol w="1937802"/>
              </a:tblGrid>
              <a:tr h="694944">
                <a:tc>
                  <a:txBody>
                    <a:bodyPr/>
                    <a:lstStyle/>
                    <a:p>
                      <a:pPr indent="0" marL="0">
                        <a:buNone/>
                      </a:pPr>
                      <a:r>
                        <a:rPr lang="en-US" sz="1200" b="1" dirty="0">
                          <a:solidFill>
                            <a:schemeClr val="bg1"/>
                          </a:solidFill>
                        </a:rPr>
                        <a:t>Function</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NIST CSF 2.0</a:t>
                      </a:r>
                      <a:endParaRPr lang="en-US" sz="1200" dirty="0"/>
                    </a:p>
                    <a:p>
                      <a:pPr indent="0" marL="0">
                        <a:buNone/>
                      </a:pPr>
                      <a:r>
                        <a:rPr lang="en-US" sz="1050" b="1" dirty="0">
                          <a:solidFill>
                            <a:schemeClr val="bg1"/>
                          </a:solidFill>
                        </a:rPr>
                        <a:t>Categories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ISO/IEC 27001:2022</a:t>
                      </a:r>
                      <a:endParaRPr lang="en-US" sz="1200" dirty="0"/>
                    </a:p>
                    <a:p>
                      <a:pPr indent="0" marL="0">
                        <a:buNone/>
                      </a:pPr>
                      <a:r>
                        <a:rPr lang="en-US" sz="1050" b="1" dirty="0">
                          <a:solidFill>
                            <a:schemeClr val="bg1"/>
                          </a:solidFill>
                        </a:rPr>
                        <a:t>Annex A</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DORA · Driver</a:t>
                      </a:r>
                      <a:endParaRPr lang="en-US" sz="1200" dirty="0"/>
                    </a:p>
                    <a:p>
                      <a:pPr indent="0" marL="0">
                        <a:buNone/>
                      </a:pPr>
                      <a:r>
                        <a:rPr lang="en-US" sz="1050" b="1" dirty="0">
                          <a:solidFill>
                            <a:schemeClr val="bg1"/>
                          </a:solidFill>
                        </a:rPr>
                        <a:t>Reg. (EU) 2022/2554</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GDPR</a:t>
                      </a:r>
                      <a:endParaRPr lang="en-US" sz="1200" dirty="0"/>
                    </a:p>
                    <a:p>
                      <a:pPr indent="0" marL="0">
                        <a:buNone/>
                      </a:pPr>
                      <a:r>
                        <a:rPr lang="en-US" sz="1050" b="1" dirty="0">
                          <a:solidFill>
                            <a:schemeClr val="bg1"/>
                          </a:solidFill>
                        </a:rPr>
                        <a:t>Reg. (EU) 2016/679</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CIS IG3 · Baseline</a:t>
                      </a:r>
                      <a:endParaRPr lang="en-US" sz="1200" dirty="0"/>
                    </a:p>
                    <a:p>
                      <a:pPr indent="0" marL="0">
                        <a:buNone/>
                      </a:pPr>
                      <a:r>
                        <a:rPr lang="en-US" sz="1050" b="1" dirty="0">
                          <a:solidFill>
                            <a:schemeClr val="bg1"/>
                          </a:solidFill>
                        </a:rPr>
                        <a:t>CIS Controls v8.1</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CRA</a:t>
                      </a:r>
                      <a:endParaRPr lang="en-US" sz="1200" dirty="0"/>
                    </a:p>
                    <a:p>
                      <a:pPr indent="0" marL="0">
                        <a:buNone/>
                      </a:pPr>
                      <a:r>
                        <a:rPr lang="en-US" sz="1050" b="1" dirty="0">
                          <a:solidFill>
                            <a:schemeClr val="bg1"/>
                          </a:solidFill>
                        </a:rPr>
                        <a:t>Reg. (EU) 2024/2847</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EU AI Act</a:t>
                      </a:r>
                      <a:endParaRPr lang="en-US" sz="1200" dirty="0"/>
                    </a:p>
                    <a:p>
                      <a:pPr indent="0" marL="0">
                        <a:buNone/>
                      </a:pPr>
                      <a:r>
                        <a:rPr lang="en-US" sz="1050" b="1" dirty="0">
                          <a:solidFill>
                            <a:schemeClr val="bg1"/>
                          </a:solidFill>
                        </a:rPr>
                        <a:t>Reg. (EU) 2024/1689</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ISO/IEC 42001:2023</a:t>
                      </a:r>
                      <a:endParaRPr lang="en-US" sz="1200" dirty="0"/>
                    </a:p>
                    <a:p>
                      <a:pPr indent="0" marL="0">
                        <a:buNone/>
                      </a:pPr>
                      <a:r>
                        <a:rPr lang="en-US" sz="1050" b="1" dirty="0">
                          <a:solidFill>
                            <a:schemeClr val="bg1"/>
                          </a:solidFill>
                        </a:rPr>
                        <a:t>AI management system</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r>
              <a:tr h="323088">
                <a:tc>
                  <a:txBody>
                    <a:bodyPr/>
                    <a:lstStyle/>
                    <a:p>
                      <a:pPr indent="0" marL="0">
                        <a:buNone/>
                      </a:pPr>
                      <a:r>
                        <a:rPr lang="en-US" sz="1200" b="1" dirty="0">
                          <a:solidFill>
                            <a:schemeClr val="tx1"/>
                          </a:solidFill>
                        </a:rPr>
                        <a:t>Strategy and policy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GV.SC-01, GV.SC-03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A.5.19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28(2), Del. Reg. 2024/1773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24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15.2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A.10.2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Provider inventory and register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GV.SC-04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A.5.9, A.5.19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28(3), Impl. Reg. 2024/2956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15.1, 15.3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II: SBOM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A.10.3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Risk assessment and concentration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GV.SC-06, GV.SC-07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A.5.19, A.5.21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28(4), Art. 29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15.3, 15.5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13(5)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A.10.3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Due diligence and selection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GV.SC-06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A.5.21, A.5.23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28(4)(d), Art. 28(5)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28(1)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15.5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13(5)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A.10.3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Contract clauses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GV.SC-05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30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28(3)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15.4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25(4)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A.10.2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Subcontracting chain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GV.SC-07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29(2), Del. Reg. 2025/532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28(2), 28(4)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15.4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13(5)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A.10.3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Ongoing monitoring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GV.SC-07, GV.SC-09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28(1), Del. Reg. 2024/1773 Art. 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28(3)(h)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15.6, 8.12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26(5)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A.10.3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Audit and inspection rights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GV.SC-07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A.5.22, A.5.35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28(6), Art. 30(3)(e)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28(3)(h)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15.5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Clause 9.2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Provider incidents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GV.SC-08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19, Art. 30(2)(f)</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33(2)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17.2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73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Exit and termination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GV.SC-10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A.5.20, A.5.23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28(7), 28(8), Art. 30(3)(f)</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28(3)(g)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15.7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90" name="Shape 70"/>
          <p:cNvSpPr/>
          <p:nvPr/>
        </p:nvSpPr>
        <p:spPr>
          <a:xfrm>
            <a:off x="667512" y="49545240"/>
            <a:ext cx="18781776" cy="0"/>
          </a:xfrm>
          <a:prstGeom prst="line">
            <a:avLst/>
          </a:prstGeom>
          <a:noFill/>
          <a:ln w="19050">
            <a:solidFill>
              <a:schemeClr val="tx1"/>
            </a:solidFill>
            <a:prstDash val="solid"/>
          </a:ln>
        </p:spPr>
      </p:sp>
      <p:sp>
        <p:nvSpPr>
          <p:cNvPr id="91" name="Text 71"/>
          <p:cNvSpPr txBox="1"/>
          <p:nvPr/>
        </p:nvSpPr>
        <p:spPr>
          <a:xfrm>
            <a:off x="667512" y="49728120"/>
            <a:ext cx="10515600" cy="594360"/>
          </a:xfrm>
          <a:prstGeom prst="rect">
            <a:avLst/>
          </a:prstGeom>
          <a:noFill/>
          <a:ln/>
        </p:spPr>
        <p:txBody>
          <a:bodyPr wrap="square" lIns="0" tIns="0" rIns="0" bIns="0" rtlCol="0" anchor="t"/>
          <a:lstStyle/>
          <a:p>
            <a:pPr indent="0" marL="0">
              <a:buNone/>
            </a:pPr>
            <a:r>
              <a:rPr lang="en-US" sz="1100" dirty="0">
                <a:solidFill>
                  <a:schemeClr val="tx2"/>
                </a:solidFill>
              </a:rPr>
              <a:t>Illustrative template. Targets, thresholds and products are examples, so replace them with your own service levels and risk appetite. Article, safeguard and technique numbers are pointers. Check them against the official texts before using them in an audit.</a:t>
            </a:r>
            <a:endParaRPr lang="en-US" sz="1100" dirty="0"/>
          </a:p>
        </p:txBody>
      </p:sp>
      <p:sp>
        <p:nvSpPr>
          <p:cNvPr id="92" name="Text 72"/>
          <p:cNvSpPr txBox="1"/>
          <p:nvPr/>
        </p:nvSpPr>
        <p:spPr>
          <a:xfrm>
            <a:off x="13048488" y="49728120"/>
            <a:ext cx="6400800" cy="594360"/>
          </a:xfrm>
          <a:prstGeom prst="rect">
            <a:avLst/>
          </a:prstGeom>
          <a:noFill/>
          <a:ln/>
        </p:spPr>
        <p:txBody>
          <a:bodyPr wrap="square" lIns="0" tIns="0" rIns="0" bIns="0" rtlCol="0" anchor="t"/>
          <a:lstStyle/>
          <a:p>
            <a:pPr algn="r" indent="0" marL="0">
              <a:buNone/>
            </a:pPr>
            <a:r>
              <a:rPr lang="en-US" sz="1100" b="1" dirty="0">
                <a:solidFill>
                  <a:schemeClr val="tx1"/>
                </a:solidFill>
              </a:rPr>
              <a:t>Critical or important </a:t>
            </a:r>
            <a:pPr algn="r" indent="0" marL="0">
              <a:buNone/>
            </a:pPr>
            <a:r>
              <a:rPr lang="en-US" sz="1100" dirty="0">
                <a:solidFill>
                  <a:schemeClr val="tx2"/>
                </a:solidFill>
              </a:rPr>
              <a:t>A function whose disruption would materially impair the entity (DORA Art. 3)</a:t>
            </a:r>
            <a:endParaRPr lang="en-US" sz="1100" dirty="0"/>
          </a:p>
          <a:p>
            <a:pPr algn="r" indent="0" marL="0">
              <a:buNone/>
            </a:pPr>
            <a:r>
              <a:rPr lang="en-US" sz="1100" b="1" dirty="0">
                <a:solidFill>
                  <a:schemeClr val="tx1"/>
                </a:solidFill>
              </a:rPr>
              <a:t>Pooled audit </a:t>
            </a:r>
            <a:pPr algn="r" indent="0" marL="0">
              <a:buNone/>
            </a:pPr>
            <a:r>
              <a:rPr lang="en-US" sz="1100" dirty="0">
                <a:solidFill>
                  <a:schemeClr val="tx2"/>
                </a:solidFill>
              </a:rPr>
              <a:t>One audit shared by several customers of a provider</a:t>
            </a:r>
            <a:endParaRPr lang="en-US" sz="1100" dirty="0"/>
          </a:p>
        </p:txBody>
      </p:sp>
    </p:spTree>
  </p:cSld>
  <p:clrMapOvr>
    <a:masterClrMapping/>
  </p:clrMapOvr>
</p:sld>
</file>

<file path=ppt/theme/theme1.xml><?xml version="1.0" encoding="utf-8"?>
<a:theme xmlns:a="http://schemas.openxmlformats.org/drawingml/2006/main" name="Traceability">
  <a:themeElements>
    <a:clrScheme name="Traceability">
      <a:dk1>
        <a:srgbClr val="0E1C2A"/>
      </a:dk1>
      <a:lt1>
        <a:srgbClr val="FFFFFF"/>
      </a:lt1>
      <a:dk2>
        <a:srgbClr val="43525F"/>
      </a:dk2>
      <a:lt2>
        <a:srgbClr val="EEF1F4"/>
      </a:lt2>
      <a:accent1>
        <a:srgbClr val="B5450F"/>
      </a:accent1>
      <a:accent2>
        <a:srgbClr val="0D5C75"/>
      </a:accent2>
      <a:accent3>
        <a:srgbClr val="FBE9DD"/>
      </a:accent3>
      <a:accent4>
        <a:srgbClr val="DDEEF3"/>
      </a:accent4>
      <a:accent5>
        <a:srgbClr val="D9682B"/>
      </a:accent5>
      <a:accent6>
        <a:srgbClr val="8F2F06"/>
      </a:accent6>
      <a:hlink>
        <a:srgbClr val="0D5C75"/>
      </a:hlink>
      <a:folHlink>
        <a:srgbClr val="43525F"/>
      </a:folHlink>
    </a:clrScheme>
    <a:fontScheme name="Traceabil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Security Architecture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Third-Party Risk Operating Model</dc:title>
  <dc:subject>Third-Party Risk Operating Model</dc:subject>
  <dc:creator>Security Architecture</dc:creator>
  <cp:lastModifiedBy>Security Architecture</cp:lastModifiedBy>
  <cp:revision>1</cp:revision>
  <dcterms:created xsi:type="dcterms:W3CDTF">2026-10-04T20:05:01Z</dcterms:created>
  <dcterms:modified xsi:type="dcterms:W3CDTF">2026-10-04T20:05:01Z</dcterms:modified>
</cp:coreProperties>
</file>