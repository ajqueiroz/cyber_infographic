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ab05494-4cd0-d815-18e1-7e5f5481e508}">
          <p14:sldIdLst>
            <p14:sldId id="256"/>
            <p14:sldId id="257"/>
            <p14:sldId id="258"/>
          </p14:sldIdLst>
        </p14:section>
        <p14:section name="Tables" id="{c6f1c8f1-ae7a-7e5c-35aa-ddc2b77a411f}">
          <p14:sldIdLst>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provider type. Each row runs from the function supported to the clauses, assurance and exit plan that keep the risk within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provider type. Each row runs from the function supported to the clauses, assurance and exit plan that keep the risk within appetite.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Art. 30: nine clauses for every ICT contract, six more where a critical or important function is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Third-party risk functions against the same framework set. The CRA, the EU AI Act and ISO/IEC 42001 apply only where the entity makes or uses in-scope products and AI systems. A dash means no direct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E1C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463040"/>
            <a:ext cx="11277295" cy="201168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EE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457200" y="6446520"/>
            <a:ext cx="8229600" cy="256032"/>
          </a:xfrm>
          <a:prstGeom prst="rect">
            <a:avLst/>
          </a:prstGeom>
          <a:noFill/>
          <a:ln/>
        </p:spPr>
        <p:txBody>
          <a:bodyPr wrap="square" lIns="0" tIns="0" rIns="0" bIns="0" rtlCol="0" anchor="ctr"/>
          <a:lstStyle/>
          <a:p>
            <a:pPr indent="0" marL="0">
              <a:buNone/>
            </a:pPr>
            <a:r>
              <a:rPr lang="en-US" sz="900" dirty="0">
                <a:solidFill>
                  <a:schemeClr val="tx2"/>
                </a:solidFill>
              </a:rPr>
              <a:t>Third-party risk operating model · DORA · CIS Controls IG3</a:t>
            </a:r>
            <a:endParaRPr lang="en-US" sz="9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60120"/>
            <a:ext cx="11277295" cy="320040"/>
          </a:xfrm>
          <a:prstGeom prst="rect">
            <a:avLst/>
          </a:prstGeom>
          <a:noFill/>
          <a:ln/>
        </p:spPr>
        <p:txBody>
          <a:bodyPr wrap="square" lIns="0" tIns="0" rIns="0" bIns="0" rtlCol="0" anchor="t"/>
          <a:lstStyle/>
          <a:p>
            <a:pPr indent="0" marL="0">
              <a:buNone/>
            </a:pPr>
            <a:r>
              <a:rPr lang="en-US" sz="1200" spc="300" kern="0" dirty="0">
                <a:solidFill>
                  <a:srgbClr val="9FB0BF"/>
                </a:solidFill>
              </a:rPr>
              <a:t>THIRD-PARTY AND VENDOR RISK · OPERATING MODEL TEMPLATE</a:t>
            </a:r>
            <a:endParaRPr lang="en-US" sz="1200" dirty="0"/>
          </a:p>
        </p:txBody>
      </p:sp>
      <p:sp>
        <p:nvSpPr>
          <p:cNvPr id="3" name="Text 0"/>
          <p:cNvSpPr/>
          <p:nvPr>
            <p:ph idx="100" type="title" hasCustomPrompt="1"/>
          </p:nvPr>
        </p:nvSpPr>
        <p:spPr>
          <a:xfrm>
            <a:off x="457200" y="1463040"/>
            <a:ext cx="11277295" cy="2011680"/>
          </a:xfrm>
          <a:prstGeom prst="rect">
            <a:avLst/>
          </a:prstGeom>
          <a:noFill/>
          <a:ln/>
        </p:spPr>
        <p:txBody>
          <a:bodyPr wrap="square" lIns="0" tIns="0" rIns="0" bIns="0" rtlCol="0" anchor="t"/>
          <a:lstStyle/>
          <a:p>
            <a:pPr algn="l" indent="0" marL="0">
              <a:buNone/>
            </a:pPr>
            <a:r>
              <a:rPr lang="en-US" sz="4200" b="1" dirty="0">
                <a:solidFill>
                  <a:srgbClr val="FF9A5C"/>
                </a:solidFill>
              </a:rPr>
              <a:t>Assess</a:t>
            </a:r>
            <a:pPr algn="l" indent="0" marL="0">
              <a:buNone/>
            </a:pPr>
            <a:r>
              <a:rPr lang="en-US" sz="4200" b="1" dirty="0">
                <a:solidFill>
                  <a:srgbClr val="5D7183"/>
                </a:solidFill>
              </a:rPr>
              <a:t>  ›  </a:t>
            </a:r>
            <a:pPr algn="l" indent="0" marL="0">
              <a:buNone/>
            </a:pPr>
            <a:r>
              <a:rPr lang="en-US" sz="4200" b="1" dirty="0">
                <a:solidFill>
                  <a:srgbClr val="FF9A5C"/>
                </a:solidFill>
              </a:rPr>
              <a:t>Procure</a:t>
            </a:r>
            <a:pPr algn="l" indent="0" marL="0">
              <a:buNone/>
            </a:pPr>
            <a:r>
              <a:rPr lang="en-US" sz="4200" b="1" dirty="0">
                <a:solidFill>
                  <a:srgbClr val="5D7183"/>
                </a:solidFill>
              </a:rPr>
              <a:t>  ›  </a:t>
            </a:r>
            <a:pPr algn="l" indent="0" marL="0">
              <a:buNone/>
            </a:pPr>
            <a:r>
              <a:rPr lang="en-US" sz="4200" b="1" dirty="0">
                <a:solidFill>
                  <a:srgbClr val="6CCBDF"/>
                </a:solidFill>
              </a:rPr>
              <a:t>Contract</a:t>
            </a:r>
            <a:pPr algn="l" indent="0" marL="0">
              <a:buNone/>
            </a:pPr>
            <a:r>
              <a:rPr lang="en-US" sz="4200" b="1" dirty="0">
                <a:solidFill>
                  <a:srgbClr val="5D7183"/>
                </a:solidFill>
              </a:rPr>
              <a:t>  ›  </a:t>
            </a:r>
            <a:pPr algn="l" indent="0" marL="0">
              <a:buNone/>
            </a:pPr>
            <a:r>
              <a:rPr lang="en-US" sz="4200" b="1" dirty="0">
                <a:solidFill>
                  <a:srgbClr val="6CCBDF"/>
                </a:solidFill>
              </a:rPr>
              <a:t>Audit</a:t>
            </a:r>
            <a:endParaRPr lang="en-US" sz="4200" dirty="0"/>
          </a:p>
          <a:p>
            <a:pPr algn="l" indent="0" marL="0">
              <a:buNone/>
            </a:pPr>
            <a:r>
              <a:rPr lang="en-US" sz="4200" b="1" dirty="0">
                <a:solidFill>
                  <a:schemeClr val="bg1"/>
                </a:solidFill>
              </a:rPr>
              <a:t>Third-Party Risk Operating Model</a:t>
            </a:r>
            <a:endParaRPr lang="en-US" sz="4200" dirty="0"/>
          </a:p>
        </p:txBody>
      </p:sp>
      <p:sp>
        <p:nvSpPr>
          <p:cNvPr id="4" name="Text 2"/>
          <p:cNvSpPr txBox="1"/>
          <p:nvPr/>
        </p:nvSpPr>
        <p:spPr>
          <a:xfrm>
            <a:off x="457200" y="3840480"/>
            <a:ext cx="5120640" cy="2011680"/>
          </a:xfrm>
          <a:prstGeom prst="rect">
            <a:avLst/>
          </a:prstGeom>
          <a:noFill/>
          <a:ln/>
        </p:spPr>
        <p:txBody>
          <a:bodyPr wrap="square" lIns="0" tIns="0" rIns="0" bIns="0" rtlCol="0" anchor="t"/>
          <a:lstStyle/>
          <a:p>
            <a:pPr indent="0" marL="0">
              <a:lnSpc>
                <a:spcPct val="115000"/>
              </a:lnSpc>
              <a:buNone/>
            </a:pPr>
            <a:r>
              <a:rPr lang="en-US" sz="1400" dirty="0">
                <a:solidFill>
                  <a:srgbClr val="C9D5DF"/>
                </a:solidFill>
              </a:rPr>
              <a:t>One line of sight from the business need to the provider chosen, the contract signed, the assurance gathered and the exit kept ready. Built to demonstrate DORA compliance for ICT third-party risk, with CIS Controls Implementation Group 3 as the control baseline.</a:t>
            </a:r>
            <a:endParaRPr lang="en-US" sz="1400" dirty="0"/>
          </a:p>
        </p:txBody>
      </p:sp>
      <p:sp>
        <p:nvSpPr>
          <p:cNvPr id="5" name="Shape 3"/>
          <p:cNvSpPr/>
          <p:nvPr/>
        </p:nvSpPr>
        <p:spPr>
          <a:xfrm>
            <a:off x="5943600" y="3840480"/>
            <a:ext cx="1828800" cy="1828800"/>
          </a:xfrm>
          <a:prstGeom prst="rect">
            <a:avLst/>
          </a:prstGeom>
          <a:ln w="12700">
            <a:solidFill>
              <a:srgbClr val="3A4F62"/>
            </a:solidFill>
            <a:prstDash val="solid"/>
          </a:ln>
        </p:spPr>
      </p:sp>
      <p:sp>
        <p:nvSpPr>
          <p:cNvPr id="6" name="Text 4"/>
          <p:cNvSpPr txBox="1"/>
          <p:nvPr/>
        </p:nvSpPr>
        <p:spPr>
          <a:xfrm>
            <a:off x="607161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REGULATORY DRIVER</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DORA</a:t>
            </a:r>
            <a:endParaRPr lang="en-US" sz="900" dirty="0"/>
          </a:p>
          <a:p>
            <a:pPr indent="0" marL="0">
              <a:spcAft>
                <a:spcPts val="500"/>
              </a:spcAft>
              <a:buNone/>
            </a:pPr>
            <a:r>
              <a:rPr lang="en-US" sz="1100" dirty="0">
                <a:solidFill>
                  <a:srgbClr val="C9D5DF"/>
                </a:solidFill>
              </a:rPr>
              <a:t>Chapter V, Art. 28 to 30</a:t>
            </a:r>
            <a:endParaRPr lang="en-US" sz="900" dirty="0"/>
          </a:p>
        </p:txBody>
      </p:sp>
      <p:sp>
        <p:nvSpPr>
          <p:cNvPr id="7" name="Shape 5"/>
          <p:cNvSpPr/>
          <p:nvPr/>
        </p:nvSpPr>
        <p:spPr>
          <a:xfrm>
            <a:off x="7909560" y="3840480"/>
            <a:ext cx="1828800" cy="1828800"/>
          </a:xfrm>
          <a:prstGeom prst="rect">
            <a:avLst/>
          </a:prstGeom>
          <a:ln w="12700">
            <a:solidFill>
              <a:srgbClr val="3A4F62"/>
            </a:solidFill>
            <a:prstDash val="solid"/>
          </a:ln>
        </p:spPr>
      </p:sp>
      <p:sp>
        <p:nvSpPr>
          <p:cNvPr id="8" name="Text 6"/>
          <p:cNvSpPr txBox="1"/>
          <p:nvPr/>
        </p:nvSpPr>
        <p:spPr>
          <a:xfrm>
            <a:off x="803757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CONTROL BASELINE</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CIS Controls v8.1 · IG3</a:t>
            </a:r>
            <a:endParaRPr lang="en-US" sz="900" dirty="0"/>
          </a:p>
          <a:p>
            <a:pPr indent="0" marL="0">
              <a:spcAft>
                <a:spcPts val="500"/>
              </a:spcAft>
              <a:buNone/>
            </a:pPr>
            <a:r>
              <a:rPr lang="en-US" sz="1100" dirty="0">
                <a:solidFill>
                  <a:srgbClr val="C9D5DF"/>
                </a:solidFill>
              </a:rPr>
              <a:t>Control 15, service provider management</a:t>
            </a:r>
            <a:endParaRPr lang="en-US" sz="900" dirty="0"/>
          </a:p>
        </p:txBody>
      </p:sp>
      <p:sp>
        <p:nvSpPr>
          <p:cNvPr id="9" name="Shape 7"/>
          <p:cNvSpPr/>
          <p:nvPr/>
        </p:nvSpPr>
        <p:spPr>
          <a:xfrm>
            <a:off x="9875520" y="3840480"/>
            <a:ext cx="1828800" cy="1828800"/>
          </a:xfrm>
          <a:prstGeom prst="rect">
            <a:avLst/>
          </a:prstGeom>
          <a:ln w="12700">
            <a:solidFill>
              <a:srgbClr val="3A4F62"/>
            </a:solidFill>
            <a:prstDash val="solid"/>
          </a:ln>
        </p:spPr>
      </p:sp>
      <p:sp>
        <p:nvSpPr>
          <p:cNvPr id="10" name="Text 8"/>
          <p:cNvSpPr txBox="1"/>
          <p:nvPr/>
        </p:nvSpPr>
        <p:spPr>
          <a:xfrm>
            <a:off x="10003536" y="3931920"/>
            <a:ext cx="1572768" cy="1645920"/>
          </a:xfrm>
          <a:prstGeom prst="rect">
            <a:avLst/>
          </a:prstGeom>
          <a:noFill/>
          <a:ln/>
        </p:spPr>
        <p:txBody>
          <a:bodyPr wrap="square" lIns="0" tIns="0" rIns="0" bIns="0" rtlCol="0" anchor="ctr"/>
          <a:lstStyle/>
          <a:p>
            <a:pPr indent="0" marL="0">
              <a:spcAft>
                <a:spcPts val="500"/>
              </a:spcAft>
              <a:buNone/>
            </a:pPr>
            <a:r>
              <a:rPr lang="en-US" sz="900" spc="200" kern="0" dirty="0">
                <a:solidFill>
                  <a:srgbClr val="9FB0BF"/>
                </a:solidFill>
              </a:rPr>
              <a:t>SCOPE</a:t>
            </a:r>
            <a:endParaRPr lang="en-US" sz="900" dirty="0"/>
          </a:p>
          <a:p>
            <a:pPr indent="0" marL="0">
              <a:spcAft>
                <a:spcPts val="500"/>
              </a:spcAft>
              <a:buNone/>
            </a:pPr>
            <a:r>
              <a:rPr lang="en-US" sz="1500" b="1" dirty="0">
                <a:solidFill>
                  <a:schemeClr val="bg1"/>
                </a:solidFill>
                <a:latin typeface="+mj-lt" pitchFamily="34" charset="0"/>
                <a:ea typeface="+mj-lt" pitchFamily="34" charset="-122"/>
                <a:cs typeface="+mj-lt" pitchFamily="34" charset="-120"/>
              </a:rPr>
              <a:t>Providers and partners</a:t>
            </a:r>
            <a:endParaRPr lang="en-US" sz="900" dirty="0"/>
          </a:p>
          <a:p>
            <a:pPr indent="0" marL="0">
              <a:spcAft>
                <a:spcPts val="500"/>
              </a:spcAft>
              <a:buNone/>
            </a:pPr>
            <a:r>
              <a:rPr lang="en-US" sz="1100" dirty="0">
                <a:solidFill>
                  <a:srgbClr val="C9D5DF"/>
                </a:solidFill>
              </a:rPr>
              <a:t>ICT third parties and their subcontractors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Nine linked steps, from need to exit</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accent1"/>
                </a:solidFill>
              </a:rPr>
              <a:t>■ </a:t>
            </a:r>
            <a:pPr indent="0" marL="0">
              <a:buNone/>
            </a:pPr>
            <a:r>
              <a:rPr lang="en-US" sz="1400" dirty="0">
                <a:solidFill>
                  <a:schemeClr val="tx2"/>
                </a:solidFill>
              </a:rPr>
              <a:t>Select and commit      </a:t>
            </a:r>
            <a:pPr indent="0" marL="0">
              <a:buNone/>
            </a:pPr>
            <a:r>
              <a:rPr lang="en-US" sz="1400" dirty="0">
                <a:solidFill>
                  <a:schemeClr val="accent2"/>
                </a:solidFill>
              </a:rPr>
              <a:t>■ </a:t>
            </a:r>
            <a:pPr indent="0" marL="0">
              <a:buNone/>
            </a:pPr>
            <a:r>
              <a:rPr lang="en-US" sz="1400" dirty="0">
                <a:solidFill>
                  <a:schemeClr val="tx2"/>
                </a:solidFill>
              </a:rPr>
              <a:t>Run, assure and exit</a:t>
            </a:r>
            <a:endParaRPr lang="en-US" sz="1400" dirty="0"/>
          </a:p>
        </p:txBody>
      </p:sp>
      <p:sp>
        <p:nvSpPr>
          <p:cNvPr id="4" name="Stage 1"/>
          <p:cNvSpPr/>
          <p:nvPr/>
        </p:nvSpPr>
        <p:spPr>
          <a:xfrm>
            <a:off x="457200" y="1645920"/>
            <a:ext cx="1598473" cy="868680"/>
          </a:xfrm>
          <a:prstGeom prst="homePlate">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01</a:t>
            </a:r>
            <a:endParaRPr lang="en-US" sz="2000" dirty="0"/>
          </a:p>
        </p:txBody>
      </p:sp>
      <p:sp>
        <p:nvSpPr>
          <p:cNvPr id="5" name="Stage 2"/>
          <p:cNvSpPr/>
          <p:nvPr/>
        </p:nvSpPr>
        <p:spPr>
          <a:xfrm>
            <a:off x="1667053"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02</a:t>
            </a:r>
            <a:endParaRPr lang="en-US" sz="2000" dirty="0"/>
          </a:p>
        </p:txBody>
      </p:sp>
      <p:sp>
        <p:nvSpPr>
          <p:cNvPr id="6" name="Stage 3"/>
          <p:cNvSpPr/>
          <p:nvPr/>
        </p:nvSpPr>
        <p:spPr>
          <a:xfrm>
            <a:off x="2876906"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03</a:t>
            </a:r>
            <a:endParaRPr lang="en-US" sz="2000" dirty="0"/>
          </a:p>
        </p:txBody>
      </p:sp>
      <p:sp>
        <p:nvSpPr>
          <p:cNvPr id="7" name="Stage 4"/>
          <p:cNvSpPr/>
          <p:nvPr/>
        </p:nvSpPr>
        <p:spPr>
          <a:xfrm>
            <a:off x="4086758"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04</a:t>
            </a:r>
            <a:endParaRPr lang="en-US" sz="2000" dirty="0"/>
          </a:p>
        </p:txBody>
      </p:sp>
      <p:sp>
        <p:nvSpPr>
          <p:cNvPr id="8" name="Stage 5"/>
          <p:cNvSpPr/>
          <p:nvPr/>
        </p:nvSpPr>
        <p:spPr>
          <a:xfrm>
            <a:off x="5296611" y="1645920"/>
            <a:ext cx="1598473" cy="868680"/>
          </a:xfrm>
          <a:prstGeom prst="chevron">
            <a:avLst/>
          </a:prstGeom>
          <a:solidFill>
            <a:schemeClr val="accent1"/>
          </a:solidFill>
          <a:ln/>
        </p:spPr>
        <p:txBody>
          <a:bodyPr wrap="square" lIns="25400" tIns="25400" rIns="25400" bIns="25400" rtlCol="0" anchor="ctr"/>
          <a:lstStyle/>
          <a:p>
            <a:pPr algn="ctr" indent="0" marL="0">
              <a:buNone/>
            </a:pPr>
            <a:r>
              <a:rPr lang="en-US" sz="2000" b="1" dirty="0">
                <a:solidFill>
                  <a:schemeClr val="bg1"/>
                </a:solidFill>
              </a:rPr>
              <a:t>05</a:t>
            </a:r>
            <a:endParaRPr lang="en-US" sz="2000" dirty="0"/>
          </a:p>
        </p:txBody>
      </p:sp>
      <p:sp>
        <p:nvSpPr>
          <p:cNvPr id="9" name="Stage 6"/>
          <p:cNvSpPr/>
          <p:nvPr/>
        </p:nvSpPr>
        <p:spPr>
          <a:xfrm>
            <a:off x="6506464"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06</a:t>
            </a:r>
            <a:endParaRPr lang="en-US" sz="2000" dirty="0"/>
          </a:p>
        </p:txBody>
      </p:sp>
      <p:sp>
        <p:nvSpPr>
          <p:cNvPr id="10" name="Stage 7"/>
          <p:cNvSpPr/>
          <p:nvPr/>
        </p:nvSpPr>
        <p:spPr>
          <a:xfrm>
            <a:off x="7716317"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07</a:t>
            </a:r>
            <a:endParaRPr lang="en-US" sz="2000" dirty="0"/>
          </a:p>
        </p:txBody>
      </p:sp>
      <p:sp>
        <p:nvSpPr>
          <p:cNvPr id="11" name="Stage 8"/>
          <p:cNvSpPr/>
          <p:nvPr/>
        </p:nvSpPr>
        <p:spPr>
          <a:xfrm>
            <a:off x="8926170"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08</a:t>
            </a:r>
            <a:endParaRPr lang="en-US" sz="2000" dirty="0"/>
          </a:p>
        </p:txBody>
      </p:sp>
      <p:sp>
        <p:nvSpPr>
          <p:cNvPr id="12" name="Stage 9"/>
          <p:cNvSpPr/>
          <p:nvPr/>
        </p:nvSpPr>
        <p:spPr>
          <a:xfrm>
            <a:off x="10136022" y="1645920"/>
            <a:ext cx="1598473" cy="868680"/>
          </a:xfrm>
          <a:prstGeom prst="chevron">
            <a:avLst/>
          </a:prstGeom>
          <a:solidFill>
            <a:schemeClr val="accent2"/>
          </a:solidFill>
          <a:ln/>
        </p:spPr>
        <p:txBody>
          <a:bodyPr wrap="square" lIns="25400" tIns="25400" rIns="25400" bIns="25400" rtlCol="0" anchor="ctr"/>
          <a:lstStyle/>
          <a:p>
            <a:pPr algn="ctr" indent="0" marL="0">
              <a:buNone/>
            </a:pPr>
            <a:r>
              <a:rPr lang="en-US" sz="2000" b="1" dirty="0">
                <a:solidFill>
                  <a:schemeClr val="bg1"/>
                </a:solidFill>
              </a:rPr>
              <a:t>09</a:t>
            </a:r>
            <a:endParaRPr lang="en-US" sz="2000" dirty="0"/>
          </a:p>
        </p:txBody>
      </p:sp>
      <p:sp>
        <p:nvSpPr>
          <p:cNvPr id="13" name="Text 11"/>
          <p:cNvSpPr txBox="1"/>
          <p:nvPr/>
        </p:nvSpPr>
        <p:spPr>
          <a:xfrm>
            <a:off x="49377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Need</a:t>
            </a:r>
            <a:endParaRPr lang="en-US" sz="1250" dirty="0"/>
          </a:p>
        </p:txBody>
      </p:sp>
      <p:pic>
        <p:nvPicPr>
          <p:cNvPr id="14" name="Image 0" descr="preencoded.png">    </p:cNvPr>
          <p:cNvPicPr>
            <a:picLocks noChangeAspect="1"/>
          </p:cNvPicPr>
          <p:nvPr/>
        </p:nvPicPr>
        <p:blipFill>
          <a:blip r:embed="rId1"/>
          <a:stretch>
            <a:fillRect/>
          </a:stretch>
        </p:blipFill>
        <p:spPr>
          <a:xfrm>
            <a:off x="493776" y="3429000"/>
            <a:ext cx="502920" cy="502920"/>
          </a:xfrm>
          <a:prstGeom prst="rect">
            <a:avLst/>
          </a:prstGeom>
        </p:spPr>
      </p:pic>
      <p:sp>
        <p:nvSpPr>
          <p:cNvPr id="15" name="Text 12"/>
          <p:cNvSpPr txBox="1"/>
          <p:nvPr/>
        </p:nvSpPr>
        <p:spPr>
          <a:xfrm>
            <a:off x="49377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The business need, and whether it supports a critical or important function.</a:t>
            </a:r>
            <a:endParaRPr lang="en-US" sz="1300" dirty="0"/>
          </a:p>
        </p:txBody>
      </p:sp>
      <p:sp>
        <p:nvSpPr>
          <p:cNvPr id="16" name="Text 13"/>
          <p:cNvSpPr txBox="1"/>
          <p:nvPr/>
        </p:nvSpPr>
        <p:spPr>
          <a:xfrm>
            <a:off x="1703629"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Risk assessment</a:t>
            </a:r>
            <a:endParaRPr lang="en-US" sz="1250" dirty="0"/>
          </a:p>
        </p:txBody>
      </p:sp>
      <p:pic>
        <p:nvPicPr>
          <p:cNvPr id="17" name="Image 1" descr="preencoded.png">    </p:cNvPr>
          <p:cNvPicPr>
            <a:picLocks noChangeAspect="1"/>
          </p:cNvPicPr>
          <p:nvPr/>
        </p:nvPicPr>
        <p:blipFill>
          <a:blip r:embed="rId2"/>
          <a:stretch>
            <a:fillRect/>
          </a:stretch>
        </p:blipFill>
        <p:spPr>
          <a:xfrm>
            <a:off x="1703629" y="3429000"/>
            <a:ext cx="502920" cy="502920"/>
          </a:xfrm>
          <a:prstGeom prst="rect">
            <a:avLst/>
          </a:prstGeom>
        </p:spPr>
      </p:pic>
      <p:sp>
        <p:nvSpPr>
          <p:cNvPr id="18" name="Text 14"/>
          <p:cNvSpPr txBox="1"/>
          <p:nvPr/>
        </p:nvSpPr>
        <p:spPr>
          <a:xfrm>
            <a:off x="1703629"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Inherent risk of the service, including concentration on one provider.</a:t>
            </a:r>
            <a:endParaRPr lang="en-US" sz="1300" dirty="0"/>
          </a:p>
        </p:txBody>
      </p:sp>
      <p:sp>
        <p:nvSpPr>
          <p:cNvPr id="19" name="Text 15"/>
          <p:cNvSpPr txBox="1"/>
          <p:nvPr/>
        </p:nvSpPr>
        <p:spPr>
          <a:xfrm>
            <a:off x="2913482"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Due diligence</a:t>
            </a:r>
            <a:endParaRPr lang="en-US" sz="1250" dirty="0"/>
          </a:p>
        </p:txBody>
      </p:sp>
      <p:pic>
        <p:nvPicPr>
          <p:cNvPr id="20" name="Image 2" descr="preencoded.png">    </p:cNvPr>
          <p:cNvPicPr>
            <a:picLocks noChangeAspect="1"/>
          </p:cNvPicPr>
          <p:nvPr/>
        </p:nvPicPr>
        <p:blipFill>
          <a:blip r:embed="rId3"/>
          <a:stretch>
            <a:fillRect/>
          </a:stretch>
        </p:blipFill>
        <p:spPr>
          <a:xfrm>
            <a:off x="2913482" y="3429000"/>
            <a:ext cx="502920" cy="502920"/>
          </a:xfrm>
          <a:prstGeom prst="rect">
            <a:avLst/>
          </a:prstGeom>
        </p:spPr>
      </p:pic>
      <p:sp>
        <p:nvSpPr>
          <p:cNvPr id="21" name="Text 16"/>
          <p:cNvSpPr txBox="1"/>
          <p:nvPr/>
        </p:nvSpPr>
        <p:spPr>
          <a:xfrm>
            <a:off x="2913482"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Proof the provider can meet security, resilience and legal standards.</a:t>
            </a:r>
            <a:endParaRPr lang="en-US" sz="1300" dirty="0"/>
          </a:p>
        </p:txBody>
      </p:sp>
      <p:sp>
        <p:nvSpPr>
          <p:cNvPr id="22" name="Text 17"/>
          <p:cNvSpPr txBox="1"/>
          <p:nvPr/>
        </p:nvSpPr>
        <p:spPr>
          <a:xfrm>
            <a:off x="4123334"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Procurement</a:t>
            </a:r>
            <a:endParaRPr lang="en-US" sz="1250" dirty="0"/>
          </a:p>
        </p:txBody>
      </p:sp>
      <p:pic>
        <p:nvPicPr>
          <p:cNvPr id="23" name="Image 3" descr="preencoded.png">    </p:cNvPr>
          <p:cNvPicPr>
            <a:picLocks noChangeAspect="1"/>
          </p:cNvPicPr>
          <p:nvPr/>
        </p:nvPicPr>
        <p:blipFill>
          <a:blip r:embed="rId4"/>
          <a:stretch>
            <a:fillRect/>
          </a:stretch>
        </p:blipFill>
        <p:spPr>
          <a:xfrm>
            <a:off x="4123334" y="3429000"/>
            <a:ext cx="502920" cy="502920"/>
          </a:xfrm>
          <a:prstGeom prst="rect">
            <a:avLst/>
          </a:prstGeom>
        </p:spPr>
      </p:pic>
      <p:sp>
        <p:nvSpPr>
          <p:cNvPr id="24" name="Text 18"/>
          <p:cNvSpPr txBox="1"/>
          <p:nvPr/>
        </p:nvSpPr>
        <p:spPr>
          <a:xfrm>
            <a:off x="4123334"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Selection on weighted criteria, with conflicts of interest declared.</a:t>
            </a:r>
            <a:endParaRPr lang="en-US" sz="1300" dirty="0"/>
          </a:p>
        </p:txBody>
      </p:sp>
      <p:sp>
        <p:nvSpPr>
          <p:cNvPr id="25" name="Text 19"/>
          <p:cNvSpPr txBox="1"/>
          <p:nvPr/>
        </p:nvSpPr>
        <p:spPr>
          <a:xfrm>
            <a:off x="5333187"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Contract</a:t>
            </a:r>
            <a:endParaRPr lang="en-US" sz="1250" dirty="0"/>
          </a:p>
        </p:txBody>
      </p:sp>
      <p:pic>
        <p:nvPicPr>
          <p:cNvPr id="26" name="Image 4" descr="preencoded.png">    </p:cNvPr>
          <p:cNvPicPr>
            <a:picLocks noChangeAspect="1"/>
          </p:cNvPicPr>
          <p:nvPr/>
        </p:nvPicPr>
        <p:blipFill>
          <a:blip r:embed="rId5"/>
          <a:stretch>
            <a:fillRect/>
          </a:stretch>
        </p:blipFill>
        <p:spPr>
          <a:xfrm>
            <a:off x="5333187" y="3429000"/>
            <a:ext cx="502920" cy="502920"/>
          </a:xfrm>
          <a:prstGeom prst="rect">
            <a:avLst/>
          </a:prstGeom>
        </p:spPr>
      </p:pic>
      <p:sp>
        <p:nvSpPr>
          <p:cNvPr id="27" name="Text 20"/>
          <p:cNvSpPr txBox="1"/>
          <p:nvPr/>
        </p:nvSpPr>
        <p:spPr>
          <a:xfrm>
            <a:off x="5333187"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Mandatory clauses agreed: service levels, audit rights, incidents, exit.</a:t>
            </a:r>
            <a:endParaRPr lang="en-US" sz="1300" dirty="0"/>
          </a:p>
        </p:txBody>
      </p:sp>
      <p:sp>
        <p:nvSpPr>
          <p:cNvPr id="28" name="Text 21"/>
          <p:cNvSpPr txBox="1"/>
          <p:nvPr/>
        </p:nvSpPr>
        <p:spPr>
          <a:xfrm>
            <a:off x="6543040"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Onboarding</a:t>
            </a:r>
            <a:endParaRPr lang="en-US" sz="1250" dirty="0"/>
          </a:p>
        </p:txBody>
      </p:sp>
      <p:pic>
        <p:nvPicPr>
          <p:cNvPr id="29" name="Image 5" descr="preencoded.png">    </p:cNvPr>
          <p:cNvPicPr>
            <a:picLocks noChangeAspect="1"/>
          </p:cNvPicPr>
          <p:nvPr/>
        </p:nvPicPr>
        <p:blipFill>
          <a:blip r:embed="rId6"/>
          <a:stretch>
            <a:fillRect/>
          </a:stretch>
        </p:blipFill>
        <p:spPr>
          <a:xfrm>
            <a:off x="6543040" y="3429000"/>
            <a:ext cx="502920" cy="502920"/>
          </a:xfrm>
          <a:prstGeom prst="rect">
            <a:avLst/>
          </a:prstGeom>
        </p:spPr>
      </p:pic>
      <p:sp>
        <p:nvSpPr>
          <p:cNvPr id="30" name="Text 22"/>
          <p:cNvSpPr txBox="1"/>
          <p:nvPr/>
        </p:nvSpPr>
        <p:spPr>
          <a:xfrm>
            <a:off x="6543040"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Register updated, access controlled and monitoring switched on.</a:t>
            </a:r>
            <a:endParaRPr lang="en-US" sz="1300" dirty="0"/>
          </a:p>
        </p:txBody>
      </p:sp>
      <p:sp>
        <p:nvSpPr>
          <p:cNvPr id="31" name="Text 23"/>
          <p:cNvSpPr txBox="1"/>
          <p:nvPr/>
        </p:nvSpPr>
        <p:spPr>
          <a:xfrm>
            <a:off x="7752893"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Monitoring</a:t>
            </a:r>
            <a:endParaRPr lang="en-US" sz="1250" dirty="0"/>
          </a:p>
        </p:txBody>
      </p:sp>
      <p:pic>
        <p:nvPicPr>
          <p:cNvPr id="32" name="Image 6" descr="preencoded.png">    </p:cNvPr>
          <p:cNvPicPr>
            <a:picLocks noChangeAspect="1"/>
          </p:cNvPicPr>
          <p:nvPr/>
        </p:nvPicPr>
        <p:blipFill>
          <a:blip r:embed="rId7"/>
          <a:stretch>
            <a:fillRect/>
          </a:stretch>
        </p:blipFill>
        <p:spPr>
          <a:xfrm>
            <a:off x="7752893" y="3429000"/>
            <a:ext cx="502920" cy="502920"/>
          </a:xfrm>
          <a:prstGeom prst="rect">
            <a:avLst/>
          </a:prstGeom>
        </p:spPr>
      </p:pic>
      <p:sp>
        <p:nvSpPr>
          <p:cNvPr id="33" name="Text 24"/>
          <p:cNvSpPr txBox="1"/>
          <p:nvPr/>
        </p:nvSpPr>
        <p:spPr>
          <a:xfrm>
            <a:off x="7752893"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Service levels, incidents and security posture tracked through the term.</a:t>
            </a:r>
            <a:endParaRPr lang="en-US" sz="1300" dirty="0"/>
          </a:p>
        </p:txBody>
      </p:sp>
      <p:sp>
        <p:nvSpPr>
          <p:cNvPr id="34" name="Text 25"/>
          <p:cNvSpPr txBox="1"/>
          <p:nvPr/>
        </p:nvSpPr>
        <p:spPr>
          <a:xfrm>
            <a:off x="8962746"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Audit</a:t>
            </a:r>
            <a:endParaRPr lang="en-US" sz="1250" dirty="0"/>
          </a:p>
        </p:txBody>
      </p:sp>
      <p:pic>
        <p:nvPicPr>
          <p:cNvPr id="35" name="Image 7" descr="preencoded.png">    </p:cNvPr>
          <p:cNvPicPr>
            <a:picLocks noChangeAspect="1"/>
          </p:cNvPicPr>
          <p:nvPr/>
        </p:nvPicPr>
        <p:blipFill>
          <a:blip r:embed="rId8"/>
          <a:stretch>
            <a:fillRect/>
          </a:stretch>
        </p:blipFill>
        <p:spPr>
          <a:xfrm>
            <a:off x="8962746" y="3429000"/>
            <a:ext cx="502920" cy="502920"/>
          </a:xfrm>
          <a:prstGeom prst="rect">
            <a:avLst/>
          </a:prstGeom>
        </p:spPr>
      </p:pic>
      <p:sp>
        <p:nvSpPr>
          <p:cNvPr id="36" name="Text 26"/>
          <p:cNvSpPr txBox="1"/>
          <p:nvPr/>
        </p:nvSpPr>
        <p:spPr>
          <a:xfrm>
            <a:off x="8962746"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Independent assurance: inspections, pooled audits, certifications, testing.</a:t>
            </a:r>
            <a:endParaRPr lang="en-US" sz="1300" dirty="0"/>
          </a:p>
        </p:txBody>
      </p:sp>
      <p:sp>
        <p:nvSpPr>
          <p:cNvPr id="37" name="Text 27"/>
          <p:cNvSpPr txBox="1"/>
          <p:nvPr/>
        </p:nvSpPr>
        <p:spPr>
          <a:xfrm>
            <a:off x="10172598" y="2743200"/>
            <a:ext cx="1081837" cy="548640"/>
          </a:xfrm>
          <a:prstGeom prst="rect">
            <a:avLst/>
          </a:prstGeom>
          <a:noFill/>
          <a:ln/>
        </p:spPr>
        <p:txBody>
          <a:bodyPr wrap="square" lIns="0" tIns="0" rIns="0" bIns="0" rtlCol="0" anchor="t"/>
          <a:lstStyle/>
          <a:p>
            <a:pPr indent="0" marL="0">
              <a:buNone/>
            </a:pPr>
            <a:r>
              <a:rPr lang="en-US" sz="1250" b="1" dirty="0">
                <a:solidFill>
                  <a:schemeClr val="tx1"/>
                </a:solidFill>
                <a:latin typeface="+mj-lt" pitchFamily="34" charset="0"/>
                <a:ea typeface="+mj-lt" pitchFamily="34" charset="-122"/>
                <a:cs typeface="+mj-lt" pitchFamily="34" charset="-120"/>
              </a:rPr>
              <a:t>Exit</a:t>
            </a:r>
            <a:endParaRPr lang="en-US" sz="1250" dirty="0"/>
          </a:p>
        </p:txBody>
      </p:sp>
      <p:pic>
        <p:nvPicPr>
          <p:cNvPr id="38" name="Image 8" descr="preencoded.png">    </p:cNvPr>
          <p:cNvPicPr>
            <a:picLocks noChangeAspect="1"/>
          </p:cNvPicPr>
          <p:nvPr/>
        </p:nvPicPr>
        <p:blipFill>
          <a:blip r:embed="rId9"/>
          <a:stretch>
            <a:fillRect/>
          </a:stretch>
        </p:blipFill>
        <p:spPr>
          <a:xfrm>
            <a:off x="10172598" y="3429000"/>
            <a:ext cx="502920" cy="502920"/>
          </a:xfrm>
          <a:prstGeom prst="rect">
            <a:avLst/>
          </a:prstGeom>
        </p:spPr>
      </p:pic>
      <p:sp>
        <p:nvSpPr>
          <p:cNvPr id="39" name="Text 28"/>
          <p:cNvSpPr txBox="1"/>
          <p:nvPr/>
        </p:nvSpPr>
        <p:spPr>
          <a:xfrm>
            <a:off x="10172598" y="4114800"/>
            <a:ext cx="1081837" cy="2103120"/>
          </a:xfrm>
          <a:prstGeom prst="rect">
            <a:avLst/>
          </a:prstGeom>
          <a:noFill/>
          <a:ln/>
        </p:spPr>
        <p:txBody>
          <a:bodyPr wrap="square" lIns="0" tIns="0" rIns="0" bIns="0" rtlCol="0" anchor="t"/>
          <a:lstStyle/>
          <a:p>
            <a:pPr indent="0" marL="0">
              <a:buNone/>
            </a:pPr>
            <a:r>
              <a:rPr lang="en-US" sz="1300" dirty="0">
                <a:solidFill>
                  <a:schemeClr val="tx1"/>
                </a:solidFill>
              </a:rPr>
              <a:t>A tested plan to leave: data returned, service moved, access removed.</a:t>
            </a:r>
            <a:endParaRPr lang="en-US" sz="13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Worked example: a SaaS fraud screening provider</a:t>
            </a:r>
            <a:endParaRPr lang="en-US" sz="3000" dirty="0"/>
          </a:p>
        </p:txBody>
      </p:sp>
      <p:sp>
        <p:nvSpPr>
          <p:cNvPr id="3" name="Text 1"/>
          <p:cNvSpPr txBox="1"/>
          <p:nvPr/>
        </p:nvSpPr>
        <p:spPr>
          <a:xfrm>
            <a:off x="457200" y="1005840"/>
            <a:ext cx="11277295" cy="365760"/>
          </a:xfrm>
          <a:prstGeom prst="rect">
            <a:avLst/>
          </a:prstGeom>
          <a:noFill/>
          <a:ln/>
        </p:spPr>
        <p:txBody>
          <a:bodyPr wrap="square" lIns="0" tIns="0" rIns="0" bIns="0" rtlCol="0" anchor="t"/>
          <a:lstStyle/>
          <a:p>
            <a:pPr indent="0" marL="0">
              <a:buNone/>
            </a:pPr>
            <a:r>
              <a:rPr lang="en-US" sz="1400" dirty="0">
                <a:solidFill>
                  <a:schemeClr val="tx2"/>
                </a:solidFill>
              </a:rPr>
              <a:t>Traces to SCM-003 and SOC-UC-003 · Bracketed values are placeholders</a:t>
            </a:r>
            <a:endParaRPr lang="en-US" sz="1400" dirty="0"/>
          </a:p>
        </p:txBody>
      </p:sp>
      <p:sp>
        <p:nvSpPr>
          <p:cNvPr id="4" name="Stage 1"/>
          <p:cNvSpPr/>
          <p:nvPr/>
        </p:nvSpPr>
        <p:spPr>
          <a:xfrm>
            <a:off x="457200" y="1554480"/>
            <a:ext cx="1415593" cy="457200"/>
          </a:xfrm>
          <a:prstGeom prst="homePlate">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01</a:t>
            </a:r>
            <a:endParaRPr lang="en-US" sz="1300" dirty="0"/>
          </a:p>
        </p:txBody>
      </p:sp>
      <p:sp>
        <p:nvSpPr>
          <p:cNvPr id="5" name="Stage 2"/>
          <p:cNvSpPr/>
          <p:nvPr/>
        </p:nvSpPr>
        <p:spPr>
          <a:xfrm>
            <a:off x="1689913"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02</a:t>
            </a:r>
            <a:endParaRPr lang="en-US" sz="1300" dirty="0"/>
          </a:p>
        </p:txBody>
      </p:sp>
      <p:sp>
        <p:nvSpPr>
          <p:cNvPr id="6" name="Stage 3"/>
          <p:cNvSpPr/>
          <p:nvPr/>
        </p:nvSpPr>
        <p:spPr>
          <a:xfrm>
            <a:off x="2922626"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03</a:t>
            </a:r>
            <a:endParaRPr lang="en-US" sz="1300" dirty="0"/>
          </a:p>
        </p:txBody>
      </p:sp>
      <p:sp>
        <p:nvSpPr>
          <p:cNvPr id="7" name="Stage 4"/>
          <p:cNvSpPr/>
          <p:nvPr/>
        </p:nvSpPr>
        <p:spPr>
          <a:xfrm>
            <a:off x="4155338"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04</a:t>
            </a:r>
            <a:endParaRPr lang="en-US" sz="1300" dirty="0"/>
          </a:p>
        </p:txBody>
      </p:sp>
      <p:sp>
        <p:nvSpPr>
          <p:cNvPr id="8" name="Stage 5"/>
          <p:cNvSpPr/>
          <p:nvPr/>
        </p:nvSpPr>
        <p:spPr>
          <a:xfrm>
            <a:off x="5388051" y="1554480"/>
            <a:ext cx="1415593" cy="457200"/>
          </a:xfrm>
          <a:prstGeom prst="chevron">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05</a:t>
            </a:r>
            <a:endParaRPr lang="en-US" sz="1300" dirty="0"/>
          </a:p>
        </p:txBody>
      </p:sp>
      <p:sp>
        <p:nvSpPr>
          <p:cNvPr id="9" name="Stage 6"/>
          <p:cNvSpPr/>
          <p:nvPr/>
        </p:nvSpPr>
        <p:spPr>
          <a:xfrm>
            <a:off x="6620764"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06</a:t>
            </a:r>
            <a:endParaRPr lang="en-US" sz="1300" dirty="0"/>
          </a:p>
        </p:txBody>
      </p:sp>
      <p:sp>
        <p:nvSpPr>
          <p:cNvPr id="10" name="Stage 7"/>
          <p:cNvSpPr/>
          <p:nvPr/>
        </p:nvSpPr>
        <p:spPr>
          <a:xfrm>
            <a:off x="7853477"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07</a:t>
            </a:r>
            <a:endParaRPr lang="en-US" sz="1300" dirty="0"/>
          </a:p>
        </p:txBody>
      </p:sp>
      <p:sp>
        <p:nvSpPr>
          <p:cNvPr id="11" name="Stage 8"/>
          <p:cNvSpPr/>
          <p:nvPr/>
        </p:nvSpPr>
        <p:spPr>
          <a:xfrm>
            <a:off x="9086190"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08</a:t>
            </a:r>
            <a:endParaRPr lang="en-US" sz="1300" dirty="0"/>
          </a:p>
        </p:txBody>
      </p:sp>
      <p:sp>
        <p:nvSpPr>
          <p:cNvPr id="12" name="Stage 9"/>
          <p:cNvSpPr/>
          <p:nvPr/>
        </p:nvSpPr>
        <p:spPr>
          <a:xfrm>
            <a:off x="10318902" y="1554480"/>
            <a:ext cx="1415593" cy="457200"/>
          </a:xfrm>
          <a:prstGeom prst="chevron">
            <a:avLst/>
          </a:prstGeom>
          <a:solidFill>
            <a:schemeClr val="accent2"/>
          </a:solidFill>
          <a:ln/>
        </p:spPr>
        <p:txBody>
          <a:bodyPr wrap="square" lIns="25400" tIns="25400" rIns="25400" bIns="25400" rtlCol="0" anchor="ctr"/>
          <a:lstStyle/>
          <a:p>
            <a:pPr algn="ctr" indent="0" marL="0">
              <a:buNone/>
            </a:pPr>
            <a:r>
              <a:rPr lang="en-US" sz="1300" b="1" dirty="0">
                <a:solidFill>
                  <a:schemeClr val="bg1"/>
                </a:solidFill>
              </a:rPr>
              <a:t>09</a:t>
            </a:r>
            <a:endParaRPr lang="en-US" sz="1300" dirty="0"/>
          </a:p>
        </p:txBody>
      </p:sp>
      <p:sp>
        <p:nvSpPr>
          <p:cNvPr id="13" name="Example 01"/>
          <p:cNvSpPr txBox="1"/>
          <p:nvPr/>
        </p:nvSpPr>
        <p:spPr>
          <a:xfrm>
            <a:off x="45720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Need</a:t>
            </a:r>
            <a:endParaRPr lang="en-US" sz="1200" dirty="0"/>
          </a:p>
          <a:p>
            <a:pPr indent="0" marL="0">
              <a:spcAft>
                <a:spcPts val="600"/>
              </a:spcAft>
              <a:buNone/>
            </a:pPr>
            <a:r>
              <a:rPr lang="en-US" sz="1200" dirty="0">
                <a:solidFill>
                  <a:schemeClr val="tx1"/>
                </a:solidFill>
              </a:rPr>
              <a:t>Fraud screening for customer portal payments. It supports a critical function.</a:t>
            </a:r>
            <a:endParaRPr lang="en-US" sz="1200" dirty="0"/>
          </a:p>
        </p:txBody>
      </p:sp>
      <p:sp>
        <p:nvSpPr>
          <p:cNvPr id="14" name="Example 02"/>
          <p:cNvSpPr txBox="1"/>
          <p:nvPr/>
        </p:nvSpPr>
        <p:spPr>
          <a:xfrm>
            <a:off x="1689913"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Risk assessment</a:t>
            </a:r>
            <a:endParaRPr lang="en-US" sz="1200" dirty="0"/>
          </a:p>
          <a:p>
            <a:pPr indent="0" marL="0">
              <a:spcAft>
                <a:spcPts val="600"/>
              </a:spcAft>
              <a:buNone/>
            </a:pPr>
            <a:r>
              <a:rPr lang="en-US" sz="1200" dirty="0">
                <a:solidFill>
                  <a:schemeClr val="tx1"/>
                </a:solidFill>
              </a:rPr>
              <a:t>Inherent risk High: customer data processed, service in the payment path, few alternative providers.</a:t>
            </a:r>
            <a:endParaRPr lang="en-US" sz="1200" dirty="0"/>
          </a:p>
        </p:txBody>
      </p:sp>
      <p:sp>
        <p:nvSpPr>
          <p:cNvPr id="15" name="Example 03"/>
          <p:cNvSpPr txBox="1"/>
          <p:nvPr/>
        </p:nvSpPr>
        <p:spPr>
          <a:xfrm>
            <a:off x="2922626"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Due diligence</a:t>
            </a:r>
            <a:endParaRPr lang="en-US" sz="1200" dirty="0"/>
          </a:p>
          <a:p>
            <a:pPr indent="0" marL="0">
              <a:spcAft>
                <a:spcPts val="600"/>
              </a:spcAft>
              <a:buNone/>
            </a:pPr>
            <a:r>
              <a:rPr lang="en-US" sz="1200" dirty="0">
                <a:solidFill>
                  <a:schemeClr val="tx1"/>
                </a:solidFill>
              </a:rPr>
              <a:t>ISO 27001 certificate and SOC 2 Type II report reviewed. Two subcontractors identified. Financial standing checked.</a:t>
            </a:r>
            <a:endParaRPr lang="en-US" sz="1200" dirty="0"/>
          </a:p>
        </p:txBody>
      </p:sp>
      <p:sp>
        <p:nvSpPr>
          <p:cNvPr id="16" name="Example 04"/>
          <p:cNvSpPr txBox="1"/>
          <p:nvPr/>
        </p:nvSpPr>
        <p:spPr>
          <a:xfrm>
            <a:off x="4155338"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Procurement</a:t>
            </a:r>
            <a:endParaRPr lang="en-US" sz="1200" dirty="0"/>
          </a:p>
          <a:p>
            <a:pPr indent="0" marL="0">
              <a:spcAft>
                <a:spcPts val="600"/>
              </a:spcAft>
              <a:buNone/>
            </a:pPr>
            <a:r>
              <a:rPr lang="en-US" sz="1200" dirty="0">
                <a:solidFill>
                  <a:schemeClr val="tx1"/>
                </a:solidFill>
              </a:rPr>
              <a:t>Three providers scored. Security and resilience carry [30%] of the score. No conflicts declared.</a:t>
            </a:r>
            <a:endParaRPr lang="en-US" sz="1200" dirty="0"/>
          </a:p>
        </p:txBody>
      </p:sp>
      <p:sp>
        <p:nvSpPr>
          <p:cNvPr id="17" name="Example 05"/>
          <p:cNvSpPr txBox="1"/>
          <p:nvPr/>
        </p:nvSpPr>
        <p:spPr>
          <a:xfrm>
            <a:off x="5388051"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1"/>
                </a:solidFill>
              </a:rPr>
              <a:t>Contract</a:t>
            </a:r>
            <a:endParaRPr lang="en-US" sz="1200" dirty="0"/>
          </a:p>
          <a:p>
            <a:pPr indent="0" marL="0">
              <a:spcAft>
                <a:spcPts val="600"/>
              </a:spcAft>
              <a:buNone/>
            </a:pPr>
            <a:r>
              <a:rPr lang="en-US" sz="1200" dirty="0">
                <a:solidFill>
                  <a:schemeClr val="tx1"/>
                </a:solidFill>
              </a:rPr>
              <a:t>DORA Art. 30 clauses agreed: audit and access rights, incident support, EU data location, transition period.</a:t>
            </a:r>
            <a:endParaRPr lang="en-US" sz="1200" dirty="0"/>
          </a:p>
        </p:txBody>
      </p:sp>
      <p:sp>
        <p:nvSpPr>
          <p:cNvPr id="18" name="Example 06"/>
          <p:cNvSpPr txBox="1"/>
          <p:nvPr/>
        </p:nvSpPr>
        <p:spPr>
          <a:xfrm>
            <a:off x="6620764"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Onboarding</a:t>
            </a:r>
            <a:endParaRPr lang="en-US" sz="1200" dirty="0"/>
          </a:p>
          <a:p>
            <a:pPr indent="0" marL="0">
              <a:spcAft>
                <a:spcPts val="600"/>
              </a:spcAft>
              <a:buNone/>
            </a:pPr>
            <a:r>
              <a:rPr lang="en-US" sz="1200" dirty="0">
                <a:solidFill>
                  <a:schemeClr val="tx1"/>
                </a:solidFill>
              </a:rPr>
              <a:t>Entry added to the register of information. Provider logs sent to the SIEM. Access through PAM.</a:t>
            </a:r>
            <a:endParaRPr lang="en-US" sz="1200" dirty="0"/>
          </a:p>
        </p:txBody>
      </p:sp>
      <p:sp>
        <p:nvSpPr>
          <p:cNvPr id="19" name="Example 07"/>
          <p:cNvSpPr txBox="1"/>
          <p:nvPr/>
        </p:nvSpPr>
        <p:spPr>
          <a:xfrm>
            <a:off x="7853477"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Monitoring</a:t>
            </a:r>
            <a:endParaRPr lang="en-US" sz="1200" dirty="0"/>
          </a:p>
          <a:p>
            <a:pPr indent="0" marL="0">
              <a:spcAft>
                <a:spcPts val="600"/>
              </a:spcAft>
              <a:buNone/>
            </a:pPr>
            <a:r>
              <a:rPr lang="en-US" sz="1200" dirty="0">
                <a:solidFill>
                  <a:schemeClr val="tx1"/>
                </a:solidFill>
              </a:rPr>
              <a:t>Monthly service review. Availability and incident service levels tracked. Provider incidents go to the SOC.</a:t>
            </a:r>
            <a:endParaRPr lang="en-US" sz="1200" dirty="0"/>
          </a:p>
        </p:txBody>
      </p:sp>
      <p:sp>
        <p:nvSpPr>
          <p:cNvPr id="20" name="Example 08"/>
          <p:cNvSpPr txBox="1"/>
          <p:nvPr/>
        </p:nvSpPr>
        <p:spPr>
          <a:xfrm>
            <a:off x="9086190"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Audit</a:t>
            </a:r>
            <a:endParaRPr lang="en-US" sz="1200" dirty="0"/>
          </a:p>
          <a:p>
            <a:pPr indent="0" marL="0">
              <a:spcAft>
                <a:spcPts val="600"/>
              </a:spcAft>
              <a:buNone/>
            </a:pPr>
            <a:r>
              <a:rPr lang="en-US" sz="1200" dirty="0">
                <a:solidFill>
                  <a:schemeClr val="tx1"/>
                </a:solidFill>
              </a:rPr>
              <a:t>Annual assurance review. On-site or pooled audit every [3 years]. Findings tracked to closure.</a:t>
            </a:r>
            <a:endParaRPr lang="en-US" sz="1200" dirty="0"/>
          </a:p>
        </p:txBody>
      </p:sp>
      <p:sp>
        <p:nvSpPr>
          <p:cNvPr id="21" name="Example 09"/>
          <p:cNvSpPr txBox="1"/>
          <p:nvPr/>
        </p:nvSpPr>
        <p:spPr>
          <a:xfrm>
            <a:off x="10318902" y="2194560"/>
            <a:ext cx="1141273" cy="3383280"/>
          </a:xfrm>
          <a:prstGeom prst="rect">
            <a:avLst/>
          </a:prstGeom>
          <a:solidFill>
            <a:schemeClr val="bg1"/>
          </a:solidFill>
          <a:ln/>
        </p:spPr>
        <p:txBody>
          <a:bodyPr wrap="square" lIns="88900" tIns="88900" rIns="88900" bIns="88900" rtlCol="0" anchor="t"/>
          <a:lstStyle/>
          <a:p>
            <a:pPr indent="0" marL="0">
              <a:spcAft>
                <a:spcPts val="600"/>
              </a:spcAft>
              <a:buNone/>
            </a:pPr>
            <a:r>
              <a:rPr lang="en-US" sz="1200" b="1" dirty="0">
                <a:solidFill>
                  <a:schemeClr val="accent2"/>
                </a:solidFill>
              </a:rPr>
              <a:t>Exit</a:t>
            </a:r>
            <a:endParaRPr lang="en-US" sz="1200" dirty="0"/>
          </a:p>
          <a:p>
            <a:pPr indent="0" marL="0">
              <a:spcAft>
                <a:spcPts val="600"/>
              </a:spcAft>
              <a:buNone/>
            </a:pPr>
            <a:r>
              <a:rPr lang="en-US" sz="1200" dirty="0">
                <a:solidFill>
                  <a:schemeClr val="tx1"/>
                </a:solidFill>
              </a:rPr>
              <a:t>Exit plan tested: data export verified, alternative provider identified, [6-month] transition period.</a:t>
            </a:r>
            <a:endParaRPr lang="en-US" sz="1200" dirty="0"/>
          </a:p>
        </p:txBody>
      </p:sp>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Third-party risk matrix: what the risk is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146844"/>
                <a:gridCol w="1783979"/>
                <a:gridCol w="2038833"/>
                <a:gridCol w="2421114"/>
                <a:gridCol w="1083130"/>
                <a:gridCol w="2803395"/>
              </a:tblGrid>
              <a:tr h="509016">
                <a:tc>
                  <a:txBody>
                    <a:bodyPr/>
                    <a:lstStyle/>
                    <a:p>
                      <a:pPr indent="0" marL="0">
                        <a:buNone/>
                      </a:pPr>
                      <a:r>
                        <a:rPr lang="en-US" sz="1200" b="1" dirty="0">
                          <a:solidFill>
                            <a:schemeClr val="bg1"/>
                          </a:solidFill>
                        </a:rPr>
                        <a:t>ID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Provider type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Function supported</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Risk scenario</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Inherent risk</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Due diligence</a:t>
                      </a:r>
                      <a:endParaRPr lang="en-US" sz="12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r>
              <a:tr h="880872">
                <a:tc>
                  <a:txBody>
                    <a:bodyPr/>
                    <a:lstStyle/>
                    <a:p>
                      <a:pPr indent="0" marL="0">
                        <a:buNone/>
                      </a:pPr>
                      <a:r>
                        <a:rPr lang="en-US" sz="1200" b="1" dirty="0">
                          <a:solidFill>
                            <a:schemeClr val="tx1"/>
                          </a:solidFill>
                        </a:rPr>
                        <a:t>TPR-001</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Cloud infrastructure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Hosts the customer portal and the payments API. 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Region outage or provider failure. Concentration on one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bg1"/>
                          </a:solidFill>
                        </a:rPr>
                        <a:t>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ISO 27001 and SOC 2 Type II reports, resilience architecture review, concentration assessment (Art. 29)</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80872">
                <a:tc>
                  <a:txBody>
                    <a:bodyPr/>
                    <a:lstStyle/>
                    <a:p>
                      <a:pPr indent="0" marL="0">
                        <a:buNone/>
                      </a:pPr>
                      <a:r>
                        <a:rPr lang="en-US" sz="1200" b="1" dirty="0">
                          <a:solidFill>
                            <a:schemeClr val="tx1"/>
                          </a:solidFill>
                        </a:rPr>
                        <a:t>TPR-002</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SaaS business application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Fraud screening in the payment path. Critical.</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provider breach exposes customer data, or the service stops.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Security questionnaire with evidence, penetration test summary, subcontractor list, data protection review</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TPR-003</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Managed security service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Outsourced monitoring or response.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missed detection, or misuse of the provider’s privileged access.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Analyst vetting, tooling and process review, reference checks, SOC 2 Type II report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694944">
                <a:tc>
                  <a:txBody>
                    <a:bodyPr/>
                    <a:lstStyle/>
                    <a:p>
                      <a:pPr indent="0" marL="0">
                        <a:buNone/>
                      </a:pPr>
                      <a:r>
                        <a:rPr lang="en-US" sz="1200" b="1" dirty="0">
                          <a:solidFill>
                            <a:schemeClr val="tx1"/>
                          </a:solidFill>
                        </a:rPr>
                        <a:t>TPR-004</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Software or hardware product vendor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SIEM platform, network devices, security agents. Important.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 compromised update or an unpatched vulnerability in the product.</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Secure development evidence, SBOM, vulnerability handling process, support period</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880872">
                <a:tc>
                  <a:txBody>
                    <a:bodyPr/>
                    <a:lstStyle/>
                    <a:p>
                      <a:pPr indent="0" marL="0">
                        <a:buNone/>
                      </a:pPr>
                      <a:r>
                        <a:rPr lang="en-US" sz="1200" b="1" dirty="0">
                          <a:solidFill>
                            <a:schemeClr val="tx1"/>
                          </a:solidFill>
                        </a:rPr>
                        <a:t>TPR-005</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AI model or AI-enabled service provider</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Decision support or a customer-facing assistant. [Criticality]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 unannounced model change, entity data used for training, or unclear AI Act duties.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High</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00" dirty="0">
                          <a:solidFill>
                            <a:schemeClr val="tx1"/>
                          </a:solidFill>
                        </a:rPr>
                        <a:t>Model documentation, instructions for use, training-data terms, AI Act role analysis</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23088">
                <a:tc>
                  <a:txBody>
                    <a:bodyPr/>
                    <a:lstStyle/>
                    <a:p>
                      <a:pPr indent="0" marL="0">
                        <a:buNone/>
                      </a:pPr>
                      <a:r>
                        <a:rPr lang="en-US" sz="1200" b="1" dirty="0">
                          <a:solidFill>
                            <a:schemeClr val="tx2"/>
                          </a:solidFill>
                        </a:rPr>
                        <a:t>TPR-0NN</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[Provider type]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[Function, criticality]</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[Scenario]</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[Rating]</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00" i="1" dirty="0">
                          <a:solidFill>
                            <a:schemeClr val="tx2"/>
                          </a:solidFill>
                        </a:rPr>
                        <a:t>[Evidence]</a:t>
                      </a:r>
                      <a:endParaRPr lang="en-US" sz="12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Third-party risk matrix: how it is controlled</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040981"/>
                <a:gridCol w="2544620"/>
                <a:gridCol w="2197627"/>
                <a:gridCol w="2313291"/>
                <a:gridCol w="2197627"/>
                <a:gridCol w="983149"/>
              </a:tblGrid>
              <a:tr h="493522">
                <a:tc>
                  <a:txBody>
                    <a:bodyPr/>
                    <a:lstStyle/>
                    <a:p>
                      <a:pPr indent="0" marL="0">
                        <a:buNone/>
                      </a:pPr>
                      <a:r>
                        <a:rPr lang="en-US" sz="1150" b="1" dirty="0">
                          <a:solidFill>
                            <a:schemeClr val="bg1"/>
                          </a:solidFill>
                        </a:rPr>
                        <a:t>ID</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50" b="1" dirty="0">
                          <a:solidFill>
                            <a:schemeClr val="bg1"/>
                          </a:solidFill>
                        </a:rPr>
                        <a:t>Contract clauses</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Monitoring</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Audit and assurance</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Exit strategy</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150" b="1" dirty="0">
                          <a:solidFill>
                            <a:schemeClr val="bg1"/>
                          </a:solidFill>
                        </a:rPr>
                        <a:t>Residual risk</a:t>
                      </a:r>
                      <a:endParaRPr lang="en-US" sz="11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849884">
                <a:tc>
                  <a:txBody>
                    <a:bodyPr/>
                    <a:lstStyle/>
                    <a:p>
                      <a:pPr indent="0" marL="0">
                        <a:buNone/>
                      </a:pPr>
                      <a:r>
                        <a:rPr lang="en-US" sz="1150" b="1" dirty="0">
                          <a:solidFill>
                            <a:schemeClr val="tx1"/>
                          </a:solidFill>
                        </a:rPr>
                        <a:t>TPR-001</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Quantitative service levels, data location, access and audit rights, TLPT cooperation, transition period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Service health feeds to the NOC, monthly service review, provider incident notices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Pooled audit or certification review each year. Own inspection right retained.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Multi-region design, tested failover, documented migration path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Data protection terms, incident assistance, subcontracting conditions, data return on termination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Availability and incident service levels, provider logs to the SIEM (CIS 8.12)</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Annual assurance review. On-site or pooled audit every [3 years].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Data export tested, alternative provider identified, [6-month] transition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TPR-003</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Detection and response service levels, reporting duties, staff vetting, audit rights, awareness training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Monthly KPI review against the SOC KPIs, joint incident exercises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Annual service audit. Detection tested in purple-team exercises.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Use cases and playbooks owned by the entity. Handover plan.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TPR-004</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Vulnerability notification, patch timelines, support period, SBOM delivery</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Vendor advisories tracked, patch service level measured (CIS 7), end-of-life watch</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Review of security attestations. Own testing before deployment.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Replacement roadmap. Configuration and data portable.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849884">
                <a:tc>
                  <a:txBody>
                    <a:bodyPr/>
                    <a:lstStyle/>
                    <a:p>
                      <a:pPr indent="0" marL="0">
                        <a:buNone/>
                      </a:pPr>
                      <a:r>
                        <a:rPr lang="en-US" sz="1150" b="1" dirty="0">
                          <a:solidFill>
                            <a:schemeClr val="tx1"/>
                          </a:solidFill>
                        </a:rPr>
                        <a:t>TPR-005</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Written agreement on duties (AI Act Art. 25), no training on entity data, change notice, logging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Output quality and drift checks, incident reports, change notices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Review against ISO/IEC 42001 controls. Testing of model behaviour.</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dirty="0">
                          <a:solidFill>
                            <a:schemeClr val="tx1"/>
                          </a:solidFill>
                        </a:rPr>
                        <a:t>Prompts, data and logs exportable. Alternative model identified.</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b="1" dirty="0">
                          <a:solidFill>
                            <a:schemeClr val="tx1"/>
                          </a:solidFill>
                        </a:rPr>
                        <a:t>Medium</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r>
              <a:tr h="315341">
                <a:tc>
                  <a:txBody>
                    <a:bodyPr/>
                    <a:lstStyle/>
                    <a:p>
                      <a:pPr indent="0" marL="0">
                        <a:buNone/>
                      </a:pPr>
                      <a:r>
                        <a:rPr lang="en-US" sz="1150" b="1" dirty="0">
                          <a:solidFill>
                            <a:schemeClr val="tx2"/>
                          </a:solidFill>
                        </a:rPr>
                        <a:t>TPR-0NN</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[Clauses]</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[Monitoring]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[Assurance]</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[Exit]</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50" i="1" dirty="0">
                          <a:solidFill>
                            <a:schemeClr val="tx2"/>
                          </a:solidFill>
                        </a:rPr>
                        <a:t>[Rating]</a:t>
                      </a:r>
                      <a:endParaRPr lang="en-US" sz="11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Provider tiering</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Hybrid: tier by description or by numbers. Bracketed values are placeholders to set against your own risk appetite.</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015973"/>
                <a:gridCol w="2641529"/>
                <a:gridCol w="2336737"/>
                <a:gridCol w="2031945"/>
                <a:gridCol w="1219167"/>
                <a:gridCol w="2031945"/>
              </a:tblGrid>
              <a:tr h="524510">
                <a:tc>
                  <a:txBody>
                    <a:bodyPr/>
                    <a:lstStyle/>
                    <a:p>
                      <a:pPr indent="0" marL="0">
                        <a:buNone/>
                      </a:pPr>
                      <a:r>
                        <a:rPr lang="en-US" sz="1250" b="1" dirty="0">
                          <a:solidFill>
                            <a:schemeClr val="bg1"/>
                          </a:solidFill>
                        </a:rPr>
                        <a:t>Tier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Qualitative criteria</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Quantitative trigger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250" b="1" dirty="0">
                          <a:solidFill>
                            <a:schemeClr val="bg1"/>
                          </a:solidFill>
                        </a:rPr>
                        <a:t>Due diligence depth</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Review cycle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Audit approach</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718185">
                <a:tc>
                  <a:txBody>
                    <a:bodyPr/>
                    <a:lstStyle/>
                    <a:p>
                      <a:pPr indent="0" marL="0">
                        <a:buNone/>
                      </a:pPr>
                      <a:r>
                        <a:rPr lang="en-US" sz="1250" b="1" dirty="0">
                          <a:solidFill>
                            <a:schemeClr val="bg1"/>
                          </a:solidFill>
                        </a:rPr>
                        <a:t>Tier 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6"/>
                    </a:solidFill>
                  </a:tcPr>
                </a:tc>
                <a:tc>
                  <a:txBody>
                    <a:bodyPr/>
                    <a:lstStyle/>
                    <a:p>
                      <a:pPr indent="0" marL="0">
                        <a:buNone/>
                      </a:pPr>
                      <a:r>
                        <a:rPr lang="en-US" sz="1250" dirty="0">
                          <a:solidFill>
                            <a:schemeClr val="tx1"/>
                          </a:solidFill>
                        </a:rPr>
                        <a:t>Supports a critical or important function. Failure stops the service.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 X clients affected], [RTO under Y hours] or [spend over €Z]</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Full assessment, exit plan tested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[Annual]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Own or pooled audit, plus certifications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Tier 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5"/>
                    </a:solidFill>
                  </a:tcPr>
                </a:tc>
                <a:tc>
                  <a:txBody>
                    <a:bodyPr/>
                    <a:lstStyle/>
                    <a:p>
                      <a:pPr indent="0" marL="0">
                        <a:buNone/>
                      </a:pPr>
                      <a:r>
                        <a:rPr lang="en-US" sz="1250" dirty="0">
                          <a:solidFill>
                            <a:schemeClr val="tx1"/>
                          </a:solidFill>
                        </a:rPr>
                        <a:t>Handles confidential or personal data, or holds privileged access.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[Over X records] or [any privileged account]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Full questionnaire with evidence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[Annual]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Certification and report review, audit on trigger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718185">
                <a:tc>
                  <a:txBody>
                    <a:bodyPr/>
                    <a:lstStyle/>
                    <a:p>
                      <a:pPr indent="0" marL="0">
                        <a:buNone/>
                      </a:pPr>
                      <a:r>
                        <a:rPr lang="en-US" sz="1250" b="1" dirty="0">
                          <a:solidFill>
                            <a:schemeClr val="tx1"/>
                          </a:solidFill>
                        </a:rPr>
                        <a:t>Tier 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250" dirty="0">
                          <a:solidFill>
                            <a:schemeClr val="tx1"/>
                          </a:solidFill>
                        </a:rPr>
                        <a:t>Business service with limited data and no privileged access.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Below Tier 2 thresholds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Short questionnaire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[Every 2 years]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Certification review</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Tier 4</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3"/>
                    </a:solidFill>
                  </a:tcPr>
                </a:tc>
                <a:tc>
                  <a:txBody>
                    <a:bodyPr/>
                    <a:lstStyle/>
                    <a:p>
                      <a:pPr indent="0" marL="0">
                        <a:buNone/>
                      </a:pPr>
                      <a:r>
                        <a:rPr lang="en-US" sz="1250" dirty="0">
                          <a:solidFill>
                            <a:schemeClr val="tx1"/>
                          </a:solidFill>
                        </a:rPr>
                        <a:t>Commodity supply with no data or system access.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None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250" dirty="0">
                          <a:solidFill>
                            <a:schemeClr val="tx1"/>
                          </a:solidFill>
                        </a:rPr>
                        <a:t>Basic checks at onboarding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renewal]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None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Risk assessment domains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What is assessed before signing, and the evidence that supports it.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701852"/>
                <a:gridCol w="4346458"/>
                <a:gridCol w="4228986"/>
              </a:tblGrid>
              <a:tr h="365760">
                <a:tc>
                  <a:txBody>
                    <a:bodyPr/>
                    <a:lstStyle/>
                    <a:p>
                      <a:pPr indent="0" marL="0">
                        <a:buNone/>
                      </a:pPr>
                      <a:r>
                        <a:rPr lang="en-US" sz="1250" b="1" dirty="0">
                          <a:solidFill>
                            <a:schemeClr val="bg1"/>
                          </a:solidFill>
                        </a:rPr>
                        <a:t>Domain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is assessed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Typical evidence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Information security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Control environment, access management, vulnerability handling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 27001 certificate, SOC 2 Type II report, penetration test summary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Operational resilience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Continuity, recovery times, capacity, redundancy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Continuity and recovery test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Data protection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Personal data processed, data location, transfers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Data processing agreement, transfer assessment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Concentration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Dependence on one provider and how easily it can be replaced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Register of information, market analysis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Subcontracting chain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Who else delivers the service and under what terms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Subcontractor list, flow-down clauses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Financial and legal standing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Solvency, sanctions, litigation, insurance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Accounts, screening results, insurance certificate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Access and integration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Privileged access, connectivity, logging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Architecture review, PAM design, log specification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Use of AI</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Where the provider supplies or relies on AI</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Model documentation, instructions for use, training-data terms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Procurement gates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Each gate has one decision, one owner and one output.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1595844"/>
                <a:gridCol w="3404466"/>
                <a:gridCol w="1915012"/>
                <a:gridCol w="1915012"/>
                <a:gridCol w="2446960"/>
              </a:tblGrid>
              <a:tr h="365760">
                <a:tc>
                  <a:txBody>
                    <a:bodyPr/>
                    <a:lstStyle/>
                    <a:p>
                      <a:pPr indent="0" marL="0">
                        <a:buNone/>
                      </a:pPr>
                      <a:r>
                        <a:rPr lang="en-US" sz="1250" b="1" dirty="0">
                          <a:solidFill>
                            <a:schemeClr val="bg1"/>
                          </a:solidFill>
                        </a:rPr>
                        <a:t>Gate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Decision</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Owner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Output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DORA anchor</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1 Intake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 this an ICT service? Does it support a critical or important function?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Business owner, third-party 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Criticality assessment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28(4)(a)</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2 Risk assessment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Are the inherent risk and the concentration risk acceptable?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Third-party risk, security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Risk assessment record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28(4)(c), Art. 29, Del. Reg. 2024/1773 Art. 5</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3 Due diligence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Does the provider meet security, resilience and legal standards?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Security, DPO, legal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Due diligence report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28(4)(d), Art. 28(5), Del. Reg. 2024/1773 Art. 6</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4 Selection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Which provider wins on weighted criteria? Is there a conflict of interest?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Procurement, business owner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Scoring sheet, conflict declaration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28(4)(e), Del. Reg. 2024/1773 Art. 7</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718185">
                <a:tc>
                  <a:txBody>
                    <a:bodyPr/>
                    <a:lstStyle/>
                    <a:p>
                      <a:pPr indent="0" marL="0">
                        <a:buNone/>
                      </a:pPr>
                      <a:r>
                        <a:rPr lang="en-US" sz="1250" b="1" dirty="0">
                          <a:solidFill>
                            <a:schemeClr val="tx1"/>
                          </a:solidFill>
                        </a:rPr>
                        <a:t>5 Contract approval</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Are all mandatory clauses in? Is the authority informed of a planned critical arrangement?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Legal, third-party risk</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Clause checklist, notification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30, Art. 28(3), Del. Reg. 2024/1773 Art. 8</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r h="524510">
                <a:tc>
                  <a:txBody>
                    <a:bodyPr/>
                    <a:lstStyle/>
                    <a:p>
                      <a:pPr indent="0" marL="0">
                        <a:buNone/>
                      </a:pPr>
                      <a:r>
                        <a:rPr lang="en-US" sz="1250" b="1" dirty="0">
                          <a:solidFill>
                            <a:schemeClr val="tx1"/>
                          </a:solidFill>
                        </a:rPr>
                        <a:t>6 Go-live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 the register updated, access controlled and monitoring switched 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Service owner, SOC and NOC</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Register entry, onboarding checklist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Art. 28(3), Impl. Reg. 2024/2956</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Contract clause checklist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5136194"/>
                <a:gridCol w="1786502"/>
                <a:gridCol w="2121471"/>
                <a:gridCol w="2233128"/>
              </a:tblGrid>
              <a:tr h="365760">
                <a:tc>
                  <a:txBody>
                    <a:bodyPr/>
                    <a:lstStyle/>
                    <a:p>
                      <a:pPr indent="0" marL="0">
                        <a:buNone/>
                      </a:pPr>
                      <a:r>
                        <a:rPr lang="en-US" sz="1100" b="1" dirty="0">
                          <a:solidFill>
                            <a:schemeClr val="bg1"/>
                          </a:solidFill>
                        </a:rPr>
                        <a:t>Clause</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Applies to</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DORA</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100" b="1" dirty="0">
                          <a:solidFill>
                            <a:schemeClr val="bg1"/>
                          </a:solidFill>
                        </a:rPr>
                        <a:t>Related requirement</a:t>
                      </a:r>
                      <a:endParaRPr lang="en-US" sz="11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307594">
                <a:tc>
                  <a:txBody>
                    <a:bodyPr/>
                    <a:lstStyle/>
                    <a:p>
                      <a:pPr indent="0" marL="0">
                        <a:buNone/>
                      </a:pPr>
                      <a:r>
                        <a:rPr lang="en-US" sz="1100" b="1" dirty="0">
                          <a:solidFill>
                            <a:schemeClr val="tx1"/>
                          </a:solidFill>
                        </a:rPr>
                        <a:t>Service description and subcontracting conditions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30(2)(a)</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28(2), 28(4)</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Locations of service delivery and data processing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30(2)(b)</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44 to 46</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Data availability, authenticity, integrity and confidentiality</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30(2)(c)</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28(3), Art. 32</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Access, recovery and return of data on insolvency or termination</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30(2)(d)</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28(3)(g)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Service level descriptions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ISO/IEC 27001 A.5.20</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Incident assistance at no extra or a pre-agreed cost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30(2)(f)</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33(2)</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Full cooperation with competent authorities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Termination rights and minimum notice periods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30(2)(h), Art. 28(7)</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CIS 15.7</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Participation in security awareness and resilience training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All ICT contracts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Art. 30(2)(i)</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CIS 14</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Precise quantitative and qualitative service level targets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Critical or important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00" dirty="0">
                          <a:solidFill>
                            <a:schemeClr val="tx1"/>
                          </a:solidFill>
                        </a:rPr>
                        <a:t>Art. 30(3)(a)</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Notice periods and reporting of material developments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Critical or important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00" dirty="0">
                          <a:solidFill>
                            <a:schemeClr val="tx1"/>
                          </a:solidFill>
                        </a:rPr>
                        <a:t>Art. 30(3)(b)</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Tested contingency plans and ICT security measures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Critical or important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00" dirty="0">
                          <a:solidFill>
                            <a:schemeClr val="tx1"/>
                          </a:solidFill>
                        </a:rPr>
                        <a:t>Art. 30(3)(c)</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ISO/IEC 27001 A.5.30</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Participation in threat-led penetration testing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Critical or important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00" dirty="0">
                          <a:solidFill>
                            <a:schemeClr val="tx1"/>
                          </a:solidFill>
                        </a:rPr>
                        <a:t>Art. 30(3)(d)</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DORA Art. 26</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Unrestricted access, inspection and audit rights</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Critical or important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00" dirty="0">
                          <a:solidFill>
                            <a:schemeClr val="tx1"/>
                          </a:solidFill>
                        </a:rPr>
                        <a:t>Art. 30(3)(e)</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28(3)(h)</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07594">
                <a:tc>
                  <a:txBody>
                    <a:bodyPr/>
                    <a:lstStyle/>
                    <a:p>
                      <a:pPr indent="0" marL="0">
                        <a:buNone/>
                      </a:pPr>
                      <a:r>
                        <a:rPr lang="en-US" sz="1100" b="1" dirty="0">
                          <a:solidFill>
                            <a:schemeClr val="tx1"/>
                          </a:solidFill>
                        </a:rPr>
                        <a:t>Exit strategy with a mandatory transition period</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100" b="1" dirty="0">
                          <a:solidFill>
                            <a:schemeClr val="tx1"/>
                          </a:solidFill>
                        </a:rPr>
                        <a:t>Critical or important</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F4BF9A"/>
                    </a:solidFill>
                  </a:tcPr>
                </a:tc>
                <a:tc>
                  <a:txBody>
                    <a:bodyPr/>
                    <a:lstStyle/>
                    <a:p>
                      <a:pPr indent="0" marL="0">
                        <a:buNone/>
                      </a:pPr>
                      <a:r>
                        <a:rPr lang="en-US" sz="1100" dirty="0">
                          <a:solidFill>
                            <a:schemeClr val="tx1"/>
                          </a:solidFill>
                        </a:rPr>
                        <a:t>Art. 30(3)(f), Art. 28(8)</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100" dirty="0">
                          <a:solidFill>
                            <a:schemeClr val="tx1"/>
                          </a:solidFill>
                        </a:rPr>
                        <a:t>GDPR Art. 28(3)(g)</a:t>
                      </a:r>
                      <a:endParaRPr lang="en-US" sz="11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Audit and assurance methods</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How to gain assurance over partners and vendors, and where each method stops.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466908"/>
                <a:gridCol w="3289211"/>
                <a:gridCol w="2584380"/>
                <a:gridCol w="2936796"/>
              </a:tblGrid>
              <a:tr h="365760">
                <a:tc>
                  <a:txBody>
                    <a:bodyPr/>
                    <a:lstStyle/>
                    <a:p>
                      <a:pPr indent="0" marL="0">
                        <a:buNone/>
                      </a:pPr>
                      <a:r>
                        <a:rPr lang="en-US" sz="1250" b="1" dirty="0">
                          <a:solidFill>
                            <a:schemeClr val="bg1"/>
                          </a:solidFill>
                        </a:rPr>
                        <a:t>Method</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it gives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When to use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Limits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Own on-site audit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Direct evidence that controls operate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Tier 1, or after a major incident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Costly. Needs skilled auditors.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Pooled audit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One audit shared with other customers of the provider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Large cloud and SaaS providers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Scope is set jointly.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Certifications and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ISO 27001 certificate, SOC 2 Type II, ISAE 3402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Every tier, as a baseline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Scope and period may not cover your service.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Questionnaire with evidence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Self-assessment backed by documents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Tier 2 and Tier 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Self-declared.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Continuous monitoring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Service levels, incidents, external security ratings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Every tier, between audits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Outside-in view only.</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Technical testing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Penetration test results, TLPT participation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Tier 1</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Needs a contract right (Art. 30(3)(d)).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Subcontractor assurance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Evidence that duties flow down the chain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Critical functions with subcontracting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Depends on provider cooperation.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KPIs for the management body</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Targets are placeholders. Each metric names where the evidence comes from.</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706551"/>
                <a:gridCol w="3947053"/>
                <a:gridCol w="1127730"/>
                <a:gridCol w="3495962"/>
              </a:tblGrid>
              <a:tr h="365760">
                <a:tc>
                  <a:txBody>
                    <a:bodyPr/>
                    <a:lstStyle/>
                    <a:p>
                      <a:pPr indent="0" marL="0">
                        <a:buNone/>
                      </a:pPr>
                      <a:r>
                        <a:rPr lang="en-US" sz="1250" b="1" dirty="0">
                          <a:solidFill>
                            <a:schemeClr val="bg1"/>
                          </a:solidFill>
                        </a:rPr>
                        <a:t>Metric</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it shows</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Target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Evidence source</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r>
              <a:tr h="524510">
                <a:tc>
                  <a:txBody>
                    <a:bodyPr/>
                    <a:lstStyle/>
                    <a:p>
                      <a:pPr indent="0" marL="0">
                        <a:buNone/>
                      </a:pPr>
                      <a:r>
                        <a:rPr lang="en-US" sz="1250" b="1" dirty="0">
                          <a:solidFill>
                            <a:schemeClr val="tx1"/>
                          </a:solidFill>
                        </a:rPr>
                        <a:t>Register completeness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ICT contracts recorded with all mandatory fields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Register of information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Due diligence before signing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new contracts with a completed assessment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100%</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Procurement gate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Mandatory clauses in place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contracts that pass the clause checklist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Clause checklist results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Tested exit plans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Tier 1 providers with an exit plan tested in the period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Exit test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Assurance reviews on time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scheduled reviews and audits completed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Assurance calendar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330835">
                <a:tc>
                  <a:txBody>
                    <a:bodyPr/>
                    <a:lstStyle/>
                    <a:p>
                      <a:pPr indent="0" marL="0">
                        <a:buNone/>
                      </a:pPr>
                      <a:r>
                        <a:rPr lang="en-US" sz="1250" b="1" dirty="0">
                          <a:solidFill>
                            <a:schemeClr val="tx1"/>
                          </a:solidFill>
                        </a:rPr>
                        <a:t>Audit findings overdue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Open provider findings past their due date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Findings tracker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Provider incidents notified on time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Provider met the contract notice period</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Incident records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524510">
                <a:tc>
                  <a:txBody>
                    <a:bodyPr/>
                    <a:lstStyle/>
                    <a:p>
                      <a:pPr indent="0" marL="0">
                        <a:buNone/>
                      </a:pPr>
                      <a:r>
                        <a:rPr lang="en-US" sz="1250" b="1" dirty="0">
                          <a:solidFill>
                            <a:schemeClr val="tx1"/>
                          </a:solidFill>
                        </a:rPr>
                        <a:t>Concentration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Share of critical functions that depend on a single provider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[target]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Register of information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Tooling support: Microsoft, QRadar and Sentinel</a:t>
            </a:r>
            <a:endParaRPr lang="en-US" sz="3000" dirty="0"/>
          </a:p>
        </p:txBody>
      </p:sp>
      <p:sp>
        <p:nvSpPr>
          <p:cNvPr id="3" name="Text 1"/>
          <p:cNvSpPr txBox="1"/>
          <p:nvPr/>
        </p:nvSpPr>
        <p:spPr>
          <a:xfrm>
            <a:off x="457200" y="987552"/>
            <a:ext cx="11277295" cy="502920"/>
          </a:xfrm>
          <a:prstGeom prst="rect">
            <a:avLst/>
          </a:prstGeom>
          <a:noFill/>
          <a:ln/>
        </p:spPr>
        <p:txBody>
          <a:bodyPr wrap="square" lIns="0" tIns="0" rIns="0" bIns="0" rtlCol="0" anchor="t"/>
          <a:lstStyle/>
          <a:p>
            <a:pPr indent="0" marL="0">
              <a:buNone/>
            </a:pPr>
            <a:r>
              <a:rPr lang="en-US" sz="1300" dirty="0">
                <a:solidFill>
                  <a:schemeClr val="tx2"/>
                </a:solidFill>
              </a:rPr>
              <a:t>Where existing tooling supplies evidence. Provider activity is monitored in QRadar today and in the same shape for Sentinel.</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9144000" cy="914400"/>
        </p:xfrm>
        <a:graphic>
          <a:graphicData uri="http://schemas.openxmlformats.org/drawingml/2006/table">
            <a:tbl>
              <a:tblPr/>
              <a:tblGrid>
                <a:gridCol w="2067504"/>
                <a:gridCol w="3383189"/>
                <a:gridCol w="2819324"/>
                <a:gridCol w="3007279"/>
              </a:tblGrid>
              <a:tr h="524510">
                <a:tc>
                  <a:txBody>
                    <a:bodyPr/>
                    <a:lstStyle/>
                    <a:p>
                      <a:pPr indent="0" marL="0">
                        <a:buNone/>
                      </a:pPr>
                      <a:r>
                        <a:rPr lang="en-US" sz="1250" b="1" dirty="0">
                          <a:solidFill>
                            <a:schemeClr val="bg1"/>
                          </a:solidFill>
                        </a:rPr>
                        <a:t>Capability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Microsoft tooling</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IBM QRadar, in use today</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bg1"/>
                          </a:solidFill>
                        </a:rPr>
                        <a:t>Microsoft Sentinel, alignment target</a:t>
                      </a:r>
                      <a:endParaRPr lang="en-US" sz="125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r>
              <a:tr h="524510">
                <a:tc>
                  <a:txBody>
                    <a:bodyPr/>
                    <a:lstStyle/>
                    <a:p>
                      <a:pPr indent="0" marL="0">
                        <a:buNone/>
                      </a:pPr>
                      <a:r>
                        <a:rPr lang="en-US" sz="1250" b="1" dirty="0">
                          <a:solidFill>
                            <a:schemeClr val="tx1"/>
                          </a:solidFill>
                        </a:rPr>
                        <a:t>Unapproved cloud services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Defender for Cloud Apps discovery and app risk scores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Proxy and firewall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Cloud discovery data through the Defender XDR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24510">
                <a:tc>
                  <a:txBody>
                    <a:bodyPr/>
                    <a:lstStyle/>
                    <a:p>
                      <a:pPr indent="0" marL="0">
                        <a:buNone/>
                      </a:pPr>
                      <a:r>
                        <a:rPr lang="en-US" sz="1250" b="1" dirty="0">
                          <a:solidFill>
                            <a:schemeClr val="tx1"/>
                          </a:solidFill>
                        </a:rPr>
                        <a:t>Provider identities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Entra ID guest governance, entitlement management, access reviews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Sign-in logs through the Microsoft Entra ID DSM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Microsoft Entra ID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24510">
                <a:tc>
                  <a:txBody>
                    <a:bodyPr/>
                    <a:lstStyle/>
                    <a:p>
                      <a:pPr indent="0" marL="0">
                        <a:buNone/>
                      </a:pPr>
                      <a:r>
                        <a:rPr lang="en-US" sz="1250" b="1" dirty="0">
                          <a:solidFill>
                            <a:schemeClr val="tx1"/>
                          </a:solidFill>
                        </a:rPr>
                        <a:t>Privileged provider access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Entra Privileged Identity Management, PAM</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Rule on provider accounts (SOC-UC-003)</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Analytics rule with a watchlist of provider identities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24510">
                <a:tc>
                  <a:txBody>
                    <a:bodyPr/>
                    <a:lstStyle/>
                    <a:p>
                      <a:pPr indent="0" marL="0">
                        <a:buNone/>
                      </a:pPr>
                      <a:r>
                        <a:rPr lang="en-US" sz="1250" b="1" dirty="0">
                          <a:solidFill>
                            <a:schemeClr val="tx1"/>
                          </a:solidFill>
                        </a:rPr>
                        <a:t>Provider logs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Provider logs as log sources (CIS 8.12)</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Provider logs through data connectors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24510">
                <a:tc>
                  <a:txBody>
                    <a:bodyPr/>
                    <a:lstStyle/>
                    <a:p>
                      <a:pPr indent="0" marL="0">
                        <a:buNone/>
                      </a:pPr>
                      <a:r>
                        <a:rPr lang="en-US" sz="1250" b="1" dirty="0">
                          <a:solidFill>
                            <a:schemeClr val="tx1"/>
                          </a:solidFill>
                        </a:rPr>
                        <a:t>Data shared with providers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Purview sensitivity labels and data loss prevention</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DLP alerts as a log source</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Purview alerts through the Defender XDR connector</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330835">
                <a:tc>
                  <a:txBody>
                    <a:bodyPr/>
                    <a:lstStyle/>
                    <a:p>
                      <a:pPr indent="0" marL="0">
                        <a:buNone/>
                      </a:pPr>
                      <a:r>
                        <a:rPr lang="en-US" sz="1250" b="1" dirty="0">
                          <a:solidFill>
                            <a:schemeClr val="tx1"/>
                          </a:solidFill>
                        </a:rPr>
                        <a:t>Compliance tracking</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Purview Compliance Manager assessments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r h="524510">
                <a:tc>
                  <a:txBody>
                    <a:bodyPr/>
                    <a:lstStyle/>
                    <a:p>
                      <a:pPr indent="0" marL="0">
                        <a:buNone/>
                      </a:pPr>
                      <a:r>
                        <a:rPr lang="en-US" sz="1250" b="1" dirty="0">
                          <a:solidFill>
                            <a:schemeClr val="tx1"/>
                          </a:solidFill>
                        </a:rPr>
                        <a:t>Assurance on Microsoft itself</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Service Trust Portal audit reports</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t>
                      </a:r>
                      <a:endParaRPr lang="en-US" sz="125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640080"/>
          </a:xfrm>
          <a:prstGeom prst="rect">
            <a:avLst/>
          </a:prstGeom>
          <a:noFill/>
          <a:ln/>
        </p:spPr>
        <p:txBody>
          <a:bodyPr wrap="square" lIns="0" tIns="0" rIns="0" bIns="0" rtlCol="0" anchor="ctr"/>
          <a:lstStyle/>
          <a:p>
            <a:pPr algn="l" indent="0" marL="0">
              <a:buNone/>
            </a:pPr>
            <a:r>
              <a:rPr lang="en-US" sz="3000" b="1" dirty="0">
                <a:solidFill>
                  <a:schemeClr val="tx1"/>
                </a:solidFill>
              </a:rPr>
              <a:t>Control framework cross-mapping</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9144000" cy="914400"/>
        </p:xfrm>
        <a:graphic>
          <a:graphicData uri="http://schemas.openxmlformats.org/drawingml/2006/table">
            <a:tbl>
              <a:tblPr/>
              <a:tblGrid>
                <a:gridCol w="1700545"/>
                <a:gridCol w="1029277"/>
                <a:gridCol w="1253033"/>
                <a:gridCol w="1611042"/>
                <a:gridCol w="1074028"/>
                <a:gridCol w="1163530"/>
                <a:gridCol w="1297784"/>
                <a:gridCol w="984526"/>
                <a:gridCol w="1163530"/>
              </a:tblGrid>
              <a:tr h="756920">
                <a:tc>
                  <a:txBody>
                    <a:bodyPr/>
                    <a:lstStyle/>
                    <a:p>
                      <a:pPr indent="0" marL="0">
                        <a:buNone/>
                      </a:pPr>
                      <a:r>
                        <a:rPr lang="en-US" sz="1000" b="1" dirty="0">
                          <a:solidFill>
                            <a:schemeClr val="bg1"/>
                          </a:solidFill>
                        </a:rPr>
                        <a:t>Function</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NIST CSF 2.0</a:t>
                      </a:r>
                      <a:endParaRPr lang="en-US" sz="1000" dirty="0"/>
                    </a:p>
                    <a:p>
                      <a:pPr indent="0" marL="0">
                        <a:buNone/>
                      </a:pPr>
                      <a:r>
                        <a:rPr lang="en-US" sz="850" b="1" dirty="0">
                          <a:solidFill>
                            <a:schemeClr val="bg1"/>
                          </a:solidFill>
                        </a:rPr>
                        <a:t>Categories</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27001:2022</a:t>
                      </a:r>
                      <a:endParaRPr lang="en-US" sz="1000" dirty="0"/>
                    </a:p>
                    <a:p>
                      <a:pPr indent="0" marL="0">
                        <a:buNone/>
                      </a:pPr>
                      <a:r>
                        <a:rPr lang="en-US" sz="850" b="1" dirty="0">
                          <a:solidFill>
                            <a:schemeClr val="bg1"/>
                          </a:solidFill>
                        </a:rPr>
                        <a:t>Annex A</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DORA · Driver</a:t>
                      </a:r>
                      <a:endParaRPr lang="en-US" sz="1000" dirty="0"/>
                    </a:p>
                    <a:p>
                      <a:pPr indent="0" marL="0">
                        <a:buNone/>
                      </a:pPr>
                      <a:r>
                        <a:rPr lang="en-US" sz="850" b="1" dirty="0">
                          <a:solidFill>
                            <a:schemeClr val="bg1"/>
                          </a:solidFill>
                        </a:rPr>
                        <a:t>Reg. (EU) 2022/2554</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1"/>
                    </a:solidFill>
                  </a:tcPr>
                </a:tc>
                <a:tc>
                  <a:txBody>
                    <a:bodyPr/>
                    <a:lstStyle/>
                    <a:p>
                      <a:pPr indent="0" marL="0">
                        <a:buNone/>
                      </a:pPr>
                      <a:r>
                        <a:rPr lang="en-US" sz="1000" b="1" dirty="0">
                          <a:solidFill>
                            <a:schemeClr val="bg1"/>
                          </a:solidFill>
                        </a:rPr>
                        <a:t>GDPR</a:t>
                      </a:r>
                      <a:endParaRPr lang="en-US" sz="1000" dirty="0"/>
                    </a:p>
                    <a:p>
                      <a:pPr indent="0" marL="0">
                        <a:buNone/>
                      </a:pPr>
                      <a:r>
                        <a:rPr lang="en-US" sz="850" b="1" dirty="0">
                          <a:solidFill>
                            <a:schemeClr val="bg1"/>
                          </a:solidFill>
                        </a:rPr>
                        <a:t>Reg. (EU) 2016/679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CIS IG3 · Baseline</a:t>
                      </a:r>
                      <a:endParaRPr lang="en-US" sz="1000" dirty="0"/>
                    </a:p>
                    <a:p>
                      <a:pPr indent="0" marL="0">
                        <a:buNone/>
                      </a:pPr>
                      <a:r>
                        <a:rPr lang="en-US" sz="850" b="1" dirty="0">
                          <a:solidFill>
                            <a:schemeClr val="bg1"/>
                          </a:solidFill>
                        </a:rPr>
                        <a:t>CIS Controls v8.1</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2"/>
                    </a:solidFill>
                  </a:tcPr>
                </a:tc>
                <a:tc>
                  <a:txBody>
                    <a:bodyPr/>
                    <a:lstStyle/>
                    <a:p>
                      <a:pPr indent="0" marL="0">
                        <a:buNone/>
                      </a:pPr>
                      <a:r>
                        <a:rPr lang="en-US" sz="1000" b="1" dirty="0">
                          <a:solidFill>
                            <a:schemeClr val="bg1"/>
                          </a:solidFill>
                        </a:rPr>
                        <a:t>CRA</a:t>
                      </a:r>
                      <a:endParaRPr lang="en-US" sz="1000" dirty="0"/>
                    </a:p>
                    <a:p>
                      <a:pPr indent="0" marL="0">
                        <a:buNone/>
                      </a:pPr>
                      <a:r>
                        <a:rPr lang="en-US" sz="850" b="1" dirty="0">
                          <a:solidFill>
                            <a:schemeClr val="bg1"/>
                          </a:solidFill>
                        </a:rPr>
                        <a:t>Reg. (EU) 2024/2847</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EU AI Act</a:t>
                      </a:r>
                      <a:endParaRPr lang="en-US" sz="1000" dirty="0"/>
                    </a:p>
                    <a:p>
                      <a:pPr indent="0" marL="0">
                        <a:buNone/>
                      </a:pPr>
                      <a:r>
                        <a:rPr lang="en-US" sz="850" b="1" dirty="0">
                          <a:solidFill>
                            <a:schemeClr val="bg1"/>
                          </a:solidFill>
                        </a:rPr>
                        <a:t>Reg. (EU) 2024/1689</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c>
                  <a:txBody>
                    <a:bodyPr/>
                    <a:lstStyle/>
                    <a:p>
                      <a:pPr indent="0" marL="0">
                        <a:buNone/>
                      </a:pPr>
                      <a:r>
                        <a:rPr lang="en-US" sz="1000" b="1" dirty="0">
                          <a:solidFill>
                            <a:schemeClr val="bg1"/>
                          </a:solidFill>
                        </a:rPr>
                        <a:t>ISO/IEC 42001:2023</a:t>
                      </a:r>
                      <a:endParaRPr lang="en-US" sz="1000" dirty="0"/>
                    </a:p>
                    <a:p>
                      <a:pPr indent="0" marL="0">
                        <a:buNone/>
                      </a:pPr>
                      <a:r>
                        <a:rPr lang="en-US" sz="850" b="1" dirty="0">
                          <a:solidFill>
                            <a:schemeClr val="bg1"/>
                          </a:solidFill>
                        </a:rPr>
                        <a:t>AI management system</a:t>
                      </a:r>
                      <a:endParaRPr lang="en-US" sz="1000" dirty="0"/>
                    </a:p>
                  </a:txBody>
                  <a:tcPr marL="91440" marR="91440" marT="54864" marB="54864" anchor="ctr">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tx2"/>
                    </a:solidFill>
                  </a:tcPr>
                </a:tc>
              </a:tr>
              <a:tr h="447040">
                <a:tc>
                  <a:txBody>
                    <a:bodyPr/>
                    <a:lstStyle/>
                    <a:p>
                      <a:pPr indent="0" marL="0">
                        <a:buNone/>
                      </a:pPr>
                      <a:r>
                        <a:rPr lang="en-US" sz="1000" b="1" dirty="0">
                          <a:solidFill>
                            <a:schemeClr val="tx1"/>
                          </a:solidFill>
                        </a:rPr>
                        <a:t>Strategy and policy</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GV.SC-01, GV.SC-03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A.5.19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28(2), Del. Reg. 2024/1773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Provider inventory and register</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A.5.9, A.5.19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28(3), Impl. Reg. 2024/2956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15.1, 15.3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Annex I Part II: SBOM</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Risk assessment and concentration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GV.SC-06, GV.SC-07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A.5.19, A.5.21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28(4), Art. 29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15.3, 15.5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Due diligence and selection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GV.SC-06</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A.5.21, A.5.23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28(4)(d), Art. 28(5)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292100">
                <a:tc>
                  <a:txBody>
                    <a:bodyPr/>
                    <a:lstStyle/>
                    <a:p>
                      <a:pPr indent="0" marL="0">
                        <a:buNone/>
                      </a:pPr>
                      <a:r>
                        <a:rPr lang="en-US" sz="1000" b="1" dirty="0">
                          <a:solidFill>
                            <a:schemeClr val="tx1"/>
                          </a:solidFill>
                        </a:rPr>
                        <a:t>Contract clauses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30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25(4)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Subcontracting chain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A.5.21</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29(2), Del. Reg. 2025/532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28(2), 28(4)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Ongoing monitoring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GV.SC-07, GV.SC-09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28(1), Del. Reg. 2024/1773 Art. 9</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28(3)(h)</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15.6, 8.12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26(5)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A.10.3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Audit and inspection rights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A.5.22, A.5.35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28(6), Art. 30(3)(e)</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28(3)(h)</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15.5</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Clause 9.2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Provider incidents</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GV.SC-08</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19, Art. 30(2)(f)</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33(2)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17.2</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Art. 14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73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A.8.4</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r h="447040">
                <a:tc>
                  <a:txBody>
                    <a:bodyPr/>
                    <a:lstStyle/>
                    <a:p>
                      <a:pPr indent="0" marL="0">
                        <a:buNone/>
                      </a:pPr>
                      <a:r>
                        <a:rPr lang="en-US" sz="1000" b="1" dirty="0">
                          <a:solidFill>
                            <a:schemeClr val="tx1"/>
                          </a:solidFill>
                        </a:rPr>
                        <a:t>Exit and termination</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GV.SC-10</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A.5.20, A.5.23</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Art. 28(7), 28(8), Art. 30(3)(f)</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rgbClr val="E3E8ED"/>
                    </a:solidFill>
                  </a:tcPr>
                </a:tc>
                <a:tc>
                  <a:txBody>
                    <a:bodyPr/>
                    <a:lstStyle/>
                    <a:p>
                      <a:pPr indent="0" marL="0">
                        <a:buNone/>
                      </a:pPr>
                      <a:r>
                        <a:rPr lang="en-US" sz="1000" dirty="0">
                          <a:solidFill>
                            <a:schemeClr val="tx1"/>
                          </a:solidFill>
                        </a:rPr>
                        <a:t>Art. 28(3)(g)</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CIS 15.7</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accent4"/>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c>
                  <a:txBody>
                    <a:bodyPr/>
                    <a:lstStyle/>
                    <a:p>
                      <a:pPr indent="0" marL="0">
                        <a:buNone/>
                      </a:pPr>
                      <a:r>
                        <a:rPr lang="en-US" sz="1000" dirty="0">
                          <a:solidFill>
                            <a:schemeClr val="tx1"/>
                          </a:solidFill>
                        </a:rPr>
                        <a:t>—</a:t>
                      </a:r>
                      <a:endParaRPr lang="en-US" sz="1000" dirty="0"/>
                    </a:p>
                  </a:txBody>
                  <a:tcPr marL="91440" marR="91440" marT="54864" marB="54864" anchor="t">
                    <a:lnL w="0" cap="flat" cmpd="sng" algn="ctr">
                      <a:noFill/>
                    </a:lnL>
                    <a:lnR w="0" cap="flat" cmpd="sng" algn="ctr">
                      <a:noFill/>
                    </a:lnR>
                    <a:lnT w="0" cap="flat" cmpd="sng" algn="ctr">
                      <a:noFill/>
                    </a:lnT>
                    <a:lnB w="9525" cap="flat" cmpd="sng" algn="ctr">
                      <a:solidFill>
                        <a:srgbClr val="C5CED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raceability">
  <a:themeElements>
    <a:clrScheme name="Traceability">
      <a:dk1>
        <a:srgbClr val="0E1C2A"/>
      </a:dk1>
      <a:lt1>
        <a:srgbClr val="FFFFFF"/>
      </a:lt1>
      <a:dk2>
        <a:srgbClr val="43525F"/>
      </a:dk2>
      <a:lt2>
        <a:srgbClr val="EEF1F4"/>
      </a:lt2>
      <a:accent1>
        <a:srgbClr val="B5450F"/>
      </a:accent1>
      <a:accent2>
        <a:srgbClr val="0D5C75"/>
      </a:accent2>
      <a:accent3>
        <a:srgbClr val="FBE9DD"/>
      </a:accent3>
      <a:accent4>
        <a:srgbClr val="DDEEF3"/>
      </a:accent4>
      <a:accent5>
        <a:srgbClr val="D9682B"/>
      </a:accent5>
      <a:accent6>
        <a:srgbClr val="8F2F06"/>
      </a:accent6>
      <a:hlink>
        <a:srgbClr val="0D5C75"/>
      </a:hlink>
      <a:folHlink>
        <a:srgbClr val="43525F"/>
      </a:folHlink>
    </a:clrScheme>
    <a:fontScheme name="Traceabili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Security Architecture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Third-Party Risk Operating Model</dc:title>
  <dc:subject>Third-Party Risk Operating Model</dc:subject>
  <dc:creator>Security Architecture</dc:creator>
  <cp:lastModifiedBy>Security Architecture</cp:lastModifiedBy>
  <cp:revision>1</cp:revision>
  <dcterms:created xsi:type="dcterms:W3CDTF">2026-10-04T20:05:01Z</dcterms:created>
  <dcterms:modified xsi:type="dcterms:W3CDTF">2026-10-04T20:05:01Z</dcterms:modified>
</cp:coreProperties>
</file>