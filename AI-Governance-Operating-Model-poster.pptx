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0116800" cy="46908720"/>
  <p:notesSz cx="46908720" cy="20116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EEF1F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00" cy="4297680"/>
          </a:xfrm>
          <a:prstGeom prst="rect">
            <a:avLst/>
          </a:prstGeom>
          <a:solidFill>
            <a:schemeClr val="tx1"/>
          </a:solidFill>
          <a:ln/>
        </p:spPr>
      </p:sp>
      <p:sp>
        <p:nvSpPr>
          <p:cNvPr id="3" name="Text 1"/>
          <p:cNvSpPr txBox="1"/>
          <p:nvPr/>
        </p:nvSpPr>
        <p:spPr>
          <a:xfrm>
            <a:off x="667512" y="502920"/>
            <a:ext cx="18781776" cy="274320"/>
          </a:xfrm>
          <a:prstGeom prst="rect">
            <a:avLst/>
          </a:prstGeom>
          <a:noFill/>
          <a:ln/>
        </p:spPr>
        <p:txBody>
          <a:bodyPr wrap="square" lIns="0" tIns="0" rIns="0" bIns="0" rtlCol="0" anchor="t"/>
          <a:lstStyle/>
          <a:p>
            <a:pPr indent="0" marL="0">
              <a:buNone/>
            </a:pPr>
            <a:r>
              <a:rPr lang="en-US" sz="1200" spc="300" kern="0" dirty="0">
                <a:solidFill>
                  <a:srgbClr val="9FB0BF"/>
                </a:solidFill>
              </a:rPr>
              <a:t>AI GOVERNANCE, ADOPTION AND IMPLEMENTATION · OPERATING MODEL TEMPLATE</a:t>
            </a:r>
            <a:endParaRPr lang="en-US" sz="1200" dirty="0"/>
          </a:p>
        </p:txBody>
      </p:sp>
      <p:sp>
        <p:nvSpPr>
          <p:cNvPr id="4" name="Text 2"/>
          <p:cNvSpPr txBox="1"/>
          <p:nvPr/>
        </p:nvSpPr>
        <p:spPr>
          <a:xfrm>
            <a:off x="667512" y="868680"/>
            <a:ext cx="18781776" cy="1920240"/>
          </a:xfrm>
          <a:prstGeom prst="rect">
            <a:avLst/>
          </a:prstGeom>
          <a:noFill/>
          <a:ln/>
        </p:spPr>
        <p:txBody>
          <a:bodyPr wrap="square" lIns="0" tIns="0" rIns="0" bIns="0" rtlCol="0" anchor="t"/>
          <a:lstStyle/>
          <a:p>
            <a:pPr indent="0" marL="0">
              <a:buNone/>
            </a:pPr>
            <a:r>
              <a:rPr lang="en-US" sz="5800" b="1" dirty="0">
                <a:solidFill>
                  <a:srgbClr val="FF9A5C"/>
                </a:solidFill>
                <a:latin typeface="+mj-lt" pitchFamily="34" charset="0"/>
                <a:ea typeface="+mj-lt" pitchFamily="34" charset="-122"/>
                <a:cs typeface="+mj-lt" pitchFamily="34" charset="-120"/>
              </a:rPr>
              <a:t>GOVERN</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FF9A5C"/>
                </a:solidFill>
                <a:latin typeface="+mj-lt" pitchFamily="34" charset="0"/>
                <a:ea typeface="+mj-lt" pitchFamily="34" charset="-122"/>
                <a:cs typeface="+mj-lt" pitchFamily="34" charset="-120"/>
              </a:rPr>
              <a:t>ADOPT</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IMPLEMENT</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MONITOR</a:t>
            </a:r>
            <a:endParaRPr lang="en-US" sz="5800" dirty="0"/>
          </a:p>
          <a:p>
            <a:pPr indent="0" marL="0">
              <a:buNone/>
            </a:pPr>
            <a:r>
              <a:rPr lang="en-US" sz="5800" b="1" dirty="0">
                <a:solidFill>
                  <a:schemeClr val="bg1"/>
                </a:solidFill>
                <a:latin typeface="+mj-lt" pitchFamily="34" charset="0"/>
                <a:ea typeface="+mj-lt" pitchFamily="34" charset="-122"/>
                <a:cs typeface="+mj-lt" pitchFamily="34" charset="-120"/>
              </a:rPr>
              <a:t>AI GOVERNANCE OPERATING MODEL</a:t>
            </a:r>
            <a:endParaRPr lang="en-US" sz="5800" dirty="0"/>
          </a:p>
        </p:txBody>
      </p:sp>
      <p:sp>
        <p:nvSpPr>
          <p:cNvPr id="5" name="Text 3"/>
          <p:cNvSpPr txBox="1"/>
          <p:nvPr/>
        </p:nvSpPr>
        <p:spPr>
          <a:xfrm>
            <a:off x="667512" y="2926080"/>
            <a:ext cx="8046720" cy="1005840"/>
          </a:xfrm>
          <a:prstGeom prst="rect">
            <a:avLst/>
          </a:prstGeom>
          <a:noFill/>
          <a:ln/>
        </p:spPr>
        <p:txBody>
          <a:bodyPr wrap="square" lIns="0" tIns="0" rIns="0" bIns="0" rtlCol="0" anchor="b"/>
          <a:lstStyle/>
          <a:p>
            <a:pPr indent="0" marL="0">
              <a:lnSpc>
                <a:spcPct val="115000"/>
              </a:lnSpc>
              <a:buNone/>
            </a:pPr>
            <a:r>
              <a:rPr lang="en-US" sz="1350" dirty="0">
                <a:solidFill>
                  <a:srgbClr val="C9D5DF"/>
                </a:solidFill>
              </a:rPr>
              <a:t>One line of sight from the idea for an AI use case to its risk tier, the decision to approve it, the guardrails built around it and the monitoring that keeps it safe. Built for the EU AI Act and DORA, with ISO/IEC 42001 as the management system and CIS Controls Implementation Group 3 as the control baseline.</a:t>
            </a:r>
            <a:endParaRPr lang="en-US" sz="1350" dirty="0"/>
          </a:p>
        </p:txBody>
      </p:sp>
      <p:sp>
        <p:nvSpPr>
          <p:cNvPr id="6" name="Shape 4"/>
          <p:cNvSpPr/>
          <p:nvPr/>
        </p:nvSpPr>
        <p:spPr>
          <a:xfrm>
            <a:off x="9756648" y="2834640"/>
            <a:ext cx="3108960" cy="1097280"/>
          </a:xfrm>
          <a:prstGeom prst="rect">
            <a:avLst/>
          </a:prstGeom>
          <a:ln w="12700">
            <a:solidFill>
              <a:srgbClr val="3A4F62"/>
            </a:solidFill>
            <a:prstDash val="solid"/>
          </a:ln>
        </p:spPr>
      </p:sp>
      <p:sp>
        <p:nvSpPr>
          <p:cNvPr id="7" name="Text 5"/>
          <p:cNvSpPr txBox="1"/>
          <p:nvPr/>
        </p:nvSpPr>
        <p:spPr>
          <a:xfrm>
            <a:off x="990295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REGULATORY DRIVERS</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EU AI Act · DORA</a:t>
            </a:r>
            <a:endParaRPr lang="en-US" sz="900" dirty="0"/>
          </a:p>
          <a:p>
            <a:pPr indent="0" marL="0">
              <a:spcAft>
                <a:spcPts val="300"/>
              </a:spcAft>
              <a:buNone/>
            </a:pPr>
            <a:r>
              <a:rPr lang="en-US" sz="1050" dirty="0">
                <a:solidFill>
                  <a:srgbClr val="C9D5DF"/>
                </a:solidFill>
              </a:rPr>
              <a:t>Regulations (EU) 2024/1689 and 2022/2554</a:t>
            </a:r>
            <a:endParaRPr lang="en-US" sz="900" dirty="0"/>
          </a:p>
        </p:txBody>
      </p:sp>
      <p:sp>
        <p:nvSpPr>
          <p:cNvPr id="8" name="Shape 6"/>
          <p:cNvSpPr/>
          <p:nvPr/>
        </p:nvSpPr>
        <p:spPr>
          <a:xfrm>
            <a:off x="13048488" y="2834640"/>
            <a:ext cx="3108960" cy="1097280"/>
          </a:xfrm>
          <a:prstGeom prst="rect">
            <a:avLst/>
          </a:prstGeom>
          <a:ln w="12700">
            <a:solidFill>
              <a:srgbClr val="3A4F62"/>
            </a:solidFill>
            <a:prstDash val="solid"/>
          </a:ln>
        </p:spPr>
      </p:sp>
      <p:sp>
        <p:nvSpPr>
          <p:cNvPr id="9" name="Text 7"/>
          <p:cNvSpPr txBox="1"/>
          <p:nvPr/>
        </p:nvSpPr>
        <p:spPr>
          <a:xfrm>
            <a:off x="1319479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MANAGEMENT SYSTEM</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ISO/IEC 42001:2023</a:t>
            </a:r>
            <a:endParaRPr lang="en-US" sz="900" dirty="0"/>
          </a:p>
          <a:p>
            <a:pPr indent="0" marL="0">
              <a:spcAft>
                <a:spcPts val="300"/>
              </a:spcAft>
              <a:buNone/>
            </a:pPr>
            <a:r>
              <a:rPr lang="en-US" sz="1050" dirty="0">
                <a:solidFill>
                  <a:srgbClr val="C9D5DF"/>
                </a:solidFill>
              </a:rPr>
              <a:t>AI management system</a:t>
            </a:r>
            <a:endParaRPr lang="en-US" sz="900" dirty="0"/>
          </a:p>
        </p:txBody>
      </p:sp>
      <p:sp>
        <p:nvSpPr>
          <p:cNvPr id="10" name="Shape 8"/>
          <p:cNvSpPr/>
          <p:nvPr/>
        </p:nvSpPr>
        <p:spPr>
          <a:xfrm>
            <a:off x="16340328" y="2834640"/>
            <a:ext cx="3108960" cy="1097280"/>
          </a:xfrm>
          <a:prstGeom prst="rect">
            <a:avLst/>
          </a:prstGeom>
          <a:ln w="12700">
            <a:solidFill>
              <a:srgbClr val="3A4F62"/>
            </a:solidFill>
            <a:prstDash val="solid"/>
          </a:ln>
        </p:spPr>
      </p:sp>
      <p:sp>
        <p:nvSpPr>
          <p:cNvPr id="11" name="Text 9"/>
          <p:cNvSpPr txBox="1"/>
          <p:nvPr/>
        </p:nvSpPr>
        <p:spPr>
          <a:xfrm>
            <a:off x="1648663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CONTROL BASELINE</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300"/>
              </a:spcAft>
              <a:buNone/>
            </a:pPr>
            <a:r>
              <a:rPr lang="en-US" sz="1050" dirty="0">
                <a:solidFill>
                  <a:srgbClr val="C9D5DF"/>
                </a:solidFill>
              </a:rPr>
              <a:t>Implementation Group 3</a:t>
            </a:r>
            <a:endParaRPr lang="en-US" sz="900" dirty="0"/>
          </a:p>
        </p:txBody>
      </p:sp>
      <p:sp>
        <p:nvSpPr>
          <p:cNvPr id="12" name="Text 10"/>
          <p:cNvSpPr txBox="1"/>
          <p:nvPr/>
        </p:nvSpPr>
        <p:spPr>
          <a:xfrm>
            <a:off x="667512" y="484632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THE CHAIN</a:t>
            </a:r>
            <a:endParaRPr lang="en-US" sz="1000" dirty="0"/>
          </a:p>
        </p:txBody>
      </p:sp>
      <p:sp>
        <p:nvSpPr>
          <p:cNvPr id="13" name="Text 11"/>
          <p:cNvSpPr txBox="1"/>
          <p:nvPr/>
        </p:nvSpPr>
        <p:spPr>
          <a:xfrm>
            <a:off x="667512" y="5084064"/>
            <a:ext cx="100584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Nine linked steps, from idea to monitoring</a:t>
            </a:r>
            <a:endParaRPr lang="en-US" sz="2800" dirty="0"/>
          </a:p>
        </p:txBody>
      </p:sp>
      <p:sp>
        <p:nvSpPr>
          <p:cNvPr id="14" name="Text 12"/>
          <p:cNvSpPr txBox="1"/>
          <p:nvPr/>
        </p:nvSpPr>
        <p:spPr>
          <a:xfrm>
            <a:off x="10853928" y="5120640"/>
            <a:ext cx="8595360" cy="365760"/>
          </a:xfrm>
          <a:prstGeom prst="rect">
            <a:avLst/>
          </a:prstGeom>
          <a:noFill/>
          <a:ln/>
        </p:spPr>
        <p:txBody>
          <a:bodyPr wrap="square" lIns="0" tIns="0" rIns="0" bIns="0" rtlCol="0" anchor="b"/>
          <a:lstStyle/>
          <a:p>
            <a:pPr algn="r" indent="0" marL="0">
              <a:buNone/>
            </a:pPr>
            <a:r>
              <a:rPr lang="en-US" sz="1200" dirty="0">
                <a:solidFill>
                  <a:schemeClr val="accent1"/>
                </a:solidFill>
              </a:rPr>
              <a:t>■ </a:t>
            </a:r>
            <a:pPr algn="r" indent="0" marL="0">
              <a:buNone/>
            </a:pPr>
            <a:r>
              <a:rPr lang="en-US" sz="1200" dirty="0">
                <a:solidFill>
                  <a:schemeClr val="tx2"/>
                </a:solidFill>
              </a:rPr>
              <a:t>Govern and decide        </a:t>
            </a:r>
            <a:pPr algn="r" indent="0" marL="0">
              <a:buNone/>
            </a:pPr>
            <a:r>
              <a:rPr lang="en-US" sz="1200" dirty="0">
                <a:solidFill>
                  <a:schemeClr val="accent2"/>
                </a:solidFill>
              </a:rPr>
              <a:t>■ </a:t>
            </a:r>
            <a:pPr algn="r" indent="0" marL="0">
              <a:buNone/>
            </a:pPr>
            <a:r>
              <a:rPr lang="en-US" sz="1200" dirty="0">
                <a:solidFill>
                  <a:schemeClr val="tx2"/>
                </a:solidFill>
              </a:rPr>
              <a:t>Implement, adopt and monitor</a:t>
            </a:r>
            <a:endParaRPr lang="en-US" sz="1200" dirty="0"/>
          </a:p>
        </p:txBody>
      </p:sp>
      <p:sp>
        <p:nvSpPr>
          <p:cNvPr id="15" name="Stage 1"/>
          <p:cNvSpPr/>
          <p:nvPr/>
        </p:nvSpPr>
        <p:spPr>
          <a:xfrm>
            <a:off x="667512" y="5806440"/>
            <a:ext cx="2338832" cy="676656"/>
          </a:xfrm>
          <a:prstGeom prst="homePlate">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01  </a:t>
            </a:r>
            <a:pPr algn="ctr" indent="0" marL="0">
              <a:buNone/>
            </a:pPr>
            <a:r>
              <a:rPr lang="en-US" sz="1300" b="1" dirty="0">
                <a:solidFill>
                  <a:schemeClr val="bg1"/>
                </a:solidFill>
                <a:latin typeface="+mj-lt" pitchFamily="34" charset="0"/>
                <a:ea typeface="+mj-lt" pitchFamily="34" charset="-122"/>
                <a:cs typeface="+mj-lt" pitchFamily="34" charset="-120"/>
              </a:rPr>
              <a:t>INTAKE</a:t>
            </a:r>
            <a:endParaRPr lang="en-US" sz="1400" dirty="0"/>
          </a:p>
        </p:txBody>
      </p:sp>
      <p:sp>
        <p:nvSpPr>
          <p:cNvPr id="16" name="Stage 2"/>
          <p:cNvSpPr/>
          <p:nvPr/>
        </p:nvSpPr>
        <p:spPr>
          <a:xfrm>
            <a:off x="2722880"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02  </a:t>
            </a:r>
            <a:pPr algn="ctr" indent="0" marL="0">
              <a:buNone/>
            </a:pPr>
            <a:r>
              <a:rPr lang="en-US" sz="1300" b="1" dirty="0">
                <a:solidFill>
                  <a:schemeClr val="bg1"/>
                </a:solidFill>
                <a:latin typeface="+mj-lt" pitchFamily="34" charset="0"/>
                <a:ea typeface="+mj-lt" pitchFamily="34" charset="-122"/>
                <a:cs typeface="+mj-lt" pitchFamily="34" charset="-120"/>
              </a:rPr>
              <a:t>INVENTORY</a:t>
            </a:r>
            <a:endParaRPr lang="en-US" sz="1400" dirty="0"/>
          </a:p>
        </p:txBody>
      </p:sp>
      <p:sp>
        <p:nvSpPr>
          <p:cNvPr id="17" name="Stage 3"/>
          <p:cNvSpPr/>
          <p:nvPr/>
        </p:nvSpPr>
        <p:spPr>
          <a:xfrm>
            <a:off x="4778248"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03  </a:t>
            </a:r>
            <a:pPr algn="ctr" indent="0" marL="0">
              <a:buNone/>
            </a:pPr>
            <a:r>
              <a:rPr lang="en-US" sz="1300" b="1" dirty="0">
                <a:solidFill>
                  <a:schemeClr val="bg1"/>
                </a:solidFill>
                <a:latin typeface="+mj-lt" pitchFamily="34" charset="0"/>
                <a:ea typeface="+mj-lt" pitchFamily="34" charset="-122"/>
                <a:cs typeface="+mj-lt" pitchFamily="34" charset="-120"/>
              </a:rPr>
              <a:t>RISK TIER</a:t>
            </a:r>
            <a:endParaRPr lang="en-US" sz="1400" dirty="0"/>
          </a:p>
        </p:txBody>
      </p:sp>
      <p:sp>
        <p:nvSpPr>
          <p:cNvPr id="18" name="Stage 4"/>
          <p:cNvSpPr/>
          <p:nvPr/>
        </p:nvSpPr>
        <p:spPr>
          <a:xfrm>
            <a:off x="6833616"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04  </a:t>
            </a:r>
            <a:pPr algn="ctr" indent="0" marL="0">
              <a:buNone/>
            </a:pPr>
            <a:r>
              <a:rPr lang="en-US" sz="1300" b="1" dirty="0">
                <a:solidFill>
                  <a:schemeClr val="bg1"/>
                </a:solidFill>
                <a:latin typeface="+mj-lt" pitchFamily="34" charset="0"/>
                <a:ea typeface="+mj-lt" pitchFamily="34" charset="-122"/>
                <a:cs typeface="+mj-lt" pitchFamily="34" charset="-120"/>
              </a:rPr>
              <a:t>ASSESSMENT</a:t>
            </a:r>
            <a:endParaRPr lang="en-US" sz="1400" dirty="0"/>
          </a:p>
        </p:txBody>
      </p:sp>
      <p:sp>
        <p:nvSpPr>
          <p:cNvPr id="19" name="Stage 5"/>
          <p:cNvSpPr/>
          <p:nvPr/>
        </p:nvSpPr>
        <p:spPr>
          <a:xfrm>
            <a:off x="8888984"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05  </a:t>
            </a:r>
            <a:pPr algn="ctr" indent="0" marL="0">
              <a:buNone/>
            </a:pPr>
            <a:r>
              <a:rPr lang="en-US" sz="1300" b="1" dirty="0">
                <a:solidFill>
                  <a:schemeClr val="bg1"/>
                </a:solidFill>
                <a:latin typeface="+mj-lt" pitchFamily="34" charset="0"/>
                <a:ea typeface="+mj-lt" pitchFamily="34" charset="-122"/>
                <a:cs typeface="+mj-lt" pitchFamily="34" charset="-120"/>
              </a:rPr>
              <a:t>APPROVAL</a:t>
            </a:r>
            <a:endParaRPr lang="en-US" sz="1400" dirty="0"/>
          </a:p>
        </p:txBody>
      </p:sp>
      <p:sp>
        <p:nvSpPr>
          <p:cNvPr id="20" name="Stage 6"/>
          <p:cNvSpPr/>
          <p:nvPr/>
        </p:nvSpPr>
        <p:spPr>
          <a:xfrm>
            <a:off x="10944352"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06  </a:t>
            </a:r>
            <a:pPr algn="ctr" indent="0" marL="0">
              <a:buNone/>
            </a:pPr>
            <a:r>
              <a:rPr lang="en-US" sz="1300" b="1" dirty="0">
                <a:solidFill>
                  <a:schemeClr val="bg1"/>
                </a:solidFill>
                <a:latin typeface="+mj-lt" pitchFamily="34" charset="0"/>
                <a:ea typeface="+mj-lt" pitchFamily="34" charset="-122"/>
                <a:cs typeface="+mj-lt" pitchFamily="34" charset="-120"/>
              </a:rPr>
              <a:t>BUILD</a:t>
            </a:r>
            <a:endParaRPr lang="en-US" sz="1400" dirty="0"/>
          </a:p>
        </p:txBody>
      </p:sp>
      <p:sp>
        <p:nvSpPr>
          <p:cNvPr id="21" name="Stage 7"/>
          <p:cNvSpPr/>
          <p:nvPr/>
        </p:nvSpPr>
        <p:spPr>
          <a:xfrm>
            <a:off x="12999720"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07  </a:t>
            </a:r>
            <a:pPr algn="ctr" indent="0" marL="0">
              <a:buNone/>
            </a:pPr>
            <a:r>
              <a:rPr lang="en-US" sz="1300" b="1" dirty="0">
                <a:solidFill>
                  <a:schemeClr val="bg1"/>
                </a:solidFill>
                <a:latin typeface="+mj-lt" pitchFamily="34" charset="0"/>
                <a:ea typeface="+mj-lt" pitchFamily="34" charset="-122"/>
                <a:cs typeface="+mj-lt" pitchFamily="34" charset="-120"/>
              </a:rPr>
              <a:t>VALIDATION</a:t>
            </a:r>
            <a:endParaRPr lang="en-US" sz="1400" dirty="0"/>
          </a:p>
        </p:txBody>
      </p:sp>
      <p:sp>
        <p:nvSpPr>
          <p:cNvPr id="22" name="Stage 8"/>
          <p:cNvSpPr/>
          <p:nvPr/>
        </p:nvSpPr>
        <p:spPr>
          <a:xfrm>
            <a:off x="15055088"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08  </a:t>
            </a:r>
            <a:pPr algn="ctr" indent="0" marL="0">
              <a:buNone/>
            </a:pPr>
            <a:r>
              <a:rPr lang="en-US" sz="1300" b="1" dirty="0">
                <a:solidFill>
                  <a:schemeClr val="bg1"/>
                </a:solidFill>
                <a:latin typeface="+mj-lt" pitchFamily="34" charset="0"/>
                <a:ea typeface="+mj-lt" pitchFamily="34" charset="-122"/>
                <a:cs typeface="+mj-lt" pitchFamily="34" charset="-120"/>
              </a:rPr>
              <a:t>ROLLOUT</a:t>
            </a:r>
            <a:endParaRPr lang="en-US" sz="1400" dirty="0"/>
          </a:p>
        </p:txBody>
      </p:sp>
      <p:sp>
        <p:nvSpPr>
          <p:cNvPr id="23" name="Stage 9"/>
          <p:cNvSpPr/>
          <p:nvPr/>
        </p:nvSpPr>
        <p:spPr>
          <a:xfrm>
            <a:off x="17110456"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09  </a:t>
            </a:r>
            <a:pPr algn="ctr" indent="0" marL="0">
              <a:buNone/>
            </a:pPr>
            <a:r>
              <a:rPr lang="en-US" sz="1300" b="1" dirty="0">
                <a:solidFill>
                  <a:schemeClr val="bg1"/>
                </a:solidFill>
                <a:latin typeface="+mj-lt" pitchFamily="34" charset="0"/>
                <a:ea typeface="+mj-lt" pitchFamily="34" charset="-122"/>
                <a:cs typeface="+mj-lt" pitchFamily="34" charset="-120"/>
              </a:rPr>
              <a:t>MONITORING</a:t>
            </a:r>
            <a:endParaRPr lang="en-US" sz="1400" dirty="0"/>
          </a:p>
        </p:txBody>
      </p:sp>
      <p:pic>
        <p:nvPicPr>
          <p:cNvPr id="24" name="Image 0" descr="preencoded.png">    </p:cNvPr>
          <p:cNvPicPr>
            <a:picLocks noChangeAspect="1"/>
          </p:cNvPicPr>
          <p:nvPr/>
        </p:nvPicPr>
        <p:blipFill>
          <a:blip r:embed="rId1"/>
          <a:stretch>
            <a:fillRect/>
          </a:stretch>
        </p:blipFill>
        <p:spPr>
          <a:xfrm>
            <a:off x="704088" y="6665976"/>
            <a:ext cx="384048" cy="384048"/>
          </a:xfrm>
          <a:prstGeom prst="rect">
            <a:avLst/>
          </a:prstGeom>
        </p:spPr>
      </p:pic>
      <p:sp>
        <p:nvSpPr>
          <p:cNvPr id="25" name="Text 22"/>
          <p:cNvSpPr txBox="1"/>
          <p:nvPr/>
        </p:nvSpPr>
        <p:spPr>
          <a:xfrm>
            <a:off x="70408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business problem, the owner and the expected benefit.</a:t>
            </a:r>
            <a:endParaRPr lang="en-US" sz="1200" dirty="0"/>
          </a:p>
        </p:txBody>
      </p:sp>
      <p:pic>
        <p:nvPicPr>
          <p:cNvPr id="26" name="Image 1" descr="preencoded.png">    </p:cNvPr>
          <p:cNvPicPr>
            <a:picLocks noChangeAspect="1"/>
          </p:cNvPicPr>
          <p:nvPr/>
        </p:nvPicPr>
        <p:blipFill>
          <a:blip r:embed="rId2"/>
          <a:stretch>
            <a:fillRect/>
          </a:stretch>
        </p:blipFill>
        <p:spPr>
          <a:xfrm>
            <a:off x="2759456" y="6665976"/>
            <a:ext cx="384048" cy="384048"/>
          </a:xfrm>
          <a:prstGeom prst="rect">
            <a:avLst/>
          </a:prstGeom>
        </p:spPr>
      </p:pic>
      <p:sp>
        <p:nvSpPr>
          <p:cNvPr id="27" name="Text 23"/>
          <p:cNvSpPr txBox="1"/>
          <p:nvPr/>
        </p:nvSpPr>
        <p:spPr>
          <a:xfrm>
            <a:off x="275945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Every AI system registered: purpose, provider, data and users.</a:t>
            </a:r>
            <a:endParaRPr lang="en-US" sz="1200" dirty="0"/>
          </a:p>
        </p:txBody>
      </p:sp>
      <p:pic>
        <p:nvPicPr>
          <p:cNvPr id="28" name="Image 2" descr="preencoded.png">    </p:cNvPr>
          <p:cNvPicPr>
            <a:picLocks noChangeAspect="1"/>
          </p:cNvPicPr>
          <p:nvPr/>
        </p:nvPicPr>
        <p:blipFill>
          <a:blip r:embed="rId3"/>
          <a:stretch>
            <a:fillRect/>
          </a:stretch>
        </p:blipFill>
        <p:spPr>
          <a:xfrm>
            <a:off x="4814824" y="6665976"/>
            <a:ext cx="384048" cy="384048"/>
          </a:xfrm>
          <a:prstGeom prst="rect">
            <a:avLst/>
          </a:prstGeom>
        </p:spPr>
      </p:pic>
      <p:sp>
        <p:nvSpPr>
          <p:cNvPr id="29" name="Text 24"/>
          <p:cNvSpPr txBox="1"/>
          <p:nvPr/>
        </p:nvSpPr>
        <p:spPr>
          <a:xfrm>
            <a:off x="481482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AI Act role and tier: prohibited, high-risk, transparency or minimal.</a:t>
            </a:r>
            <a:endParaRPr lang="en-US" sz="1200" dirty="0"/>
          </a:p>
        </p:txBody>
      </p:sp>
      <p:pic>
        <p:nvPicPr>
          <p:cNvPr id="30" name="Image 3" descr="preencoded.png">    </p:cNvPr>
          <p:cNvPicPr>
            <a:picLocks noChangeAspect="1"/>
          </p:cNvPicPr>
          <p:nvPr/>
        </p:nvPicPr>
        <p:blipFill>
          <a:blip r:embed="rId4"/>
          <a:stretch>
            <a:fillRect/>
          </a:stretch>
        </p:blipFill>
        <p:spPr>
          <a:xfrm>
            <a:off x="6870192" y="6665976"/>
            <a:ext cx="384048" cy="384048"/>
          </a:xfrm>
          <a:prstGeom prst="rect">
            <a:avLst/>
          </a:prstGeom>
        </p:spPr>
      </p:pic>
      <p:sp>
        <p:nvSpPr>
          <p:cNvPr id="31" name="Text 25"/>
          <p:cNvSpPr txBox="1"/>
          <p:nvPr/>
        </p:nvSpPr>
        <p:spPr>
          <a:xfrm>
            <a:off x="687019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Risks to people, data and the business. A DPIA where personal data is involved.</a:t>
            </a:r>
            <a:endParaRPr lang="en-US" sz="1200" dirty="0"/>
          </a:p>
        </p:txBody>
      </p:sp>
      <p:pic>
        <p:nvPicPr>
          <p:cNvPr id="32" name="Image 4" descr="preencoded.png">    </p:cNvPr>
          <p:cNvPicPr>
            <a:picLocks noChangeAspect="1"/>
          </p:cNvPicPr>
          <p:nvPr/>
        </p:nvPicPr>
        <p:blipFill>
          <a:blip r:embed="rId5"/>
          <a:stretch>
            <a:fillRect/>
          </a:stretch>
        </p:blipFill>
        <p:spPr>
          <a:xfrm>
            <a:off x="8925560" y="6665976"/>
            <a:ext cx="384048" cy="384048"/>
          </a:xfrm>
          <a:prstGeom prst="rect">
            <a:avLst/>
          </a:prstGeom>
        </p:spPr>
      </p:pic>
      <p:sp>
        <p:nvSpPr>
          <p:cNvPr id="33" name="Text 26"/>
          <p:cNvSpPr txBox="1"/>
          <p:nvPr/>
        </p:nvSpPr>
        <p:spPr>
          <a:xfrm>
            <a:off x="8925560"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AI committee accepts, sets conditions or rejects the use case.</a:t>
            </a:r>
            <a:endParaRPr lang="en-US" sz="1200" dirty="0"/>
          </a:p>
        </p:txBody>
      </p:sp>
      <p:pic>
        <p:nvPicPr>
          <p:cNvPr id="34" name="Image 5" descr="preencoded.png">    </p:cNvPr>
          <p:cNvPicPr>
            <a:picLocks noChangeAspect="1"/>
          </p:cNvPicPr>
          <p:nvPr/>
        </p:nvPicPr>
        <p:blipFill>
          <a:blip r:embed="rId6"/>
          <a:stretch>
            <a:fillRect/>
          </a:stretch>
        </p:blipFill>
        <p:spPr>
          <a:xfrm>
            <a:off x="10980928" y="6665976"/>
            <a:ext cx="384048" cy="384048"/>
          </a:xfrm>
          <a:prstGeom prst="rect">
            <a:avLst/>
          </a:prstGeom>
        </p:spPr>
      </p:pic>
      <p:sp>
        <p:nvSpPr>
          <p:cNvPr id="35" name="Text 27"/>
          <p:cNvSpPr txBox="1"/>
          <p:nvPr/>
        </p:nvSpPr>
        <p:spPr>
          <a:xfrm>
            <a:off x="1098092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Data, model, guardrails and human oversight configured and documented.</a:t>
            </a:r>
            <a:endParaRPr lang="en-US" sz="1200" dirty="0"/>
          </a:p>
        </p:txBody>
      </p:sp>
      <p:pic>
        <p:nvPicPr>
          <p:cNvPr id="36" name="Image 6" descr="preencoded.png">    </p:cNvPr>
          <p:cNvPicPr>
            <a:picLocks noChangeAspect="1"/>
          </p:cNvPicPr>
          <p:nvPr/>
        </p:nvPicPr>
        <p:blipFill>
          <a:blip r:embed="rId7"/>
          <a:stretch>
            <a:fillRect/>
          </a:stretch>
        </p:blipFill>
        <p:spPr>
          <a:xfrm>
            <a:off x="13036296" y="6665976"/>
            <a:ext cx="384048" cy="384048"/>
          </a:xfrm>
          <a:prstGeom prst="rect">
            <a:avLst/>
          </a:prstGeom>
        </p:spPr>
      </p:pic>
      <p:sp>
        <p:nvSpPr>
          <p:cNvPr id="37" name="Text 28"/>
          <p:cNvSpPr txBox="1"/>
          <p:nvPr/>
        </p:nvSpPr>
        <p:spPr>
          <a:xfrm>
            <a:off x="1303629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Accuracy, robustness, bias and security tested before release.</a:t>
            </a:r>
            <a:endParaRPr lang="en-US" sz="1200" dirty="0"/>
          </a:p>
        </p:txBody>
      </p:sp>
      <p:pic>
        <p:nvPicPr>
          <p:cNvPr id="38" name="Image 7" descr="preencoded.png">    </p:cNvPr>
          <p:cNvPicPr>
            <a:picLocks noChangeAspect="1"/>
          </p:cNvPicPr>
          <p:nvPr/>
        </p:nvPicPr>
        <p:blipFill>
          <a:blip r:embed="rId8"/>
          <a:stretch>
            <a:fillRect/>
          </a:stretch>
        </p:blipFill>
        <p:spPr>
          <a:xfrm>
            <a:off x="15091664" y="6665976"/>
            <a:ext cx="384048" cy="384048"/>
          </a:xfrm>
          <a:prstGeom prst="rect">
            <a:avLst/>
          </a:prstGeom>
        </p:spPr>
      </p:pic>
      <p:sp>
        <p:nvSpPr>
          <p:cNvPr id="39" name="Text 29"/>
          <p:cNvSpPr txBox="1"/>
          <p:nvPr/>
        </p:nvSpPr>
        <p:spPr>
          <a:xfrm>
            <a:off x="1509166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Users trained, instructions issued and people told when they deal with AI.</a:t>
            </a:r>
            <a:endParaRPr lang="en-US" sz="1200" dirty="0"/>
          </a:p>
        </p:txBody>
      </p:sp>
      <p:pic>
        <p:nvPicPr>
          <p:cNvPr id="40" name="Image 8" descr="preencoded.png">    </p:cNvPr>
          <p:cNvPicPr>
            <a:picLocks noChangeAspect="1"/>
          </p:cNvPicPr>
          <p:nvPr/>
        </p:nvPicPr>
        <p:blipFill>
          <a:blip r:embed="rId9"/>
          <a:stretch>
            <a:fillRect/>
          </a:stretch>
        </p:blipFill>
        <p:spPr>
          <a:xfrm>
            <a:off x="17147032" y="6665976"/>
            <a:ext cx="384048" cy="384048"/>
          </a:xfrm>
          <a:prstGeom prst="rect">
            <a:avLst/>
          </a:prstGeom>
        </p:spPr>
      </p:pic>
      <p:sp>
        <p:nvSpPr>
          <p:cNvPr id="41" name="Text 30"/>
          <p:cNvSpPr txBox="1"/>
          <p:nvPr/>
        </p:nvSpPr>
        <p:spPr>
          <a:xfrm>
            <a:off x="1714703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Logs, drift, incidents and feedback reviewed. Retired when no longer justified.</a:t>
            </a:r>
            <a:endParaRPr lang="en-US" sz="1200" dirty="0"/>
          </a:p>
        </p:txBody>
      </p:sp>
      <p:sp>
        <p:nvSpPr>
          <p:cNvPr id="42" name="Text 31"/>
          <p:cNvSpPr txBox="1"/>
          <p:nvPr/>
        </p:nvSpPr>
        <p:spPr>
          <a:xfrm>
            <a:off x="667512" y="8311896"/>
            <a:ext cx="1600200" cy="329184"/>
          </a:xfrm>
          <a:prstGeom prst="rect">
            <a:avLst/>
          </a:prstGeom>
          <a:noFill/>
          <a:ln w="12700">
            <a:solidFill>
              <a:schemeClr val="tx1"/>
            </a:solidFill>
          </a:ln>
        </p:spPr>
        <p:txBody>
          <a:bodyPr wrap="square" lIns="0" tIns="0" rIns="0" bIns="0" rtlCol="0" anchor="ctr"/>
          <a:lstStyle/>
          <a:p>
            <a:pPr algn="ctr" indent="0" marL="0">
              <a:buNone/>
            </a:pPr>
            <a:r>
              <a:rPr lang="en-US" sz="1000" spc="250" kern="0" dirty="0">
                <a:solidFill>
                  <a:schemeClr val="tx1"/>
                </a:solidFill>
              </a:rPr>
              <a:t>WORKED EXAMPLE</a:t>
            </a:r>
            <a:endParaRPr lang="en-US" sz="1000" dirty="0"/>
          </a:p>
        </p:txBody>
      </p:sp>
      <p:sp>
        <p:nvSpPr>
          <p:cNvPr id="43" name="Text 32"/>
          <p:cNvSpPr txBox="1"/>
          <p:nvPr/>
        </p:nvSpPr>
        <p:spPr>
          <a:xfrm>
            <a:off x="2450592" y="8275320"/>
            <a:ext cx="9144000" cy="402336"/>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Rolling out Microsoft 365 Copilot to staff</a:t>
            </a:r>
            <a:endParaRPr lang="en-US" sz="2200" dirty="0"/>
          </a:p>
        </p:txBody>
      </p:sp>
      <p:sp>
        <p:nvSpPr>
          <p:cNvPr id="44" name="Text 33"/>
          <p:cNvSpPr txBox="1"/>
          <p:nvPr/>
        </p:nvSpPr>
        <p:spPr>
          <a:xfrm>
            <a:off x="12134088" y="8311896"/>
            <a:ext cx="7315200" cy="329184"/>
          </a:xfrm>
          <a:prstGeom prst="rect">
            <a:avLst/>
          </a:prstGeom>
          <a:noFill/>
          <a:ln/>
        </p:spPr>
        <p:txBody>
          <a:bodyPr wrap="square" lIns="0" tIns="0" rIns="0" bIns="0" rtlCol="0" anchor="ctr"/>
          <a:lstStyle/>
          <a:p>
            <a:pPr algn="r" indent="0" marL="0">
              <a:buNone/>
            </a:pPr>
            <a:r>
              <a:rPr lang="en-US" sz="1200" dirty="0">
                <a:solidFill>
                  <a:schemeClr val="tx2"/>
                </a:solidFill>
              </a:rPr>
              <a:t>AI-UC-001 in the matrix · Bracketed values are placeholders</a:t>
            </a:r>
            <a:endParaRPr lang="en-US" sz="1200" dirty="0"/>
          </a:p>
        </p:txBody>
      </p:sp>
      <p:sp>
        <p:nvSpPr>
          <p:cNvPr id="45" name="Example 01"/>
          <p:cNvSpPr txBox="1"/>
          <p:nvPr/>
        </p:nvSpPr>
        <p:spPr>
          <a:xfrm>
            <a:off x="66751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01 INTAKE</a:t>
            </a:r>
            <a:endParaRPr lang="en-US" sz="950" dirty="0"/>
          </a:p>
          <a:p>
            <a:pPr indent="0" marL="0">
              <a:spcAft>
                <a:spcPts val="500"/>
              </a:spcAft>
              <a:buNone/>
            </a:pPr>
            <a:r>
              <a:rPr lang="en-US" sz="1200" dirty="0">
                <a:solidFill>
                  <a:schemeClr val="tx1"/>
                </a:solidFill>
              </a:rPr>
              <a:t>Microsoft 365 Copilot for [500] staff. Owner: head of operations. Benefit: time saved on drafting and search.</a:t>
            </a:r>
            <a:endParaRPr lang="en-US" sz="950" dirty="0"/>
          </a:p>
        </p:txBody>
      </p:sp>
      <p:sp>
        <p:nvSpPr>
          <p:cNvPr id="46" name="Example 02"/>
          <p:cNvSpPr txBox="1"/>
          <p:nvPr/>
        </p:nvSpPr>
        <p:spPr>
          <a:xfrm>
            <a:off x="272288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02 INVENTORY</a:t>
            </a:r>
            <a:endParaRPr lang="en-US" sz="950" dirty="0"/>
          </a:p>
          <a:p>
            <a:pPr indent="0" marL="0">
              <a:spcAft>
                <a:spcPts val="500"/>
              </a:spcAft>
              <a:buNone/>
            </a:pPr>
            <a:r>
              <a:rPr lang="en-US" sz="1200" dirty="0">
                <a:solidFill>
                  <a:schemeClr val="tx1"/>
                </a:solidFill>
              </a:rPr>
              <a:t>Registered as AI-UC-001. Provider: Microsoft. Data: the mail, files and chats each user can already open.</a:t>
            </a:r>
            <a:endParaRPr lang="en-US" sz="950" dirty="0"/>
          </a:p>
        </p:txBody>
      </p:sp>
      <p:sp>
        <p:nvSpPr>
          <p:cNvPr id="47" name="Example 03"/>
          <p:cNvSpPr txBox="1"/>
          <p:nvPr/>
        </p:nvSpPr>
        <p:spPr>
          <a:xfrm>
            <a:off x="477824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03 RISK TIER</a:t>
            </a:r>
            <a:endParaRPr lang="en-US" sz="950" dirty="0"/>
          </a:p>
          <a:p>
            <a:pPr indent="0" marL="0">
              <a:spcAft>
                <a:spcPts val="500"/>
              </a:spcAft>
              <a:buNone/>
            </a:pPr>
            <a:r>
              <a:rPr lang="en-US" sz="1200" dirty="0">
                <a:solidFill>
                  <a:schemeClr val="tx1"/>
                </a:solidFill>
              </a:rPr>
              <a:t>The entity is a deployer of a general-purpose assistant. Not high-risk. The AI literacy duty applies (Art. 4).</a:t>
            </a:r>
            <a:endParaRPr lang="en-US" sz="950" dirty="0"/>
          </a:p>
        </p:txBody>
      </p:sp>
      <p:sp>
        <p:nvSpPr>
          <p:cNvPr id="48" name="Example 04"/>
          <p:cNvSpPr txBox="1"/>
          <p:nvPr/>
        </p:nvSpPr>
        <p:spPr>
          <a:xfrm>
            <a:off x="683361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04 ASSESSMENT</a:t>
            </a:r>
            <a:endParaRPr lang="en-US" sz="950" dirty="0"/>
          </a:p>
          <a:p>
            <a:pPr indent="0" marL="0">
              <a:spcAft>
                <a:spcPts val="500"/>
              </a:spcAft>
              <a:buNone/>
            </a:pPr>
            <a:r>
              <a:rPr lang="en-US" sz="1200" dirty="0">
                <a:solidFill>
                  <a:schemeClr val="tx1"/>
                </a:solidFill>
              </a:rPr>
              <a:t>Main risk: Copilot surfaces files that are shared too widely. DPIA completed with the DPO.</a:t>
            </a:r>
            <a:endParaRPr lang="en-US" sz="950" dirty="0"/>
          </a:p>
        </p:txBody>
      </p:sp>
      <p:sp>
        <p:nvSpPr>
          <p:cNvPr id="49" name="Example 05"/>
          <p:cNvSpPr txBox="1"/>
          <p:nvPr/>
        </p:nvSpPr>
        <p:spPr>
          <a:xfrm>
            <a:off x="8888984"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05 APPROVAL</a:t>
            </a:r>
            <a:endParaRPr lang="en-US" sz="950" dirty="0"/>
          </a:p>
          <a:p>
            <a:pPr indent="0" marL="0">
              <a:spcAft>
                <a:spcPts val="500"/>
              </a:spcAft>
              <a:buNone/>
            </a:pPr>
            <a:r>
              <a:rPr lang="en-US" sz="1200" dirty="0">
                <a:solidFill>
                  <a:schemeClr val="tx1"/>
                </a:solidFill>
              </a:rPr>
              <a:t>Approved with conditions: fix oversharing first, phased rollout, usage policy.</a:t>
            </a:r>
            <a:endParaRPr lang="en-US" sz="950" dirty="0"/>
          </a:p>
        </p:txBody>
      </p:sp>
      <p:sp>
        <p:nvSpPr>
          <p:cNvPr id="50" name="Example 06"/>
          <p:cNvSpPr txBox="1"/>
          <p:nvPr/>
        </p:nvSpPr>
        <p:spPr>
          <a:xfrm>
            <a:off x="1094435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06 BUILD</a:t>
            </a:r>
            <a:endParaRPr lang="en-US" sz="950" dirty="0"/>
          </a:p>
          <a:p>
            <a:pPr indent="0" marL="0">
              <a:spcAft>
                <a:spcPts val="500"/>
              </a:spcAft>
              <a:buNone/>
            </a:pPr>
            <a:r>
              <a:rPr lang="en-US" sz="1200" dirty="0">
                <a:solidFill>
                  <a:schemeClr val="tx1"/>
                </a:solidFill>
              </a:rPr>
              <a:t>Sensitivity labels and DLP applied. Overshared sites restricted. Conditional access enforced.</a:t>
            </a:r>
            <a:endParaRPr lang="en-US" sz="950" dirty="0"/>
          </a:p>
        </p:txBody>
      </p:sp>
      <p:sp>
        <p:nvSpPr>
          <p:cNvPr id="51" name="Example 07"/>
          <p:cNvSpPr txBox="1"/>
          <p:nvPr/>
        </p:nvSpPr>
        <p:spPr>
          <a:xfrm>
            <a:off x="1299972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07 VALIDATION</a:t>
            </a:r>
            <a:endParaRPr lang="en-US" sz="950" dirty="0"/>
          </a:p>
          <a:p>
            <a:pPr indent="0" marL="0">
              <a:spcAft>
                <a:spcPts val="500"/>
              </a:spcAft>
              <a:buNone/>
            </a:pPr>
            <a:r>
              <a:rPr lang="en-US" sz="1200" dirty="0">
                <a:solidFill>
                  <a:schemeClr val="tx1"/>
                </a:solidFill>
              </a:rPr>
              <a:t>Pilot with [50] users. Prompts tested for data leakage. Results reviewed by security and the DPO.</a:t>
            </a:r>
            <a:endParaRPr lang="en-US" sz="950" dirty="0"/>
          </a:p>
        </p:txBody>
      </p:sp>
      <p:sp>
        <p:nvSpPr>
          <p:cNvPr id="52" name="Example 08"/>
          <p:cNvSpPr txBox="1"/>
          <p:nvPr/>
        </p:nvSpPr>
        <p:spPr>
          <a:xfrm>
            <a:off x="1505508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08 ROLLOUT</a:t>
            </a:r>
            <a:endParaRPr lang="en-US" sz="950" dirty="0"/>
          </a:p>
          <a:p>
            <a:pPr indent="0" marL="0">
              <a:spcAft>
                <a:spcPts val="500"/>
              </a:spcAft>
              <a:buNone/>
            </a:pPr>
            <a:r>
              <a:rPr lang="en-US" sz="1200" dirty="0">
                <a:solidFill>
                  <a:schemeClr val="tx1"/>
                </a:solidFill>
              </a:rPr>
              <a:t>Users complete AI literacy training and accept the usage policy before a licence is assigned.</a:t>
            </a:r>
            <a:endParaRPr lang="en-US" sz="950" dirty="0"/>
          </a:p>
        </p:txBody>
      </p:sp>
      <p:sp>
        <p:nvSpPr>
          <p:cNvPr id="53" name="Example 09"/>
          <p:cNvSpPr txBox="1"/>
          <p:nvPr/>
        </p:nvSpPr>
        <p:spPr>
          <a:xfrm>
            <a:off x="1711045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09 MONITORING</a:t>
            </a:r>
            <a:endParaRPr lang="en-US" sz="950" dirty="0"/>
          </a:p>
          <a:p>
            <a:pPr indent="0" marL="0">
              <a:spcAft>
                <a:spcPts val="500"/>
              </a:spcAft>
              <a:buNone/>
            </a:pPr>
            <a:r>
              <a:rPr lang="en-US" sz="1200" dirty="0">
                <a:solidFill>
                  <a:schemeClr val="tx1"/>
                </a:solidFill>
              </a:rPr>
              <a:t>Copilot audit logs sent to the SIEM. Purview reports reviewed monthly. Incidents go to the SOC.</a:t>
            </a:r>
            <a:endParaRPr lang="en-US" sz="950" dirty="0"/>
          </a:p>
        </p:txBody>
      </p:sp>
      <p:sp>
        <p:nvSpPr>
          <p:cNvPr id="54" name="Text 43"/>
          <p:cNvSpPr txBox="1"/>
          <p:nvPr/>
        </p:nvSpPr>
        <p:spPr>
          <a:xfrm>
            <a:off x="667512" y="1110996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1</a:t>
            </a:r>
            <a:endParaRPr lang="en-US" sz="1000" dirty="0"/>
          </a:p>
        </p:txBody>
      </p:sp>
      <p:sp>
        <p:nvSpPr>
          <p:cNvPr id="55" name="Text 44"/>
          <p:cNvSpPr txBox="1"/>
          <p:nvPr/>
        </p:nvSpPr>
        <p:spPr>
          <a:xfrm>
            <a:off x="667512" y="11347704"/>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AI use case governance matrix</a:t>
            </a:r>
            <a:endParaRPr lang="en-US" sz="2800" dirty="0"/>
          </a:p>
        </p:txBody>
      </p:sp>
      <p:sp>
        <p:nvSpPr>
          <p:cNvPr id="56" name="Text 45"/>
          <p:cNvSpPr txBox="1"/>
          <p:nvPr/>
        </p:nvSpPr>
        <p:spPr>
          <a:xfrm>
            <a:off x="10671048" y="11128248"/>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One row per AI use case. Each row runs from the AI Act classification to the guardrails, oversight and evidence that keep the risk within appetite.</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67512" y="12024360"/>
          <a:ext cx="15087600" cy="914400"/>
        </p:xfrm>
        <a:graphic>
          <a:graphicData uri="http://schemas.openxmlformats.org/drawingml/2006/table">
            <a:tbl>
              <a:tblPr/>
              <a:tblGrid>
                <a:gridCol w="1016677"/>
                <a:gridCol w="1605280"/>
                <a:gridCol w="2033355"/>
                <a:gridCol w="1819317"/>
                <a:gridCol w="2140373"/>
                <a:gridCol w="909659"/>
                <a:gridCol w="2354411"/>
                <a:gridCol w="1926336"/>
                <a:gridCol w="2033355"/>
                <a:gridCol w="2033355"/>
                <a:gridCol w="909659"/>
              </a:tblGrid>
              <a:tr h="493522">
                <a:tc>
                  <a:txBody>
                    <a:bodyPr/>
                    <a:lstStyle/>
                    <a:p>
                      <a:pPr indent="0" marL="0">
                        <a:buNone/>
                      </a:pPr>
                      <a:r>
                        <a:rPr lang="en-US" sz="1150" b="1" dirty="0">
                          <a:solidFill>
                            <a:schemeClr val="bg1"/>
                          </a:solidFill>
                        </a:rPr>
                        <a:t>ID</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Use case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AI Act role and tier</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Data used</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Key risk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Inherent risk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Controls and guardrails</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Human oversight</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Monitoring and logging</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Evidence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Residual risk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671703">
                <a:tc>
                  <a:txBody>
                    <a:bodyPr/>
                    <a:lstStyle/>
                    <a:p>
                      <a:pPr indent="0" marL="0">
                        <a:buNone/>
                      </a:pPr>
                      <a:r>
                        <a:rPr lang="en-US" sz="1150" b="1" dirty="0">
                          <a:solidFill>
                            <a:schemeClr val="tx1"/>
                          </a:solidFill>
                        </a:rPr>
                        <a:t>AI-UC-001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Microsoft 365 Copilot for staff</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Deployer. Not high-risk.</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Mail, files, chats and meetings the user can already open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Overshared or mislabelled content surfaces in answers.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Sensitivity labels, DLP, restricted site access, usage policy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The user reviews every output before using it.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Copilot audit logs to the SIEM, Purview AI reports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DPIA, pilot report, training records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671703">
                <a:tc>
                  <a:txBody>
                    <a:bodyPr/>
                    <a:lstStyle/>
                    <a:p>
                      <a:pPr indent="0" marL="0">
                        <a:buNone/>
                      </a:pPr>
                      <a:r>
                        <a:rPr lang="en-US" sz="1150" b="1" dirty="0">
                          <a:solidFill>
                            <a:schemeClr val="tx1"/>
                          </a:solidFill>
                        </a:rPr>
                        <a:t>AI-UC-002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Customer service chatbot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Deployer. Transparency duty (Art. 50).</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Customer questions, approved product knowledge base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 wrong or misleading answer reaches a customer. Prompt injection.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Grounding on approved content, input and output filters, clear AI disclosure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Hand-off to a human agent on request or on low confidence.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Conversation logs, answer quality sampling, abuse alerts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Disclosure notice, test results, sampling reports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671703">
                <a:tc>
                  <a:txBody>
                    <a:bodyPr/>
                    <a:lstStyle/>
                    <a:p>
                      <a:pPr indent="0" marL="0">
                        <a:buNone/>
                      </a:pPr>
                      <a:r>
                        <a:rPr lang="en-US" sz="1150" b="1" dirty="0">
                          <a:solidFill>
                            <a:schemeClr val="tx1"/>
                          </a:solidFill>
                        </a:rPr>
                        <a:t>AI-UC-003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Creditworthiness scoring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High-risk (Annex III). Duties apply from 2 December 2027.</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Applicant financial and behavioural data</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Biased or unexplained decisions affect access to credit.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bg1"/>
                          </a:solidFill>
                        </a:rPr>
                        <a:t>Critical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Data governance, bias testing, documented model, explanation to applicants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 credit officer can override. Decisions are reviewable.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Performance and drift monitoring, automatic logs retained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Technical documentation, fundamental rights impact assessment, DPIA</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AI-UC-004</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Payment fraud detection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Deployer. Not high-risk: fraud detection is excluded in Annex III.</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Transaction and device data</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Missed fraud, or legitimate payments blocked. Model evasion.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Model validation, threshold governance, fallback rules, change control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 analyst reviews blocked payments.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Detection rate, false positives and drift. Supports a critical function under DORA.</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Validation report, change records, incident records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671703">
                <a:tc>
                  <a:txBody>
                    <a:bodyPr/>
                    <a:lstStyle/>
                    <a:p>
                      <a:pPr indent="0" marL="0">
                        <a:buNone/>
                      </a:pPr>
                      <a:r>
                        <a:rPr lang="en-US" sz="1150" b="1" dirty="0">
                          <a:solidFill>
                            <a:schemeClr val="tx1"/>
                          </a:solidFill>
                        </a:rPr>
                        <a:t>AI-UC-005</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SOC assistant for alert triage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Deployer. Not high-risk.</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Security logs and incident data</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 analyst trusts a wrong summary. Sensitive log data leaves the tenant.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150" dirty="0">
                          <a:solidFill>
                            <a:schemeClr val="tx1"/>
                          </a:solidFill>
                        </a:rPr>
                        <a:t>Data boundary checked, least-privilege access, prompts and outputs logged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The analyst confirms before any containment action.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Usage and action logs in the SIEM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Access review, test cases, playbook updates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Low</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r>
              <a:tr h="315341">
                <a:tc>
                  <a:txBody>
                    <a:bodyPr/>
                    <a:lstStyle/>
                    <a:p>
                      <a:pPr indent="0" marL="0">
                        <a:buNone/>
                      </a:pPr>
                      <a:r>
                        <a:rPr lang="en-US" sz="1150" b="1" dirty="0">
                          <a:solidFill>
                            <a:schemeClr val="tx2"/>
                          </a:solidFill>
                        </a:rPr>
                        <a:t>AI-UC-0NN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[Use case]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[Role, tier]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[Data]</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[Risk]</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[Rating]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[Guardrails]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[Oversight]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[Monitoring]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[Proof]</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[Rating]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58" name="Text 46"/>
          <p:cNvSpPr txBox="1"/>
          <p:nvPr/>
        </p:nvSpPr>
        <p:spPr>
          <a:xfrm>
            <a:off x="667512" y="17147159"/>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2</a:t>
            </a:r>
            <a:endParaRPr lang="en-US" sz="1000" dirty="0"/>
          </a:p>
        </p:txBody>
      </p:sp>
      <p:sp>
        <p:nvSpPr>
          <p:cNvPr id="59" name="Text 47"/>
          <p:cNvSpPr txBox="1"/>
          <p:nvPr/>
        </p:nvSpPr>
        <p:spPr>
          <a:xfrm>
            <a:off x="667512" y="17384903"/>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EU AI Act risk tiers</a:t>
            </a:r>
            <a:endParaRPr lang="en-US" sz="2800" dirty="0"/>
          </a:p>
        </p:txBody>
      </p:sp>
      <p:sp>
        <p:nvSpPr>
          <p:cNvPr id="60" name="Text 48"/>
          <p:cNvSpPr txBox="1"/>
          <p:nvPr/>
        </p:nvSpPr>
        <p:spPr>
          <a:xfrm>
            <a:off x="10671048" y="17165447"/>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Classify every use case before anything else. Dates reflect the Digital Omnibus on AI, in force since 27 July 2026.</a:t>
            </a:r>
            <a:endParaRPr lang="en-US" sz="12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667512" y="18061559"/>
          <a:ext cx="15087600" cy="914400"/>
        </p:xfrm>
        <a:graphic>
          <a:graphicData uri="http://schemas.openxmlformats.org/drawingml/2006/table">
            <a:tbl>
              <a:tblPr/>
              <a:tblGrid>
                <a:gridCol w="2382763"/>
                <a:gridCol w="4625363"/>
                <a:gridCol w="3504063"/>
                <a:gridCol w="5186013"/>
                <a:gridCol w="3083575"/>
              </a:tblGrid>
              <a:tr h="365760">
                <a:tc>
                  <a:txBody>
                    <a:bodyPr/>
                    <a:lstStyle/>
                    <a:p>
                      <a:pPr indent="0" marL="0">
                        <a:buNone/>
                      </a:pPr>
                      <a:r>
                        <a:rPr lang="en-US" sz="1200" b="1" dirty="0">
                          <a:solidFill>
                            <a:schemeClr val="bg1"/>
                          </a:solidFill>
                        </a:rPr>
                        <a:t>Tier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falls in it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in a financial entity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Main duties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Applies from</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509016">
                <a:tc>
                  <a:txBody>
                    <a:bodyPr/>
                    <a:lstStyle/>
                    <a:p>
                      <a:pPr indent="0" marL="0">
                        <a:buNone/>
                      </a:pPr>
                      <a:r>
                        <a:rPr lang="en-US" sz="1200" b="1" dirty="0">
                          <a:solidFill>
                            <a:schemeClr val="bg1"/>
                          </a:solidFill>
                        </a:rPr>
                        <a:t>Prohibited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Manipulation, social scoring, emotion recognition at work, untargeted scraping of faces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Emotion recognition on staff calls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 not build, buy or use. (Art. 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 February 2025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High-risk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Systems in the areas listed in Annex III, such as credit, insurance pricing, employment and biometrics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Creditworthiness scoring, CV screening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Risk management, data governance, documentation, logging, human oversight. Deployer duties in Art. 26 and Art. 27.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 December 2027 (Annex III), 2 August 2028 (products in Annex 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Transparency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Systems that talk to people or generate content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Customer service chatbot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Tell people they are dealing with AI. Label generated content. (Art. 50)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 August 2026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Minimal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Everything else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Document search, spam filtering, fraud detection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Support AI literacy among staff (Art. 4). Voluntary codes of conduct.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literacy since 2 February 2025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General-purpose AI models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Large models that many systems are built 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The model behind an assistant such as Copilot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Duties sit with the model provider (Art. 53 to 55). The entity relies on its documentation.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 August 2025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62" name="Text 49"/>
          <p:cNvSpPr txBox="1"/>
          <p:nvPr/>
        </p:nvSpPr>
        <p:spPr>
          <a:xfrm>
            <a:off x="667512" y="21749639"/>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3</a:t>
            </a:r>
            <a:endParaRPr lang="en-US" sz="1000" dirty="0"/>
          </a:p>
        </p:txBody>
      </p:sp>
      <p:sp>
        <p:nvSpPr>
          <p:cNvPr id="63" name="Text 50"/>
          <p:cNvSpPr txBox="1"/>
          <p:nvPr/>
        </p:nvSpPr>
        <p:spPr>
          <a:xfrm>
            <a:off x="667512" y="21987383"/>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Roles and accountability</a:t>
            </a:r>
            <a:endParaRPr lang="en-US" sz="2400" dirty="0"/>
          </a:p>
        </p:txBody>
      </p:sp>
      <p:sp>
        <p:nvSpPr>
          <p:cNvPr id="64" name="Text 51"/>
          <p:cNvSpPr txBox="1"/>
          <p:nvPr/>
        </p:nvSpPr>
        <p:spPr>
          <a:xfrm>
            <a:off x="667512" y="22462871"/>
            <a:ext cx="9208008" cy="384048"/>
          </a:xfrm>
          <a:prstGeom prst="rect">
            <a:avLst/>
          </a:prstGeom>
          <a:noFill/>
          <a:ln/>
        </p:spPr>
        <p:txBody>
          <a:bodyPr wrap="square" lIns="0" tIns="0" rIns="0" bIns="0" rtlCol="0" anchor="t"/>
          <a:lstStyle/>
          <a:p>
            <a:pPr indent="0" marL="0">
              <a:buNone/>
            </a:pPr>
            <a:r>
              <a:rPr lang="en-US" sz="1150" dirty="0">
                <a:solidFill>
                  <a:schemeClr val="tx2"/>
                </a:solidFill>
              </a:rPr>
              <a:t>Who decides, who owns and who checks.</a:t>
            </a:r>
            <a:endParaRPr lang="en-US" sz="1150" dirty="0"/>
          </a:p>
        </p:txBody>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667512" y="22956647"/>
          <a:ext cx="15087600" cy="914400"/>
        </p:xfrm>
        <a:graphic>
          <a:graphicData uri="http://schemas.openxmlformats.org/drawingml/2006/table">
            <a:tbl>
              <a:tblPr/>
              <a:tblGrid>
                <a:gridCol w="2379598"/>
                <a:gridCol w="5379960"/>
                <a:gridCol w="1448451"/>
              </a:tblGrid>
              <a:tr h="365760">
                <a:tc>
                  <a:txBody>
                    <a:bodyPr/>
                    <a:lstStyle/>
                    <a:p>
                      <a:pPr indent="0" marL="0">
                        <a:buNone/>
                      </a:pPr>
                      <a:r>
                        <a:rPr lang="en-US" sz="1200" b="1" dirty="0">
                          <a:solidFill>
                            <a:schemeClr val="bg1"/>
                          </a:solidFill>
                        </a:rPr>
                        <a:t>Role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Accountable for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Line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Management body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Approves the AI policy and risk appetite. Receives AI risk reporting.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Governing body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AI governance committee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Approves use cases, sets conditions, reviews the inventory.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Governing body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Use case owner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One AI system through its life: benefit, risk and human oversight.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First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AI and platform engineering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Builds, validates and operates the system. Keeps the documentation.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First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Risk and compliance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Classifies under the AI Act, challenges assessments, tracks obligations.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Second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Data protection officer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Advises on the DPIA, lawful basis and automated decisions.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Second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CISO and security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Sets guardrails, tests security, monitors through the SOC.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Second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Third-party risk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Runs provider due diligence and contract terms (TPR-005).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Second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Internal audit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Tests the AI management system independently.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Third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6" name="Text 52"/>
          <p:cNvSpPr txBox="1"/>
          <p:nvPr/>
        </p:nvSpPr>
        <p:spPr>
          <a:xfrm>
            <a:off x="10241280" y="21749639"/>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4</a:t>
            </a:r>
            <a:endParaRPr lang="en-US" sz="1000" dirty="0"/>
          </a:p>
        </p:txBody>
      </p:sp>
      <p:sp>
        <p:nvSpPr>
          <p:cNvPr id="67" name="Text 53"/>
          <p:cNvSpPr txBox="1"/>
          <p:nvPr/>
        </p:nvSpPr>
        <p:spPr>
          <a:xfrm>
            <a:off x="10241280" y="21987383"/>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Adoption gates</a:t>
            </a:r>
            <a:endParaRPr lang="en-US" sz="2400" dirty="0"/>
          </a:p>
        </p:txBody>
      </p:sp>
      <p:sp>
        <p:nvSpPr>
          <p:cNvPr id="68" name="Text 54"/>
          <p:cNvSpPr txBox="1"/>
          <p:nvPr/>
        </p:nvSpPr>
        <p:spPr>
          <a:xfrm>
            <a:off x="10241280" y="22462871"/>
            <a:ext cx="9208008" cy="384048"/>
          </a:xfrm>
          <a:prstGeom prst="rect">
            <a:avLst/>
          </a:prstGeom>
          <a:noFill/>
          <a:ln/>
        </p:spPr>
        <p:txBody>
          <a:bodyPr wrap="square" lIns="0" tIns="0" rIns="0" bIns="0" rtlCol="0" anchor="t"/>
          <a:lstStyle/>
          <a:p>
            <a:pPr indent="0" marL="0">
              <a:buNone/>
            </a:pPr>
            <a:r>
              <a:rPr lang="en-US" sz="1150" dirty="0">
                <a:solidFill>
                  <a:schemeClr val="tx2"/>
                </a:solidFill>
              </a:rPr>
              <a:t>Each gate has one decision, one owner and one output.</a:t>
            </a:r>
            <a:endParaRPr lang="en-US" sz="1150" dirty="0"/>
          </a:p>
        </p:txBody>
      </p:sp>
      <p:graphicFrame>
        <p:nvGraphicFramePr>
          <p:cNvPr id="5" name="Table 3"/>
          <p:cNvGraphicFramePr>
            <a:graphicFrameLocks noGrp="1"/>
          </p:cNvGraphicFramePr>
          <p:nvPr>
            <p:extLst>
              <p:ext uri="{D42A27DB-BD31-4B8C-83A1-F6EECF244321}">
                <p14:modId xmlns:p14="http://schemas.microsoft.com/office/powerpoint/2010/main" val="1579011935"/>
              </p:ext>
            </p:extLst>
          </p:nvPr>
        </p:nvGraphicFramePr>
        <p:xfrm>
          <a:off x="10241280" y="22956647"/>
          <a:ext cx="15087600" cy="914400"/>
        </p:xfrm>
        <a:graphic>
          <a:graphicData uri="http://schemas.openxmlformats.org/drawingml/2006/table">
            <a:tbl>
              <a:tblPr/>
              <a:tblGrid>
                <a:gridCol w="1151001"/>
                <a:gridCol w="2656156"/>
                <a:gridCol w="1505155"/>
                <a:gridCol w="1593694"/>
                <a:gridCol w="2302002"/>
              </a:tblGrid>
              <a:tr h="365760">
                <a:tc>
                  <a:txBody>
                    <a:bodyPr/>
                    <a:lstStyle/>
                    <a:p>
                      <a:pPr indent="0" marL="0">
                        <a:buNone/>
                      </a:pPr>
                      <a:r>
                        <a:rPr lang="en-US" sz="1200" b="1" dirty="0">
                          <a:solidFill>
                            <a:schemeClr val="bg1"/>
                          </a:solidFill>
                        </a:rPr>
                        <a:t>Gate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Decision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Owner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Output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Anchor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1 Intake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 it AI? Who owns it? What is the benefit?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 case owner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 case record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ISO/IEC 42001 A.9.4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09016">
                <a:tc>
                  <a:txBody>
                    <a:bodyPr/>
                    <a:lstStyle/>
                    <a:p>
                      <a:pPr indent="0" marL="0">
                        <a:buNone/>
                      </a:pPr>
                      <a:r>
                        <a:rPr lang="en-US" sz="1200" b="1" dirty="0">
                          <a:solidFill>
                            <a:schemeClr val="tx1"/>
                          </a:solidFill>
                        </a:rPr>
                        <a:t>2 Classify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What is our role and the risk tier? Is it prohibited?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Risk and compliance, legal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Classification record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Act Art. 5, Art. 6, Annex III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09016">
                <a:tc>
                  <a:txBody>
                    <a:bodyPr/>
                    <a:lstStyle/>
                    <a:p>
                      <a:pPr indent="0" marL="0">
                        <a:buNone/>
                      </a:pPr>
                      <a:r>
                        <a:rPr lang="en-US" sz="1200" b="1" dirty="0">
                          <a:solidFill>
                            <a:schemeClr val="tx1"/>
                          </a:solidFill>
                        </a:rPr>
                        <a:t>3 Assess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What are the risks to people, data and the business?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Risk, DPO, security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Impact assessment, DPIA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ISO/IEC 42001 A.5.2, GDPR Art. 35, AI Act Art. 27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09016">
                <a:tc>
                  <a:txBody>
                    <a:bodyPr/>
                    <a:lstStyle/>
                    <a:p>
                      <a:pPr indent="0" marL="0">
                        <a:buNone/>
                      </a:pPr>
                      <a:r>
                        <a:rPr lang="en-US" sz="1200" b="1" dirty="0">
                          <a:solidFill>
                            <a:schemeClr val="tx1"/>
                          </a:solidFill>
                        </a:rPr>
                        <a:t>4 Approve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Accept, set conditions or reject?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governance committee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Decision with conditions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ISO/IEC 42001 Clause 5, A.3.2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694944">
                <a:tc>
                  <a:txBody>
                    <a:bodyPr/>
                    <a:lstStyle/>
                    <a:p>
                      <a:pPr indent="0" marL="0">
                        <a:buNone/>
                      </a:pPr>
                      <a:r>
                        <a:rPr lang="en-US" sz="1200" b="1" dirty="0">
                          <a:solidFill>
                            <a:schemeClr val="tx1"/>
                          </a:solidFill>
                        </a:rPr>
                        <a:t>5 Release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Are tests passed, users trained and oversight in place?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 case owner, security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Release checklist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Act Art. 4, Art. 26, ISO/IEC 42001 A.6.2.4, A.6.2.5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09016">
                <a:tc>
                  <a:txBody>
                    <a:bodyPr/>
                    <a:lstStyle/>
                    <a:p>
                      <a:pPr indent="0" marL="0">
                        <a:buNone/>
                      </a:pPr>
                      <a:r>
                        <a:rPr lang="en-US" sz="1200" b="1" dirty="0">
                          <a:solidFill>
                            <a:schemeClr val="tx1"/>
                          </a:solidFill>
                        </a:rPr>
                        <a:t>6 Review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 it still performing, compliant and needed?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 case owner, risk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Periodic review record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Act Art. 26(5), ISO/IEC 42001 A.6.2.6, Clause 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bl>
          </a:graphicData>
        </a:graphic>
      </p:graphicFrame>
      <p:sp>
        <p:nvSpPr>
          <p:cNvPr id="70" name="Text 55"/>
          <p:cNvSpPr txBox="1"/>
          <p:nvPr/>
        </p:nvSpPr>
        <p:spPr>
          <a:xfrm>
            <a:off x="667512" y="27751151"/>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5</a:t>
            </a:r>
            <a:endParaRPr lang="en-US" sz="1000" dirty="0"/>
          </a:p>
        </p:txBody>
      </p:sp>
      <p:sp>
        <p:nvSpPr>
          <p:cNvPr id="71" name="Text 56"/>
          <p:cNvSpPr txBox="1"/>
          <p:nvPr/>
        </p:nvSpPr>
        <p:spPr>
          <a:xfrm>
            <a:off x="667512" y="27988895"/>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Internal AI risk rating</a:t>
            </a:r>
            <a:endParaRPr lang="en-US" sz="2400" dirty="0"/>
          </a:p>
        </p:txBody>
      </p:sp>
      <p:sp>
        <p:nvSpPr>
          <p:cNvPr id="72" name="Text 57"/>
          <p:cNvSpPr txBox="1"/>
          <p:nvPr/>
        </p:nvSpPr>
        <p:spPr>
          <a:xfrm>
            <a:off x="667512" y="28464383"/>
            <a:ext cx="9208008" cy="384048"/>
          </a:xfrm>
          <a:prstGeom prst="rect">
            <a:avLst/>
          </a:prstGeom>
          <a:noFill/>
          <a:ln/>
        </p:spPr>
        <p:txBody>
          <a:bodyPr wrap="square" lIns="0" tIns="0" rIns="0" bIns="0" rtlCol="0" anchor="t"/>
          <a:lstStyle/>
          <a:p>
            <a:pPr indent="0" marL="0">
              <a:buNone/>
            </a:pPr>
            <a:r>
              <a:rPr lang="en-US" sz="1150" dirty="0">
                <a:solidFill>
                  <a:schemeClr val="tx2"/>
                </a:solidFill>
              </a:rPr>
              <a:t>Hybrid: rate by description or by numbers. Bracketed values are placeholders to set against your own risk appetite.</a:t>
            </a:r>
            <a:endParaRPr lang="en-US" sz="1150" dirty="0"/>
          </a:p>
        </p:txBody>
      </p:sp>
      <p:graphicFrame>
        <p:nvGraphicFramePr>
          <p:cNvPr id="6" name="Table 4"/>
          <p:cNvGraphicFramePr>
            <a:graphicFrameLocks noGrp="1"/>
          </p:cNvGraphicFramePr>
          <p:nvPr>
            <p:extLst>
              <p:ext uri="{D42A27DB-BD31-4B8C-83A1-F6EECF244321}">
                <p14:modId xmlns:p14="http://schemas.microsoft.com/office/powerpoint/2010/main" val="1579011935"/>
              </p:ext>
            </p:extLst>
          </p:nvPr>
        </p:nvGraphicFramePr>
        <p:xfrm>
          <a:off x="667512" y="28958159"/>
          <a:ext cx="15087600" cy="914400"/>
        </p:xfrm>
        <a:graphic>
          <a:graphicData uri="http://schemas.openxmlformats.org/drawingml/2006/table">
            <a:tbl>
              <a:tblPr/>
              <a:tblGrid>
                <a:gridCol w="844771"/>
                <a:gridCol w="2365360"/>
                <a:gridCol w="1858497"/>
                <a:gridCol w="1858497"/>
                <a:gridCol w="1351634"/>
                <a:gridCol w="929249"/>
              </a:tblGrid>
              <a:tr h="509016">
                <a:tc>
                  <a:txBody>
                    <a:bodyPr/>
                    <a:lstStyle/>
                    <a:p>
                      <a:pPr indent="0" marL="0">
                        <a:buNone/>
                      </a:pPr>
                      <a:r>
                        <a:rPr lang="en-US" sz="1200" b="1" dirty="0">
                          <a:solidFill>
                            <a:schemeClr val="bg1"/>
                          </a:solidFill>
                        </a:rPr>
                        <a:t>Rating</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Qualitative criteria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Quantitative trigger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Assessment depth</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Approved by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Review</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1066800">
                <a:tc>
                  <a:txBody>
                    <a:bodyPr/>
                    <a:lstStyle/>
                    <a:p>
                      <a:pPr indent="0" marL="0">
                        <a:buNone/>
                      </a:pPr>
                      <a:r>
                        <a:rPr lang="en-US" sz="1200" b="1" dirty="0">
                          <a:solidFill>
                            <a:schemeClr val="bg1"/>
                          </a:solidFill>
                        </a:rPr>
                        <a:t>Critical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High-risk under the AI Act, or decisions about people with legal effect, or a critical function depends on it.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X customers affected] or [decisions over €Y]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Full impact assessment, DPIA, independent validation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committee and management body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 months]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High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Customer-facing, or processes personal or confidential data at scale.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X users] or [over Y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Impact assessment and DPIA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committee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[Annual]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Medium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Internal assistant with access to business data.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[Under X users]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Short assessment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 case owner and security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[Annual]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Low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No personal or confidential data and no decisions.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Registration only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 case owner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[Every 2 years]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4" name="Text 58"/>
          <p:cNvSpPr txBox="1"/>
          <p:nvPr/>
        </p:nvSpPr>
        <p:spPr>
          <a:xfrm>
            <a:off x="10241280" y="27751151"/>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6</a:t>
            </a:r>
            <a:endParaRPr lang="en-US" sz="1000" dirty="0"/>
          </a:p>
        </p:txBody>
      </p:sp>
      <p:sp>
        <p:nvSpPr>
          <p:cNvPr id="75" name="Text 59"/>
          <p:cNvSpPr txBox="1"/>
          <p:nvPr/>
        </p:nvSpPr>
        <p:spPr>
          <a:xfrm>
            <a:off x="10241280" y="27988895"/>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KPIs for the management body</a:t>
            </a:r>
            <a:endParaRPr lang="en-US" sz="2400" dirty="0"/>
          </a:p>
        </p:txBody>
      </p:sp>
      <p:sp>
        <p:nvSpPr>
          <p:cNvPr id="76" name="Text 60"/>
          <p:cNvSpPr txBox="1"/>
          <p:nvPr/>
        </p:nvSpPr>
        <p:spPr>
          <a:xfrm>
            <a:off x="10241280" y="28464383"/>
            <a:ext cx="9208008" cy="384048"/>
          </a:xfrm>
          <a:prstGeom prst="rect">
            <a:avLst/>
          </a:prstGeom>
          <a:noFill/>
          <a:ln/>
        </p:spPr>
        <p:txBody>
          <a:bodyPr wrap="square" lIns="0" tIns="0" rIns="0" bIns="0" rtlCol="0" anchor="t"/>
          <a:lstStyle/>
          <a:p>
            <a:pPr indent="0" marL="0">
              <a:buNone/>
            </a:pPr>
            <a:r>
              <a:rPr lang="en-US" sz="1150" dirty="0">
                <a:solidFill>
                  <a:schemeClr val="tx2"/>
                </a:solidFill>
              </a:rPr>
              <a:t>Targets are placeholders. Each metric names where the evidence comes from.</a:t>
            </a:r>
            <a:endParaRPr lang="en-US" sz="1150" dirty="0"/>
          </a:p>
        </p:txBody>
      </p:sp>
      <p:graphicFrame>
        <p:nvGraphicFramePr>
          <p:cNvPr id="7" name="Table 5"/>
          <p:cNvGraphicFramePr>
            <a:graphicFrameLocks noGrp="1"/>
          </p:cNvGraphicFramePr>
          <p:nvPr>
            <p:extLst>
              <p:ext uri="{D42A27DB-BD31-4B8C-83A1-F6EECF244321}">
                <p14:modId xmlns:p14="http://schemas.microsoft.com/office/powerpoint/2010/main" val="1579011935"/>
              </p:ext>
            </p:extLst>
          </p:nvPr>
        </p:nvGraphicFramePr>
        <p:xfrm>
          <a:off x="10241280" y="28958159"/>
          <a:ext cx="15087600" cy="914400"/>
        </p:xfrm>
        <a:graphic>
          <a:graphicData uri="http://schemas.openxmlformats.org/drawingml/2006/table">
            <a:tbl>
              <a:tblPr/>
              <a:tblGrid>
                <a:gridCol w="2139234"/>
                <a:gridCol w="3348367"/>
                <a:gridCol w="930102"/>
                <a:gridCol w="2790305"/>
              </a:tblGrid>
              <a:tr h="365760">
                <a:tc>
                  <a:txBody>
                    <a:bodyPr/>
                    <a:lstStyle/>
                    <a:p>
                      <a:pPr indent="0" marL="0">
                        <a:buNone/>
                      </a:pPr>
                      <a:r>
                        <a:rPr lang="en-US" sz="1200" b="1" dirty="0">
                          <a:solidFill>
                            <a:schemeClr val="bg1"/>
                          </a:solidFill>
                        </a:rPr>
                        <a:t>Metric</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shows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Target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Evidence source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Inventory completeness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AI systems in use that are registered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inventory against discovery data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Use cases classified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with an AI Act role and risk tier recorded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Classification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Assessed before go-live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releases with a completed impact assessment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Gate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AI literacy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users trained before they get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Training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Unapproved AI services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services discovered outside the inventory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Cloud app discovery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Logging coverage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AI systems that send logs to the SIEM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Log source inventory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AI incidents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Incidents that involve an AI system, by severity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Reviews on time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periodic reviews completed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Review calendar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8" name="Text 61"/>
          <p:cNvSpPr txBox="1"/>
          <p:nvPr/>
        </p:nvSpPr>
        <p:spPr>
          <a:xfrm>
            <a:off x="667512" y="33987359"/>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7</a:t>
            </a:r>
            <a:endParaRPr lang="en-US" sz="1000" dirty="0"/>
          </a:p>
        </p:txBody>
      </p:sp>
      <p:sp>
        <p:nvSpPr>
          <p:cNvPr id="79" name="Text 62"/>
          <p:cNvSpPr txBox="1"/>
          <p:nvPr/>
        </p:nvSpPr>
        <p:spPr>
          <a:xfrm>
            <a:off x="667512" y="34225103"/>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Implementation guardrails and tooling</a:t>
            </a:r>
            <a:endParaRPr lang="en-US" sz="2800" dirty="0"/>
          </a:p>
        </p:txBody>
      </p:sp>
      <p:sp>
        <p:nvSpPr>
          <p:cNvPr id="80" name="Text 63"/>
          <p:cNvSpPr txBox="1"/>
          <p:nvPr/>
        </p:nvSpPr>
        <p:spPr>
          <a:xfrm>
            <a:off x="10671048" y="34005647"/>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What to implement at each layer, the Microsoft tooling that delivers it, and how it reaches QRadar today and Microsoft Sentinel in the same shape.</a:t>
            </a:r>
            <a:endParaRPr lang="en-US" sz="1200" dirty="0"/>
          </a:p>
        </p:txBody>
      </p:sp>
      <p:graphicFrame>
        <p:nvGraphicFramePr>
          <p:cNvPr id="8" name="Table 6"/>
          <p:cNvGraphicFramePr>
            <a:graphicFrameLocks noGrp="1"/>
          </p:cNvGraphicFramePr>
          <p:nvPr>
            <p:extLst>
              <p:ext uri="{D42A27DB-BD31-4B8C-83A1-F6EECF244321}">
                <p14:modId xmlns:p14="http://schemas.microsoft.com/office/powerpoint/2010/main" val="1579011935"/>
              </p:ext>
            </p:extLst>
          </p:nvPr>
        </p:nvGraphicFramePr>
        <p:xfrm>
          <a:off x="667512" y="34901759"/>
          <a:ext cx="15087600" cy="914400"/>
        </p:xfrm>
        <a:graphic>
          <a:graphicData uri="http://schemas.openxmlformats.org/drawingml/2006/table">
            <a:tbl>
              <a:tblPr/>
              <a:tblGrid>
                <a:gridCol w="2638762"/>
                <a:gridCol w="5587966"/>
                <a:gridCol w="4967081"/>
                <a:gridCol w="5587966"/>
              </a:tblGrid>
              <a:tr h="365760">
                <a:tc>
                  <a:txBody>
                    <a:bodyPr/>
                    <a:lstStyle/>
                    <a:p>
                      <a:pPr indent="0" marL="0">
                        <a:buNone/>
                      </a:pPr>
                      <a:r>
                        <a:rPr lang="en-US" sz="1200" b="1" dirty="0">
                          <a:solidFill>
                            <a:schemeClr val="bg1"/>
                          </a:solidFill>
                        </a:rPr>
                        <a:t>Layer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to implement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Microsoft tooling</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SIEM view: QRadar and Sentinel</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509016">
                <a:tc>
                  <a:txBody>
                    <a:bodyPr/>
                    <a:lstStyle/>
                    <a:p>
                      <a:pPr indent="0" marL="0">
                        <a:buNone/>
                      </a:pPr>
                      <a:r>
                        <a:rPr lang="en-US" sz="1200" b="1" dirty="0">
                          <a:solidFill>
                            <a:schemeClr val="tx1"/>
                          </a:solidFill>
                        </a:rPr>
                        <a:t>Identity and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Least privilege for users, agents and service identities. Conditional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Entra ID, Conditional Access, Privileged Identity Management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Sign-in and audit logs through the Microsoft Entra ID DSM and the Entra ID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Data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Classification, labels and loss prevention. Fix overshared sources before rollout.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Purview sensitivity labels, DLP, Data Security Posture Management for AI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DLP alerts as a QRadar log source and through the Defender XDR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Model and prompt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Approved models only. System prompts under change control. Content filters.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Content filters and Prompt Shields in Azure AI Content Safety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threat protection alerts from Defender for Cloud in both platforms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Application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Grounding on approved sources, input and output checks, rate limits.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API Management, application gateway and WAF</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Gateway and WAF logs as log sources and through connectors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Human oversight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Review before action, override and an escalation path.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Approval steps in the workflow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Override and approval events logged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Logging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Prompts, outputs and actions recorded and retained.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Purview Audit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Unified audit log through the Microsoft Office 365 DSM and the Microsoft 365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Unapproved AI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Discover and block AI services outside the inventory.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Defender for Cloud Apps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Proxy and firewall logs in QRadar. Cloud discovery data in Sentinel.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Providers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Due diligence and contract terms for AI providers.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Trust Portal for Microsoft services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Provider logs where the contract grants them (TPR-005)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82" name="Text 64"/>
          <p:cNvSpPr txBox="1"/>
          <p:nvPr/>
        </p:nvSpPr>
        <p:spPr>
          <a:xfrm>
            <a:off x="667512" y="39745031"/>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8</a:t>
            </a:r>
            <a:endParaRPr lang="en-US" sz="1000" dirty="0"/>
          </a:p>
        </p:txBody>
      </p:sp>
      <p:sp>
        <p:nvSpPr>
          <p:cNvPr id="83" name="Text 65"/>
          <p:cNvSpPr txBox="1"/>
          <p:nvPr/>
        </p:nvSpPr>
        <p:spPr>
          <a:xfrm>
            <a:off x="667512" y="39982775"/>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Control framework cross-mapping</a:t>
            </a:r>
            <a:endParaRPr lang="en-US" sz="2800" dirty="0"/>
          </a:p>
        </p:txBody>
      </p:sp>
      <p:sp>
        <p:nvSpPr>
          <p:cNvPr id="84" name="Text 66"/>
          <p:cNvSpPr txBox="1"/>
          <p:nvPr/>
        </p:nvSpPr>
        <p:spPr>
          <a:xfrm>
            <a:off x="10671048" y="39763319"/>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AI governance functions against the same framework set. Under DORA an AI system is an ICT asset, so the ICT risk framework applies to it. The CRA applies only to products with digital elements. A dash means no direct requirement.</a:t>
            </a:r>
            <a:endParaRPr lang="en-US" sz="1200" dirty="0"/>
          </a:p>
        </p:txBody>
      </p:sp>
      <p:graphicFrame>
        <p:nvGraphicFramePr>
          <p:cNvPr id="9" name="Table 7"/>
          <p:cNvGraphicFramePr>
            <a:graphicFrameLocks noGrp="1"/>
          </p:cNvGraphicFramePr>
          <p:nvPr>
            <p:extLst>
              <p:ext uri="{D42A27DB-BD31-4B8C-83A1-F6EECF244321}">
                <p14:modId xmlns:p14="http://schemas.microsoft.com/office/powerpoint/2010/main" val="1579011935"/>
              </p:ext>
            </p:extLst>
          </p:nvPr>
        </p:nvGraphicFramePr>
        <p:xfrm>
          <a:off x="667512" y="40659431"/>
          <a:ext cx="15087600" cy="914400"/>
        </p:xfrm>
        <a:graphic>
          <a:graphicData uri="http://schemas.openxmlformats.org/drawingml/2006/table">
            <a:tbl>
              <a:tblPr/>
              <a:tblGrid>
                <a:gridCol w="2993112"/>
                <a:gridCol w="1571384"/>
                <a:gridCol w="2095178"/>
                <a:gridCol w="2244834"/>
                <a:gridCol w="1945523"/>
                <a:gridCol w="1870695"/>
                <a:gridCol w="1721039"/>
                <a:gridCol w="2095178"/>
                <a:gridCol w="2244834"/>
              </a:tblGrid>
              <a:tr h="694944">
                <a:tc>
                  <a:txBody>
                    <a:bodyPr/>
                    <a:lstStyle/>
                    <a:p>
                      <a:pPr indent="0" marL="0">
                        <a:buNone/>
                      </a:pPr>
                      <a:r>
                        <a:rPr lang="en-US" sz="1200" b="1" dirty="0">
                          <a:solidFill>
                            <a:schemeClr val="bg1"/>
                          </a:solidFill>
                        </a:rPr>
                        <a:t>Function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NIST CSF 2.0</a:t>
                      </a:r>
                      <a:endParaRPr lang="en-US" sz="1200" dirty="0"/>
                    </a:p>
                    <a:p>
                      <a:pPr indent="0" marL="0">
                        <a:buNone/>
                      </a:pPr>
                      <a:r>
                        <a:rPr lang="en-US" sz="1050" b="1" dirty="0">
                          <a:solidFill>
                            <a:schemeClr val="bg1"/>
                          </a:solidFill>
                        </a:rPr>
                        <a:t>Categories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27001:2022</a:t>
                      </a:r>
                      <a:endParaRPr lang="en-US" sz="1200" dirty="0"/>
                    </a:p>
                    <a:p>
                      <a:pPr indent="0" marL="0">
                        <a:buNone/>
                      </a:pPr>
                      <a:r>
                        <a:rPr lang="en-US" sz="1050" b="1" dirty="0">
                          <a:solidFill>
                            <a:schemeClr val="bg1"/>
                          </a:solidFill>
                        </a:rPr>
                        <a:t>Annex 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DORA · Driver</a:t>
                      </a:r>
                      <a:endParaRPr lang="en-US" sz="1200" dirty="0"/>
                    </a:p>
                    <a:p>
                      <a:pPr indent="0" marL="0">
                        <a:buNone/>
                      </a:pPr>
                      <a:r>
                        <a:rPr lang="en-US" sz="1050" b="1" dirty="0">
                          <a:solidFill>
                            <a:schemeClr val="bg1"/>
                          </a:solidFill>
                        </a:rPr>
                        <a:t>Reg. (EU) 2022/2554</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GDPR</a:t>
                      </a:r>
                      <a:endParaRPr lang="en-US" sz="1200" dirty="0"/>
                    </a:p>
                    <a:p>
                      <a:pPr indent="0" marL="0">
                        <a:buNone/>
                      </a:pPr>
                      <a:r>
                        <a:rPr lang="en-US" sz="1050" b="1" dirty="0">
                          <a:solidFill>
                            <a:schemeClr val="bg1"/>
                          </a:solidFill>
                        </a:rPr>
                        <a:t>Reg. (EU) 2016/679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CIS IG3 · Baseline</a:t>
                      </a:r>
                      <a:endParaRPr lang="en-US" sz="1200" dirty="0"/>
                    </a:p>
                    <a:p>
                      <a:pPr indent="0" marL="0">
                        <a:buNone/>
                      </a:pPr>
                      <a:r>
                        <a:rPr lang="en-US" sz="1050" b="1" dirty="0">
                          <a:solidFill>
                            <a:schemeClr val="bg1"/>
                          </a:solidFill>
                        </a:rPr>
                        <a:t>CIS Controls v8.1</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CRA</a:t>
                      </a:r>
                      <a:endParaRPr lang="en-US" sz="1200" dirty="0"/>
                    </a:p>
                    <a:p>
                      <a:pPr indent="0" marL="0">
                        <a:buNone/>
                      </a:pPr>
                      <a:r>
                        <a:rPr lang="en-US" sz="1050" b="1" dirty="0">
                          <a:solidFill>
                            <a:schemeClr val="bg1"/>
                          </a:solidFill>
                        </a:rPr>
                        <a:t>Reg. (EU) 2024/2847</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EU AI Act</a:t>
                      </a:r>
                      <a:endParaRPr lang="en-US" sz="1200" dirty="0"/>
                    </a:p>
                    <a:p>
                      <a:pPr indent="0" marL="0">
                        <a:buNone/>
                      </a:pPr>
                      <a:r>
                        <a:rPr lang="en-US" sz="1050" b="1" dirty="0">
                          <a:solidFill>
                            <a:schemeClr val="bg1"/>
                          </a:solidFill>
                        </a:rPr>
                        <a:t>Reg. (EU) 2024/1689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42001:2023</a:t>
                      </a:r>
                      <a:endParaRPr lang="en-US" sz="1200" dirty="0"/>
                    </a:p>
                    <a:p>
                      <a:pPr indent="0" marL="0">
                        <a:buNone/>
                      </a:pPr>
                      <a:r>
                        <a:rPr lang="en-US" sz="1050" b="1" dirty="0">
                          <a:solidFill>
                            <a:schemeClr val="bg1"/>
                          </a:solidFill>
                        </a:rPr>
                        <a:t>AI management system</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323088">
                <a:tc>
                  <a:txBody>
                    <a:bodyPr/>
                    <a:lstStyle/>
                    <a:p>
                      <a:pPr indent="0" marL="0">
                        <a:buNone/>
                      </a:pPr>
                      <a:r>
                        <a:rPr lang="en-US" sz="1200" b="1" dirty="0">
                          <a:solidFill>
                            <a:schemeClr val="tx1"/>
                          </a:solidFill>
                        </a:rPr>
                        <a:t>Policy and accountability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GV.PO, GV.RR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 A.5.2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5, Art. 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5(2), Art. 24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17, Art. 26(1)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 5, A.2, A.3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Inventory and classification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ID.AM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5, 6, Annex III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A.4.2, A.9.4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Risk and impact assessment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ID.RA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 6.1, A.5.8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8(2), Art. 8(3)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16.14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 Art. 27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 to A.5.5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Data governance for AI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A.5.12, A.5.34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9(2), Art. 9(3)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5, 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Secure build and change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PR.PS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A.8.25, A.8.32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9(4)(e), RTS 2024/1774 Art. 16,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A.6.1, A.6.2.3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Testing and validation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ID.IM-02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A.8.29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24, 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16, 18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II: regular testing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 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Oversight and transparency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13, 14, 22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13, 14, 50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A.8.2, A.9.2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Literacy and acceptable use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A.5.10, A.6.3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13(6)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39(1)(b)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 7.2, A.4.6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Logging and incidents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DE.CM, RS.MA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A.8.15, A.8.16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10, Art. 17, Art. 19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8,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12, 26, 73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A.6.2.6, A.6.2.8, A.8.4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Providers and supply chain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A.5.19 to A.5.23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 29,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A.10.2, 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86" name="Shape 67"/>
          <p:cNvSpPr/>
          <p:nvPr/>
        </p:nvSpPr>
        <p:spPr>
          <a:xfrm>
            <a:off x="667512" y="45597191"/>
            <a:ext cx="18781776" cy="0"/>
          </a:xfrm>
          <a:prstGeom prst="line">
            <a:avLst/>
          </a:prstGeom>
          <a:noFill/>
          <a:ln w="19050">
            <a:solidFill>
              <a:schemeClr val="tx1"/>
            </a:solidFill>
            <a:prstDash val="solid"/>
          </a:ln>
        </p:spPr>
      </p:sp>
      <p:sp>
        <p:nvSpPr>
          <p:cNvPr id="87" name="Text 68"/>
          <p:cNvSpPr txBox="1"/>
          <p:nvPr/>
        </p:nvSpPr>
        <p:spPr>
          <a:xfrm>
            <a:off x="667512" y="45780071"/>
            <a:ext cx="10515600" cy="594360"/>
          </a:xfrm>
          <a:prstGeom prst="rect">
            <a:avLst/>
          </a:prstGeom>
          <a:noFill/>
          <a:ln/>
        </p:spPr>
        <p:txBody>
          <a:bodyPr wrap="square" lIns="0" tIns="0" rIns="0" bIns="0" rtlCol="0" anchor="t"/>
          <a:lstStyle/>
          <a:p>
            <a:pPr indent="0" marL="0">
              <a:buNone/>
            </a:pPr>
            <a:r>
              <a:rPr lang="en-US" sz="1100" dirty="0">
                <a:solidFill>
                  <a:schemeClr val="tx2"/>
                </a:solidFill>
              </a:rPr>
              <a:t>Illustrative template. Targets, thresholds and products are examples, so replace them with your own service levels and risk appetite. Article, safeguard and technique numbers are pointers. Check them against the official texts before using them in an audit.</a:t>
            </a:r>
            <a:endParaRPr lang="en-US" sz="1100" dirty="0"/>
          </a:p>
        </p:txBody>
      </p:sp>
      <p:sp>
        <p:nvSpPr>
          <p:cNvPr id="88" name="Text 69"/>
          <p:cNvSpPr txBox="1"/>
          <p:nvPr/>
        </p:nvSpPr>
        <p:spPr>
          <a:xfrm>
            <a:off x="13048488" y="45780071"/>
            <a:ext cx="6400800" cy="594360"/>
          </a:xfrm>
          <a:prstGeom prst="rect">
            <a:avLst/>
          </a:prstGeom>
          <a:noFill/>
          <a:ln/>
        </p:spPr>
        <p:txBody>
          <a:bodyPr wrap="square" lIns="0" tIns="0" rIns="0" bIns="0" rtlCol="0" anchor="t"/>
          <a:lstStyle/>
          <a:p>
            <a:pPr algn="r" indent="0" marL="0">
              <a:buNone/>
            </a:pPr>
            <a:r>
              <a:rPr lang="en-US" sz="1100" b="1" dirty="0">
                <a:solidFill>
                  <a:schemeClr val="tx1"/>
                </a:solidFill>
              </a:rPr>
              <a:t>Deployer </a:t>
            </a:r>
            <a:pPr algn="r" indent="0" marL="0">
              <a:buNone/>
            </a:pPr>
            <a:r>
              <a:rPr lang="en-US" sz="1100" dirty="0">
                <a:solidFill>
                  <a:schemeClr val="tx2"/>
                </a:solidFill>
              </a:rPr>
              <a:t>Uses an AI system under its own authority</a:t>
            </a:r>
            <a:endParaRPr lang="en-US" sz="1100" dirty="0"/>
          </a:p>
          <a:p>
            <a:pPr algn="r" indent="0" marL="0">
              <a:buNone/>
            </a:pPr>
            <a:r>
              <a:rPr lang="en-US" sz="1100" b="1" dirty="0">
                <a:solidFill>
                  <a:schemeClr val="tx1"/>
                </a:solidFill>
              </a:rPr>
              <a:t>Provider </a:t>
            </a:r>
            <a:pPr algn="r" indent="0" marL="0">
              <a:buNone/>
            </a:pPr>
            <a:r>
              <a:rPr lang="en-US" sz="1100" dirty="0">
                <a:solidFill>
                  <a:schemeClr val="tx2"/>
                </a:solidFill>
              </a:rPr>
              <a:t>Develops an AI system or places it on the market</a:t>
            </a:r>
            <a:endParaRPr lang="en-US" sz="1100" dirty="0"/>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Operating Model</dc:title>
  <dc:subject>AI Governance Operating Model</dc:subject>
  <dc:creator>Security Architecture</dc:creator>
  <cp:lastModifiedBy>Security Architecture</cp:lastModifiedBy>
  <cp:revision>1</cp:revision>
  <dcterms:created xsi:type="dcterms:W3CDTF">2026-10-04T20:15:23Z</dcterms:created>
  <dcterms:modified xsi:type="dcterms:W3CDTF">2026-10-04T20:15:23Z</dcterms:modified>
</cp:coreProperties>
</file>