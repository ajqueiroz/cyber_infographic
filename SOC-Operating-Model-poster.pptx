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0116800" cy="46085760"/>
  <p:notesSz cx="46085760" cy="20116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STER">
    <p:bg>
      <p:bgPr>
        <a:solidFill>
          <a:srgbClr val="EEF1F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00" cy="4297680"/>
          </a:xfrm>
          <a:prstGeom prst="rect">
            <a:avLst/>
          </a:prstGeom>
          <a:solidFill>
            <a:schemeClr val="tx1"/>
          </a:solidFill>
          <a:ln/>
        </p:spPr>
      </p:sp>
      <p:sp>
        <p:nvSpPr>
          <p:cNvPr id="3" name="Text 1"/>
          <p:cNvSpPr txBox="1"/>
          <p:nvPr/>
        </p:nvSpPr>
        <p:spPr>
          <a:xfrm>
            <a:off x="667512" y="502920"/>
            <a:ext cx="18781776" cy="274320"/>
          </a:xfrm>
          <a:prstGeom prst="rect">
            <a:avLst/>
          </a:prstGeom>
          <a:noFill/>
          <a:ln/>
        </p:spPr>
        <p:txBody>
          <a:bodyPr wrap="square" lIns="0" tIns="0" rIns="0" bIns="0" rtlCol="0" anchor="t"/>
          <a:lstStyle/>
          <a:p>
            <a:pPr indent="0" marL="0">
              <a:buNone/>
            </a:pPr>
            <a:r>
              <a:rPr lang="en-US" sz="1200" spc="300" kern="0" dirty="0">
                <a:solidFill>
                  <a:srgbClr val="9FB0BF"/>
                </a:solidFill>
              </a:rPr>
              <a:t>SECURITY OPERATIONS CENTRE · OPERATING MODEL TEMPLATE</a:t>
            </a:r>
            <a:endParaRPr lang="en-US" sz="1200" dirty="0"/>
          </a:p>
        </p:txBody>
      </p:sp>
      <p:sp>
        <p:nvSpPr>
          <p:cNvPr id="4" name="Text 2"/>
          <p:cNvSpPr txBox="1"/>
          <p:nvPr/>
        </p:nvSpPr>
        <p:spPr>
          <a:xfrm>
            <a:off x="667512" y="868680"/>
            <a:ext cx="18781776" cy="1920240"/>
          </a:xfrm>
          <a:prstGeom prst="rect">
            <a:avLst/>
          </a:prstGeom>
          <a:noFill/>
          <a:ln/>
        </p:spPr>
        <p:txBody>
          <a:bodyPr wrap="square" lIns="0" tIns="0" rIns="0" bIns="0" rtlCol="0" anchor="t"/>
          <a:lstStyle/>
          <a:p>
            <a:pPr indent="0" marL="0">
              <a:buNone/>
            </a:pPr>
            <a:r>
              <a:rPr lang="en-US" sz="5800" b="1" dirty="0">
                <a:solidFill>
                  <a:srgbClr val="FF9A5C"/>
                </a:solidFill>
                <a:latin typeface="+mj-lt" pitchFamily="34" charset="0"/>
                <a:ea typeface="+mj-lt" pitchFamily="34" charset="-122"/>
                <a:cs typeface="+mj-lt" pitchFamily="34" charset="-120"/>
              </a:rPr>
              <a:t>COLLECT</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FF9A5C"/>
                </a:solidFill>
                <a:latin typeface="+mj-lt" pitchFamily="34" charset="0"/>
                <a:ea typeface="+mj-lt" pitchFamily="34" charset="-122"/>
                <a:cs typeface="+mj-lt" pitchFamily="34" charset="-120"/>
              </a:rPr>
              <a:t>DETECT</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6CCBDF"/>
                </a:solidFill>
                <a:latin typeface="+mj-lt" pitchFamily="34" charset="0"/>
                <a:ea typeface="+mj-lt" pitchFamily="34" charset="-122"/>
                <a:cs typeface="+mj-lt" pitchFamily="34" charset="-120"/>
              </a:rPr>
              <a:t>RESPOND</a:t>
            </a:r>
            <a:pPr indent="0" marL="0">
              <a:buNone/>
            </a:pPr>
            <a:r>
              <a:rPr lang="en-US" sz="5800" b="1" dirty="0">
                <a:solidFill>
                  <a:srgbClr val="5D7183"/>
                </a:solidFill>
                <a:latin typeface="+mj-lt" pitchFamily="34" charset="0"/>
                <a:ea typeface="+mj-lt" pitchFamily="34" charset="-122"/>
                <a:cs typeface="+mj-lt" pitchFamily="34" charset="-120"/>
              </a:rPr>
              <a:t>  ›  </a:t>
            </a:r>
            <a:pPr indent="0" marL="0">
              <a:buNone/>
            </a:pPr>
            <a:r>
              <a:rPr lang="en-US" sz="5800" b="1" dirty="0">
                <a:solidFill>
                  <a:srgbClr val="6CCBDF"/>
                </a:solidFill>
                <a:latin typeface="+mj-lt" pitchFamily="34" charset="0"/>
                <a:ea typeface="+mj-lt" pitchFamily="34" charset="-122"/>
                <a:cs typeface="+mj-lt" pitchFamily="34" charset="-120"/>
              </a:rPr>
              <a:t>REPORT</a:t>
            </a:r>
            <a:endParaRPr lang="en-US" sz="5800" dirty="0"/>
          </a:p>
          <a:p>
            <a:pPr indent="0" marL="0">
              <a:buNone/>
            </a:pPr>
            <a:r>
              <a:rPr lang="en-US" sz="5800" b="1" dirty="0">
                <a:solidFill>
                  <a:schemeClr val="bg1"/>
                </a:solidFill>
                <a:latin typeface="+mj-lt" pitchFamily="34" charset="0"/>
                <a:ea typeface="+mj-lt" pitchFamily="34" charset="-122"/>
                <a:cs typeface="+mj-lt" pitchFamily="34" charset="-120"/>
              </a:rPr>
              <a:t>SOC OPERATING MODEL</a:t>
            </a:r>
            <a:endParaRPr lang="en-US" sz="5800" dirty="0"/>
          </a:p>
        </p:txBody>
      </p:sp>
      <p:sp>
        <p:nvSpPr>
          <p:cNvPr id="5" name="Text 3"/>
          <p:cNvSpPr txBox="1"/>
          <p:nvPr/>
        </p:nvSpPr>
        <p:spPr>
          <a:xfrm>
            <a:off x="667512" y="2926080"/>
            <a:ext cx="8046720" cy="1005840"/>
          </a:xfrm>
          <a:prstGeom prst="rect">
            <a:avLst/>
          </a:prstGeom>
          <a:noFill/>
          <a:ln/>
        </p:spPr>
        <p:txBody>
          <a:bodyPr wrap="square" lIns="0" tIns="0" rIns="0" bIns="0" rtlCol="0" anchor="b"/>
          <a:lstStyle/>
          <a:p>
            <a:pPr indent="0" marL="0">
              <a:lnSpc>
                <a:spcPct val="115000"/>
              </a:lnSpc>
              <a:buNone/>
            </a:pPr>
            <a:r>
              <a:rPr lang="en-US" sz="1350" dirty="0">
                <a:solidFill>
                  <a:srgbClr val="C9D5DF"/>
                </a:solidFill>
              </a:rPr>
              <a:t>One line of sight from the log source to the detection that fires, the response that contains it and the report that reaches the supervisor. Built to demonstrate DORA compliance, with CIS Controls Implementation Group 3 as the control baseline and detections that run in IBM QRadar and map to Microsoft Sentinel.</a:t>
            </a:r>
            <a:endParaRPr lang="en-US" sz="1350" dirty="0"/>
          </a:p>
        </p:txBody>
      </p:sp>
      <p:sp>
        <p:nvSpPr>
          <p:cNvPr id="6" name="Shape 4"/>
          <p:cNvSpPr/>
          <p:nvPr/>
        </p:nvSpPr>
        <p:spPr>
          <a:xfrm>
            <a:off x="9756648" y="2834640"/>
            <a:ext cx="3108960" cy="1097280"/>
          </a:xfrm>
          <a:prstGeom prst="rect">
            <a:avLst/>
          </a:prstGeom>
          <a:ln w="12700">
            <a:solidFill>
              <a:srgbClr val="3A4F62"/>
            </a:solidFill>
            <a:prstDash val="solid"/>
          </a:ln>
        </p:spPr>
      </p:sp>
      <p:sp>
        <p:nvSpPr>
          <p:cNvPr id="7" name="Text 5"/>
          <p:cNvSpPr txBox="1"/>
          <p:nvPr/>
        </p:nvSpPr>
        <p:spPr>
          <a:xfrm>
            <a:off x="990295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REGULATORY DRIVER</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DORA</a:t>
            </a:r>
            <a:endParaRPr lang="en-US" sz="900" dirty="0"/>
          </a:p>
          <a:p>
            <a:pPr indent="0" marL="0">
              <a:spcAft>
                <a:spcPts val="300"/>
              </a:spcAft>
              <a:buNone/>
            </a:pPr>
            <a:r>
              <a:rPr lang="en-US" sz="1050" dirty="0">
                <a:solidFill>
                  <a:srgbClr val="C9D5DF"/>
                </a:solidFill>
              </a:rPr>
              <a:t>Regulation (EU) 2022/2554</a:t>
            </a:r>
            <a:endParaRPr lang="en-US" sz="900" dirty="0"/>
          </a:p>
        </p:txBody>
      </p:sp>
      <p:sp>
        <p:nvSpPr>
          <p:cNvPr id="8" name="Shape 6"/>
          <p:cNvSpPr/>
          <p:nvPr/>
        </p:nvSpPr>
        <p:spPr>
          <a:xfrm>
            <a:off x="13048488" y="2834640"/>
            <a:ext cx="3108960" cy="1097280"/>
          </a:xfrm>
          <a:prstGeom prst="rect">
            <a:avLst/>
          </a:prstGeom>
          <a:ln w="12700">
            <a:solidFill>
              <a:srgbClr val="3A4F62"/>
            </a:solidFill>
            <a:prstDash val="solid"/>
          </a:ln>
        </p:spPr>
      </p:sp>
      <p:sp>
        <p:nvSpPr>
          <p:cNvPr id="9" name="Text 7"/>
          <p:cNvSpPr txBox="1"/>
          <p:nvPr/>
        </p:nvSpPr>
        <p:spPr>
          <a:xfrm>
            <a:off x="1319479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CONTROL BASELINE</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CIS Controls v8.1 · IG3</a:t>
            </a:r>
            <a:endParaRPr lang="en-US" sz="900" dirty="0"/>
          </a:p>
          <a:p>
            <a:pPr indent="0" marL="0">
              <a:spcAft>
                <a:spcPts val="300"/>
              </a:spcAft>
              <a:buNone/>
            </a:pPr>
            <a:r>
              <a:rPr lang="en-US" sz="1050" dirty="0">
                <a:solidFill>
                  <a:srgbClr val="C9D5DF"/>
                </a:solidFill>
              </a:rPr>
              <a:t>Implementation Group 3</a:t>
            </a:r>
            <a:endParaRPr lang="en-US" sz="900" dirty="0"/>
          </a:p>
        </p:txBody>
      </p:sp>
      <p:sp>
        <p:nvSpPr>
          <p:cNvPr id="10" name="Shape 8"/>
          <p:cNvSpPr/>
          <p:nvPr/>
        </p:nvSpPr>
        <p:spPr>
          <a:xfrm>
            <a:off x="16340328" y="2834640"/>
            <a:ext cx="3108960" cy="1097280"/>
          </a:xfrm>
          <a:prstGeom prst="rect">
            <a:avLst/>
          </a:prstGeom>
          <a:ln w="12700">
            <a:solidFill>
              <a:srgbClr val="3A4F62"/>
            </a:solidFill>
            <a:prstDash val="solid"/>
          </a:ln>
        </p:spPr>
      </p:sp>
      <p:sp>
        <p:nvSpPr>
          <p:cNvPr id="11" name="Text 9"/>
          <p:cNvSpPr txBox="1"/>
          <p:nvPr/>
        </p:nvSpPr>
        <p:spPr>
          <a:xfrm>
            <a:off x="16486632" y="2880360"/>
            <a:ext cx="2816352" cy="1005840"/>
          </a:xfrm>
          <a:prstGeom prst="rect">
            <a:avLst/>
          </a:prstGeom>
          <a:noFill/>
          <a:ln/>
        </p:spPr>
        <p:txBody>
          <a:bodyPr wrap="square" lIns="0" tIns="0" rIns="0" bIns="0" rtlCol="0" anchor="ctr"/>
          <a:lstStyle/>
          <a:p>
            <a:pPr indent="0" marL="0">
              <a:spcAft>
                <a:spcPts val="300"/>
              </a:spcAft>
              <a:buNone/>
            </a:pPr>
            <a:r>
              <a:rPr lang="en-US" sz="900" spc="200" kern="0" dirty="0">
                <a:solidFill>
                  <a:srgbClr val="9FB0BF"/>
                </a:solidFill>
              </a:rPr>
              <a:t>TOOLING</a:t>
            </a:r>
            <a:endParaRPr lang="en-US" sz="900" dirty="0"/>
          </a:p>
          <a:p>
            <a:pPr indent="0" marL="0">
              <a:spcAft>
                <a:spcPts val="300"/>
              </a:spcAft>
              <a:buNone/>
            </a:pPr>
            <a:r>
              <a:rPr lang="en-US" sz="1600" b="1" dirty="0">
                <a:solidFill>
                  <a:schemeClr val="bg1"/>
                </a:solidFill>
                <a:latin typeface="+mj-lt" pitchFamily="34" charset="0"/>
                <a:ea typeface="+mj-lt" pitchFamily="34" charset="-122"/>
                <a:cs typeface="+mj-lt" pitchFamily="34" charset="-120"/>
              </a:rPr>
              <a:t>QRadar · Sentinel</a:t>
            </a:r>
            <a:endParaRPr lang="en-US" sz="900" dirty="0"/>
          </a:p>
          <a:p>
            <a:pPr indent="0" marL="0">
              <a:spcAft>
                <a:spcPts val="300"/>
              </a:spcAft>
              <a:buNone/>
            </a:pPr>
            <a:r>
              <a:rPr lang="en-US" sz="1050" dirty="0">
                <a:solidFill>
                  <a:srgbClr val="C9D5DF"/>
                </a:solidFill>
              </a:rPr>
              <a:t>IBM QRadar today, aligned to Microsoft Sentinel</a:t>
            </a:r>
            <a:endParaRPr lang="en-US" sz="900" dirty="0"/>
          </a:p>
        </p:txBody>
      </p:sp>
      <p:sp>
        <p:nvSpPr>
          <p:cNvPr id="12" name="Text 10"/>
          <p:cNvSpPr txBox="1"/>
          <p:nvPr/>
        </p:nvSpPr>
        <p:spPr>
          <a:xfrm>
            <a:off x="667512" y="484632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THE CHAIN</a:t>
            </a:r>
            <a:endParaRPr lang="en-US" sz="1000" dirty="0"/>
          </a:p>
        </p:txBody>
      </p:sp>
      <p:sp>
        <p:nvSpPr>
          <p:cNvPr id="13" name="Text 11"/>
          <p:cNvSpPr txBox="1"/>
          <p:nvPr/>
        </p:nvSpPr>
        <p:spPr>
          <a:xfrm>
            <a:off x="667512" y="5084064"/>
            <a:ext cx="100584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Nine linked steps, from log to lesson</a:t>
            </a:r>
            <a:endParaRPr lang="en-US" sz="2800" dirty="0"/>
          </a:p>
        </p:txBody>
      </p:sp>
      <p:sp>
        <p:nvSpPr>
          <p:cNvPr id="14" name="Text 12"/>
          <p:cNvSpPr txBox="1"/>
          <p:nvPr/>
        </p:nvSpPr>
        <p:spPr>
          <a:xfrm>
            <a:off x="10853928" y="5120640"/>
            <a:ext cx="8595360" cy="365760"/>
          </a:xfrm>
          <a:prstGeom prst="rect">
            <a:avLst/>
          </a:prstGeom>
          <a:noFill/>
          <a:ln/>
        </p:spPr>
        <p:txBody>
          <a:bodyPr wrap="square" lIns="0" tIns="0" rIns="0" bIns="0" rtlCol="0" anchor="b"/>
          <a:lstStyle/>
          <a:p>
            <a:pPr algn="r" indent="0" marL="0">
              <a:buNone/>
            </a:pPr>
            <a:r>
              <a:rPr lang="en-US" sz="1200" dirty="0">
                <a:solidFill>
                  <a:schemeClr val="accent1"/>
                </a:solidFill>
              </a:rPr>
              <a:t>■ </a:t>
            </a:r>
            <a:pPr algn="r" indent="0" marL="0">
              <a:buNone/>
            </a:pPr>
            <a:r>
              <a:rPr lang="en-US" sz="1200" dirty="0">
                <a:solidFill>
                  <a:schemeClr val="tx2"/>
                </a:solidFill>
              </a:rPr>
              <a:t>Detect and decide        </a:t>
            </a:r>
            <a:pPr algn="r" indent="0" marL="0">
              <a:buNone/>
            </a:pPr>
            <a:r>
              <a:rPr lang="en-US" sz="1200" dirty="0">
                <a:solidFill>
                  <a:schemeClr val="accent2"/>
                </a:solidFill>
              </a:rPr>
              <a:t>■ </a:t>
            </a:r>
            <a:pPr algn="r" indent="0" marL="0">
              <a:buNone/>
            </a:pPr>
            <a:r>
              <a:rPr lang="en-US" sz="1200" dirty="0">
                <a:solidFill>
                  <a:schemeClr val="tx2"/>
                </a:solidFill>
              </a:rPr>
              <a:t>Respond, report and improve</a:t>
            </a:r>
            <a:endParaRPr lang="en-US" sz="1200" dirty="0"/>
          </a:p>
        </p:txBody>
      </p:sp>
      <p:sp>
        <p:nvSpPr>
          <p:cNvPr id="15" name="Stage 1"/>
          <p:cNvSpPr/>
          <p:nvPr/>
        </p:nvSpPr>
        <p:spPr>
          <a:xfrm>
            <a:off x="667512" y="5806440"/>
            <a:ext cx="2338832" cy="676656"/>
          </a:xfrm>
          <a:prstGeom prst="homePlate">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01  </a:t>
            </a:r>
            <a:pPr algn="ctr" indent="0" marL="0">
              <a:buNone/>
            </a:pPr>
            <a:r>
              <a:rPr lang="en-US" sz="1300" b="1" dirty="0">
                <a:solidFill>
                  <a:schemeClr val="bg1"/>
                </a:solidFill>
                <a:latin typeface="+mj-lt" pitchFamily="34" charset="0"/>
                <a:ea typeface="+mj-lt" pitchFamily="34" charset="-122"/>
                <a:cs typeface="+mj-lt" pitchFamily="34" charset="-120"/>
              </a:rPr>
              <a:t>LOG SOURCE</a:t>
            </a:r>
            <a:endParaRPr lang="en-US" sz="1400" dirty="0"/>
          </a:p>
        </p:txBody>
      </p:sp>
      <p:sp>
        <p:nvSpPr>
          <p:cNvPr id="16" name="Stage 2"/>
          <p:cNvSpPr/>
          <p:nvPr/>
        </p:nvSpPr>
        <p:spPr>
          <a:xfrm>
            <a:off x="2722880"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02  </a:t>
            </a:r>
            <a:pPr algn="ctr" indent="0" marL="0">
              <a:buNone/>
            </a:pPr>
            <a:r>
              <a:rPr lang="en-US" sz="1300" b="1" dirty="0">
                <a:solidFill>
                  <a:schemeClr val="bg1"/>
                </a:solidFill>
                <a:latin typeface="+mj-lt" pitchFamily="34" charset="0"/>
                <a:ea typeface="+mj-lt" pitchFamily="34" charset="-122"/>
                <a:cs typeface="+mj-lt" pitchFamily="34" charset="-120"/>
              </a:rPr>
              <a:t>USE CASE</a:t>
            </a:r>
            <a:endParaRPr lang="en-US" sz="1400" dirty="0"/>
          </a:p>
        </p:txBody>
      </p:sp>
      <p:sp>
        <p:nvSpPr>
          <p:cNvPr id="17" name="Stage 3"/>
          <p:cNvSpPr/>
          <p:nvPr/>
        </p:nvSpPr>
        <p:spPr>
          <a:xfrm>
            <a:off x="4778248"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03  </a:t>
            </a:r>
            <a:pPr algn="ctr" indent="0" marL="0">
              <a:buNone/>
            </a:pPr>
            <a:r>
              <a:rPr lang="en-US" sz="1300" b="1" dirty="0">
                <a:solidFill>
                  <a:schemeClr val="bg1"/>
                </a:solidFill>
                <a:latin typeface="+mj-lt" pitchFamily="34" charset="0"/>
                <a:ea typeface="+mj-lt" pitchFamily="34" charset="-122"/>
                <a:cs typeface="+mj-lt" pitchFamily="34" charset="-120"/>
              </a:rPr>
              <a:t>ALERT</a:t>
            </a:r>
            <a:endParaRPr lang="en-US" sz="1400" dirty="0"/>
          </a:p>
        </p:txBody>
      </p:sp>
      <p:sp>
        <p:nvSpPr>
          <p:cNvPr id="18" name="Stage 4"/>
          <p:cNvSpPr/>
          <p:nvPr/>
        </p:nvSpPr>
        <p:spPr>
          <a:xfrm>
            <a:off x="6833616"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04  </a:t>
            </a:r>
            <a:pPr algn="ctr" indent="0" marL="0">
              <a:buNone/>
            </a:pPr>
            <a:r>
              <a:rPr lang="en-US" sz="1300" b="1" dirty="0">
                <a:solidFill>
                  <a:schemeClr val="bg1"/>
                </a:solidFill>
                <a:latin typeface="+mj-lt" pitchFamily="34" charset="0"/>
                <a:ea typeface="+mj-lt" pitchFamily="34" charset="-122"/>
                <a:cs typeface="+mj-lt" pitchFamily="34" charset="-120"/>
              </a:rPr>
              <a:t>TRIAGE</a:t>
            </a:r>
            <a:endParaRPr lang="en-US" sz="1400" dirty="0"/>
          </a:p>
        </p:txBody>
      </p:sp>
      <p:sp>
        <p:nvSpPr>
          <p:cNvPr id="19" name="Stage 5"/>
          <p:cNvSpPr/>
          <p:nvPr/>
        </p:nvSpPr>
        <p:spPr>
          <a:xfrm>
            <a:off x="8888984" y="5806440"/>
            <a:ext cx="2338832" cy="676656"/>
          </a:xfrm>
          <a:prstGeom prst="chevron">
            <a:avLst/>
          </a:prstGeom>
          <a:solidFill>
            <a:schemeClr val="accent1"/>
          </a:solidFill>
          <a:ln/>
        </p:spPr>
        <p:txBody>
          <a:bodyPr wrap="square" lIns="25400" tIns="25400" rIns="25400" bIns="25400" rtlCol="0" anchor="ctr"/>
          <a:lstStyle/>
          <a:p>
            <a:pPr algn="ctr" indent="0" marL="0">
              <a:buNone/>
            </a:pPr>
            <a:r>
              <a:rPr lang="en-US" sz="1100" dirty="0">
                <a:solidFill>
                  <a:schemeClr val="bg1"/>
                </a:solidFill>
              </a:rPr>
              <a:t>05  </a:t>
            </a:r>
            <a:pPr algn="ctr" indent="0" marL="0">
              <a:buNone/>
            </a:pPr>
            <a:r>
              <a:rPr lang="en-US" sz="1300" b="1" dirty="0">
                <a:solidFill>
                  <a:schemeClr val="bg1"/>
                </a:solidFill>
                <a:latin typeface="+mj-lt" pitchFamily="34" charset="0"/>
                <a:ea typeface="+mj-lt" pitchFamily="34" charset="-122"/>
                <a:cs typeface="+mj-lt" pitchFamily="34" charset="-120"/>
              </a:rPr>
              <a:t>INVESTIGATION</a:t>
            </a:r>
            <a:endParaRPr lang="en-US" sz="1400" dirty="0"/>
          </a:p>
        </p:txBody>
      </p:sp>
      <p:sp>
        <p:nvSpPr>
          <p:cNvPr id="20" name="Stage 6"/>
          <p:cNvSpPr/>
          <p:nvPr/>
        </p:nvSpPr>
        <p:spPr>
          <a:xfrm>
            <a:off x="10944352"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06  </a:t>
            </a:r>
            <a:pPr algn="ctr" indent="0" marL="0">
              <a:buNone/>
            </a:pPr>
            <a:r>
              <a:rPr lang="en-US" sz="1300" b="1" dirty="0">
                <a:solidFill>
                  <a:schemeClr val="bg1"/>
                </a:solidFill>
                <a:latin typeface="+mj-lt" pitchFamily="34" charset="0"/>
                <a:ea typeface="+mj-lt" pitchFamily="34" charset="-122"/>
                <a:cs typeface="+mj-lt" pitchFamily="34" charset="-120"/>
              </a:rPr>
              <a:t>CONTAINMENT</a:t>
            </a:r>
            <a:endParaRPr lang="en-US" sz="1400" dirty="0"/>
          </a:p>
        </p:txBody>
      </p:sp>
      <p:sp>
        <p:nvSpPr>
          <p:cNvPr id="21" name="Stage 7"/>
          <p:cNvSpPr/>
          <p:nvPr/>
        </p:nvSpPr>
        <p:spPr>
          <a:xfrm>
            <a:off x="12999720"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07  </a:t>
            </a:r>
            <a:pPr algn="ctr" indent="0" marL="0">
              <a:buNone/>
            </a:pPr>
            <a:r>
              <a:rPr lang="en-US" sz="1300" b="1" dirty="0">
                <a:solidFill>
                  <a:schemeClr val="bg1"/>
                </a:solidFill>
                <a:latin typeface="+mj-lt" pitchFamily="34" charset="0"/>
                <a:ea typeface="+mj-lt" pitchFamily="34" charset="-122"/>
                <a:cs typeface="+mj-lt" pitchFamily="34" charset="-120"/>
              </a:rPr>
              <a:t>RECOVERY</a:t>
            </a:r>
            <a:endParaRPr lang="en-US" sz="1400" dirty="0"/>
          </a:p>
        </p:txBody>
      </p:sp>
      <p:sp>
        <p:nvSpPr>
          <p:cNvPr id="22" name="Stage 8"/>
          <p:cNvSpPr/>
          <p:nvPr/>
        </p:nvSpPr>
        <p:spPr>
          <a:xfrm>
            <a:off x="15055088"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08  </a:t>
            </a:r>
            <a:pPr algn="ctr" indent="0" marL="0">
              <a:buNone/>
            </a:pPr>
            <a:r>
              <a:rPr lang="en-US" sz="1300" b="1" dirty="0">
                <a:solidFill>
                  <a:schemeClr val="bg1"/>
                </a:solidFill>
                <a:latin typeface="+mj-lt" pitchFamily="34" charset="0"/>
                <a:ea typeface="+mj-lt" pitchFamily="34" charset="-122"/>
                <a:cs typeface="+mj-lt" pitchFamily="34" charset="-120"/>
              </a:rPr>
              <a:t>REPORTING</a:t>
            </a:r>
            <a:endParaRPr lang="en-US" sz="1400" dirty="0"/>
          </a:p>
        </p:txBody>
      </p:sp>
      <p:sp>
        <p:nvSpPr>
          <p:cNvPr id="23" name="Stage 9"/>
          <p:cNvSpPr/>
          <p:nvPr/>
        </p:nvSpPr>
        <p:spPr>
          <a:xfrm>
            <a:off x="17110456" y="5806440"/>
            <a:ext cx="2338832" cy="676656"/>
          </a:xfrm>
          <a:prstGeom prst="chevron">
            <a:avLst/>
          </a:prstGeom>
          <a:solidFill>
            <a:schemeClr val="accent2"/>
          </a:solidFill>
          <a:ln/>
        </p:spPr>
        <p:txBody>
          <a:bodyPr wrap="square" lIns="25400" tIns="25400" rIns="25400" bIns="25400" rtlCol="0" anchor="ctr"/>
          <a:lstStyle/>
          <a:p>
            <a:pPr algn="ctr" indent="0" marL="0">
              <a:buNone/>
            </a:pPr>
            <a:r>
              <a:rPr lang="en-US" sz="1100" dirty="0">
                <a:solidFill>
                  <a:schemeClr val="bg1"/>
                </a:solidFill>
              </a:rPr>
              <a:t>09  </a:t>
            </a:r>
            <a:pPr algn="ctr" indent="0" marL="0">
              <a:buNone/>
            </a:pPr>
            <a:r>
              <a:rPr lang="en-US" sz="1100" b="1" dirty="0">
                <a:solidFill>
                  <a:schemeClr val="bg1"/>
                </a:solidFill>
                <a:latin typeface="+mj-lt" pitchFamily="34" charset="0"/>
                <a:ea typeface="+mj-lt" pitchFamily="34" charset="-122"/>
                <a:cs typeface="+mj-lt" pitchFamily="34" charset="-120"/>
              </a:rPr>
              <a:t>LESSONS LEARNED</a:t>
            </a:r>
            <a:endParaRPr lang="en-US" sz="1400" dirty="0"/>
          </a:p>
        </p:txBody>
      </p:sp>
      <p:pic>
        <p:nvPicPr>
          <p:cNvPr id="24" name="Image 0" descr="preencoded.png">    </p:cNvPr>
          <p:cNvPicPr>
            <a:picLocks noChangeAspect="1"/>
          </p:cNvPicPr>
          <p:nvPr/>
        </p:nvPicPr>
        <p:blipFill>
          <a:blip r:embed="rId1"/>
          <a:stretch>
            <a:fillRect/>
          </a:stretch>
        </p:blipFill>
        <p:spPr>
          <a:xfrm>
            <a:off x="704088" y="6665976"/>
            <a:ext cx="384048" cy="384048"/>
          </a:xfrm>
          <a:prstGeom prst="rect">
            <a:avLst/>
          </a:prstGeom>
        </p:spPr>
      </p:pic>
      <p:sp>
        <p:nvSpPr>
          <p:cNvPr id="25" name="Text 22"/>
          <p:cNvSpPr txBox="1"/>
          <p:nvPr/>
        </p:nvSpPr>
        <p:spPr>
          <a:xfrm>
            <a:off x="704088"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Telemetry from identity, endpoint, network, cloud and applications.</a:t>
            </a:r>
            <a:endParaRPr lang="en-US" sz="1200" dirty="0"/>
          </a:p>
        </p:txBody>
      </p:sp>
      <p:pic>
        <p:nvPicPr>
          <p:cNvPr id="26" name="Image 1" descr="preencoded.png">    </p:cNvPr>
          <p:cNvPicPr>
            <a:picLocks noChangeAspect="1"/>
          </p:cNvPicPr>
          <p:nvPr/>
        </p:nvPicPr>
        <p:blipFill>
          <a:blip r:embed="rId2"/>
          <a:stretch>
            <a:fillRect/>
          </a:stretch>
        </p:blipFill>
        <p:spPr>
          <a:xfrm>
            <a:off x="2759456" y="6665976"/>
            <a:ext cx="384048" cy="384048"/>
          </a:xfrm>
          <a:prstGeom prst="rect">
            <a:avLst/>
          </a:prstGeom>
        </p:spPr>
      </p:pic>
      <p:sp>
        <p:nvSpPr>
          <p:cNvPr id="27" name="Text 23"/>
          <p:cNvSpPr txBox="1"/>
          <p:nvPr/>
        </p:nvSpPr>
        <p:spPr>
          <a:xfrm>
            <a:off x="2759456"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A detection written for one threat and mapped to a MITRE ATT&amp;CK technique.</a:t>
            </a:r>
            <a:endParaRPr lang="en-US" sz="1200" dirty="0"/>
          </a:p>
        </p:txBody>
      </p:sp>
      <p:pic>
        <p:nvPicPr>
          <p:cNvPr id="28" name="Image 2" descr="preencoded.png">    </p:cNvPr>
          <p:cNvPicPr>
            <a:picLocks noChangeAspect="1"/>
          </p:cNvPicPr>
          <p:nvPr/>
        </p:nvPicPr>
        <p:blipFill>
          <a:blip r:embed="rId3"/>
          <a:stretch>
            <a:fillRect/>
          </a:stretch>
        </p:blipFill>
        <p:spPr>
          <a:xfrm>
            <a:off x="4814824" y="6665976"/>
            <a:ext cx="384048" cy="384048"/>
          </a:xfrm>
          <a:prstGeom prst="rect">
            <a:avLst/>
          </a:prstGeom>
        </p:spPr>
      </p:pic>
      <p:sp>
        <p:nvSpPr>
          <p:cNvPr id="29" name="Text 24"/>
          <p:cNvSpPr txBox="1"/>
          <p:nvPr/>
        </p:nvSpPr>
        <p:spPr>
          <a:xfrm>
            <a:off x="4814824"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The rule fires. Related alerts are grouped into one offense or incident.</a:t>
            </a:r>
            <a:endParaRPr lang="en-US" sz="1200" dirty="0"/>
          </a:p>
        </p:txBody>
      </p:sp>
      <p:pic>
        <p:nvPicPr>
          <p:cNvPr id="30" name="Image 3" descr="preencoded.png">    </p:cNvPr>
          <p:cNvPicPr>
            <a:picLocks noChangeAspect="1"/>
          </p:cNvPicPr>
          <p:nvPr/>
        </p:nvPicPr>
        <p:blipFill>
          <a:blip r:embed="rId4"/>
          <a:stretch>
            <a:fillRect/>
          </a:stretch>
        </p:blipFill>
        <p:spPr>
          <a:xfrm>
            <a:off x="6870192" y="6665976"/>
            <a:ext cx="384048" cy="384048"/>
          </a:xfrm>
          <a:prstGeom prst="rect">
            <a:avLst/>
          </a:prstGeom>
        </p:spPr>
      </p:pic>
      <p:sp>
        <p:nvSpPr>
          <p:cNvPr id="31" name="Text 25"/>
          <p:cNvSpPr txBox="1"/>
          <p:nvPr/>
        </p:nvSpPr>
        <p:spPr>
          <a:xfrm>
            <a:off x="6870192"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Level 1 validates, enriches and sets severity. False positives are closed.</a:t>
            </a:r>
            <a:endParaRPr lang="en-US" sz="1200" dirty="0"/>
          </a:p>
        </p:txBody>
      </p:sp>
      <p:pic>
        <p:nvPicPr>
          <p:cNvPr id="32" name="Image 4" descr="preencoded.png">    </p:cNvPr>
          <p:cNvPicPr>
            <a:picLocks noChangeAspect="1"/>
          </p:cNvPicPr>
          <p:nvPr/>
        </p:nvPicPr>
        <p:blipFill>
          <a:blip r:embed="rId5"/>
          <a:stretch>
            <a:fillRect/>
          </a:stretch>
        </p:blipFill>
        <p:spPr>
          <a:xfrm>
            <a:off x="8925560" y="6665976"/>
            <a:ext cx="384048" cy="384048"/>
          </a:xfrm>
          <a:prstGeom prst="rect">
            <a:avLst/>
          </a:prstGeom>
        </p:spPr>
      </p:pic>
      <p:sp>
        <p:nvSpPr>
          <p:cNvPr id="33" name="Text 26"/>
          <p:cNvSpPr txBox="1"/>
          <p:nvPr/>
        </p:nvSpPr>
        <p:spPr>
          <a:xfrm>
            <a:off x="8925560"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Level 2 scopes the incident: which accounts, systems and data are affected.</a:t>
            </a:r>
            <a:endParaRPr lang="en-US" sz="1200" dirty="0"/>
          </a:p>
        </p:txBody>
      </p:sp>
      <p:pic>
        <p:nvPicPr>
          <p:cNvPr id="34" name="Image 5" descr="preencoded.png">    </p:cNvPr>
          <p:cNvPicPr>
            <a:picLocks noChangeAspect="1"/>
          </p:cNvPicPr>
          <p:nvPr/>
        </p:nvPicPr>
        <p:blipFill>
          <a:blip r:embed="rId6"/>
          <a:stretch>
            <a:fillRect/>
          </a:stretch>
        </p:blipFill>
        <p:spPr>
          <a:xfrm>
            <a:off x="10980928" y="6665976"/>
            <a:ext cx="384048" cy="384048"/>
          </a:xfrm>
          <a:prstGeom prst="rect">
            <a:avLst/>
          </a:prstGeom>
        </p:spPr>
      </p:pic>
      <p:sp>
        <p:nvSpPr>
          <p:cNvPr id="35" name="Text 27"/>
          <p:cNvSpPr txBox="1"/>
          <p:nvPr/>
        </p:nvSpPr>
        <p:spPr>
          <a:xfrm>
            <a:off x="10980928"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Stop the spread: isolate the host, disable the account, block the indicator.</a:t>
            </a:r>
            <a:endParaRPr lang="en-US" sz="1200" dirty="0"/>
          </a:p>
        </p:txBody>
      </p:sp>
      <p:pic>
        <p:nvPicPr>
          <p:cNvPr id="36" name="Image 6" descr="preencoded.png">    </p:cNvPr>
          <p:cNvPicPr>
            <a:picLocks noChangeAspect="1"/>
          </p:cNvPicPr>
          <p:nvPr/>
        </p:nvPicPr>
        <p:blipFill>
          <a:blip r:embed="rId7"/>
          <a:stretch>
            <a:fillRect/>
          </a:stretch>
        </p:blipFill>
        <p:spPr>
          <a:xfrm>
            <a:off x="13036296" y="6665976"/>
            <a:ext cx="384048" cy="384048"/>
          </a:xfrm>
          <a:prstGeom prst="rect">
            <a:avLst/>
          </a:prstGeom>
        </p:spPr>
      </p:pic>
      <p:sp>
        <p:nvSpPr>
          <p:cNvPr id="37" name="Text 28"/>
          <p:cNvSpPr txBox="1"/>
          <p:nvPr/>
        </p:nvSpPr>
        <p:spPr>
          <a:xfrm>
            <a:off x="13036296"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Remove the cause, restore service and confirm the environment is clean.</a:t>
            </a:r>
            <a:endParaRPr lang="en-US" sz="1200" dirty="0"/>
          </a:p>
        </p:txBody>
      </p:sp>
      <p:pic>
        <p:nvPicPr>
          <p:cNvPr id="38" name="Image 7" descr="preencoded.png">    </p:cNvPr>
          <p:cNvPicPr>
            <a:picLocks noChangeAspect="1"/>
          </p:cNvPicPr>
          <p:nvPr/>
        </p:nvPicPr>
        <p:blipFill>
          <a:blip r:embed="rId8"/>
          <a:stretch>
            <a:fillRect/>
          </a:stretch>
        </p:blipFill>
        <p:spPr>
          <a:xfrm>
            <a:off x="15091664" y="6665976"/>
            <a:ext cx="384048" cy="384048"/>
          </a:xfrm>
          <a:prstGeom prst="rect">
            <a:avLst/>
          </a:prstGeom>
        </p:spPr>
      </p:pic>
      <p:sp>
        <p:nvSpPr>
          <p:cNvPr id="39" name="Text 29"/>
          <p:cNvSpPr txBox="1"/>
          <p:nvPr/>
        </p:nvSpPr>
        <p:spPr>
          <a:xfrm>
            <a:off x="15091664"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Classify the incident and notify the authority, clients and data subjects on time.</a:t>
            </a:r>
            <a:endParaRPr lang="en-US" sz="1200" dirty="0"/>
          </a:p>
        </p:txBody>
      </p:sp>
      <p:pic>
        <p:nvPicPr>
          <p:cNvPr id="40" name="Image 8" descr="preencoded.png">    </p:cNvPr>
          <p:cNvPicPr>
            <a:picLocks noChangeAspect="1"/>
          </p:cNvPicPr>
          <p:nvPr/>
        </p:nvPicPr>
        <p:blipFill>
          <a:blip r:embed="rId9"/>
          <a:stretch>
            <a:fillRect/>
          </a:stretch>
        </p:blipFill>
        <p:spPr>
          <a:xfrm>
            <a:off x="17147032" y="6665976"/>
            <a:ext cx="384048" cy="384048"/>
          </a:xfrm>
          <a:prstGeom prst="rect">
            <a:avLst/>
          </a:prstGeom>
        </p:spPr>
      </p:pic>
      <p:sp>
        <p:nvSpPr>
          <p:cNvPr id="41" name="Text 30"/>
          <p:cNvSpPr txBox="1"/>
          <p:nvPr/>
        </p:nvSpPr>
        <p:spPr>
          <a:xfrm>
            <a:off x="17147032" y="7168896"/>
            <a:ext cx="1781048" cy="914400"/>
          </a:xfrm>
          <a:prstGeom prst="rect">
            <a:avLst/>
          </a:prstGeom>
          <a:noFill/>
          <a:ln/>
        </p:spPr>
        <p:txBody>
          <a:bodyPr wrap="square" lIns="0" tIns="0" rIns="0" bIns="0" rtlCol="0" anchor="t"/>
          <a:lstStyle/>
          <a:p>
            <a:pPr indent="0" marL="0">
              <a:buNone/>
            </a:pPr>
            <a:r>
              <a:rPr lang="en-US" sz="1200" dirty="0">
                <a:solidFill>
                  <a:schemeClr val="tx1"/>
                </a:solidFill>
              </a:rPr>
              <a:t>Find the root cause, tune the detection and update the playbook.</a:t>
            </a:r>
            <a:endParaRPr lang="en-US" sz="1200" dirty="0"/>
          </a:p>
        </p:txBody>
      </p:sp>
      <p:sp>
        <p:nvSpPr>
          <p:cNvPr id="42" name="Text 31"/>
          <p:cNvSpPr txBox="1"/>
          <p:nvPr/>
        </p:nvSpPr>
        <p:spPr>
          <a:xfrm>
            <a:off x="667512" y="8311896"/>
            <a:ext cx="1600200" cy="329184"/>
          </a:xfrm>
          <a:prstGeom prst="rect">
            <a:avLst/>
          </a:prstGeom>
          <a:noFill/>
          <a:ln w="12700">
            <a:solidFill>
              <a:schemeClr val="tx1"/>
            </a:solidFill>
          </a:ln>
        </p:spPr>
        <p:txBody>
          <a:bodyPr wrap="square" lIns="0" tIns="0" rIns="0" bIns="0" rtlCol="0" anchor="ctr"/>
          <a:lstStyle/>
          <a:p>
            <a:pPr algn="ctr" indent="0" marL="0">
              <a:buNone/>
            </a:pPr>
            <a:r>
              <a:rPr lang="en-US" sz="1000" spc="250" kern="0" dirty="0">
                <a:solidFill>
                  <a:schemeClr val="tx1"/>
                </a:solidFill>
              </a:rPr>
              <a:t>WORKED EXAMPLE</a:t>
            </a:r>
            <a:endParaRPr lang="en-US" sz="1000" dirty="0"/>
          </a:p>
        </p:txBody>
      </p:sp>
      <p:sp>
        <p:nvSpPr>
          <p:cNvPr id="43" name="Text 32"/>
          <p:cNvSpPr txBox="1"/>
          <p:nvPr/>
        </p:nvSpPr>
        <p:spPr>
          <a:xfrm>
            <a:off x="2450592" y="8275320"/>
            <a:ext cx="9144000" cy="402336"/>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Credential stuffing attack on the customer portal</a:t>
            </a:r>
            <a:endParaRPr lang="en-US" sz="2200" dirty="0"/>
          </a:p>
        </p:txBody>
      </p:sp>
      <p:sp>
        <p:nvSpPr>
          <p:cNvPr id="44" name="Text 33"/>
          <p:cNvSpPr txBox="1"/>
          <p:nvPr/>
        </p:nvSpPr>
        <p:spPr>
          <a:xfrm>
            <a:off x="12134088" y="8311896"/>
            <a:ext cx="7315200" cy="329184"/>
          </a:xfrm>
          <a:prstGeom prst="rect">
            <a:avLst/>
          </a:prstGeom>
          <a:noFill/>
          <a:ln/>
        </p:spPr>
        <p:txBody>
          <a:bodyPr wrap="square" lIns="0" tIns="0" rIns="0" bIns="0" rtlCol="0" anchor="ctr"/>
          <a:lstStyle/>
          <a:p>
            <a:pPr algn="r" indent="0" marL="0">
              <a:buNone/>
            </a:pPr>
            <a:r>
              <a:rPr lang="en-US" sz="1200" dirty="0">
                <a:solidFill>
                  <a:schemeClr val="tx2"/>
                </a:solidFill>
              </a:rPr>
              <a:t>Traces to SCM-001 in the security control matrix</a:t>
            </a:r>
            <a:endParaRPr lang="en-US" sz="1200" dirty="0"/>
          </a:p>
        </p:txBody>
      </p:sp>
      <p:sp>
        <p:nvSpPr>
          <p:cNvPr id="45" name="Example 01"/>
          <p:cNvSpPr txBox="1"/>
          <p:nvPr/>
        </p:nvSpPr>
        <p:spPr>
          <a:xfrm>
            <a:off x="667512"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01 LOG SOURCE</a:t>
            </a:r>
            <a:endParaRPr lang="en-US" sz="950" dirty="0"/>
          </a:p>
          <a:p>
            <a:pPr indent="0" marL="0">
              <a:spcAft>
                <a:spcPts val="500"/>
              </a:spcAft>
              <a:buNone/>
            </a:pPr>
            <a:r>
              <a:rPr lang="en-US" sz="1200" dirty="0">
                <a:solidFill>
                  <a:schemeClr val="tx1"/>
                </a:solidFill>
              </a:rPr>
              <a:t>Entra ID sign-in logs, WAF logs and customer portal application logs.</a:t>
            </a:r>
            <a:endParaRPr lang="en-US" sz="950" dirty="0"/>
          </a:p>
        </p:txBody>
      </p:sp>
      <p:sp>
        <p:nvSpPr>
          <p:cNvPr id="46" name="Example 02"/>
          <p:cNvSpPr txBox="1"/>
          <p:nvPr/>
        </p:nvSpPr>
        <p:spPr>
          <a:xfrm>
            <a:off x="2722880"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02 USE CASE</a:t>
            </a:r>
            <a:endParaRPr lang="en-US" sz="950" dirty="0"/>
          </a:p>
          <a:p>
            <a:pPr indent="0" marL="0">
              <a:spcAft>
                <a:spcPts val="500"/>
              </a:spcAft>
              <a:buNone/>
            </a:pPr>
            <a:r>
              <a:rPr lang="en-US" sz="1200" dirty="0">
                <a:solidFill>
                  <a:schemeClr val="tx1"/>
                </a:solidFill>
              </a:rPr>
              <a:t>Many failed sign-ins from many IP addresses, then a success. ATT&amp;CK T1110.004.</a:t>
            </a:r>
            <a:endParaRPr lang="en-US" sz="950" dirty="0"/>
          </a:p>
        </p:txBody>
      </p:sp>
      <p:sp>
        <p:nvSpPr>
          <p:cNvPr id="47" name="Example 03"/>
          <p:cNvSpPr txBox="1"/>
          <p:nvPr/>
        </p:nvSpPr>
        <p:spPr>
          <a:xfrm>
            <a:off x="4778248"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03 ALERT</a:t>
            </a:r>
            <a:endParaRPr lang="en-US" sz="950" dirty="0"/>
          </a:p>
          <a:p>
            <a:pPr indent="0" marL="0">
              <a:spcAft>
                <a:spcPts val="500"/>
              </a:spcAft>
              <a:buNone/>
            </a:pPr>
            <a:r>
              <a:rPr lang="en-US" sz="1200" dirty="0">
                <a:solidFill>
                  <a:schemeClr val="tx1"/>
                </a:solidFill>
              </a:rPr>
              <a:t>QRadar raises an offense. The same logic in Sentinel raises an incident with accounts and IPs as entities.</a:t>
            </a:r>
            <a:endParaRPr lang="en-US" sz="950" dirty="0"/>
          </a:p>
        </p:txBody>
      </p:sp>
      <p:sp>
        <p:nvSpPr>
          <p:cNvPr id="48" name="Example 04"/>
          <p:cNvSpPr txBox="1"/>
          <p:nvPr/>
        </p:nvSpPr>
        <p:spPr>
          <a:xfrm>
            <a:off x="6833616"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04 TRIAGE</a:t>
            </a:r>
            <a:endParaRPr lang="en-US" sz="950" dirty="0"/>
          </a:p>
          <a:p>
            <a:pPr indent="0" marL="0">
              <a:spcAft>
                <a:spcPts val="500"/>
              </a:spcAft>
              <a:buNone/>
            </a:pPr>
            <a:r>
              <a:rPr lang="en-US" sz="1200" dirty="0">
                <a:solidFill>
                  <a:schemeClr val="tx1"/>
                </a:solidFill>
              </a:rPr>
              <a:t>Level 1 confirms a true positive and sets severity to High.</a:t>
            </a:r>
            <a:endParaRPr lang="en-US" sz="950" dirty="0"/>
          </a:p>
        </p:txBody>
      </p:sp>
      <p:sp>
        <p:nvSpPr>
          <p:cNvPr id="49" name="Example 05"/>
          <p:cNvSpPr txBox="1"/>
          <p:nvPr/>
        </p:nvSpPr>
        <p:spPr>
          <a:xfrm>
            <a:off x="8888984"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1"/>
                </a:solidFill>
              </a:rPr>
              <a:t>05 INVESTIGATION</a:t>
            </a:r>
            <a:endParaRPr lang="en-US" sz="950" dirty="0"/>
          </a:p>
          <a:p>
            <a:pPr indent="0" marL="0">
              <a:spcAft>
                <a:spcPts val="500"/>
              </a:spcAft>
              <a:buNone/>
            </a:pPr>
            <a:r>
              <a:rPr lang="en-US" sz="1200" dirty="0">
                <a:solidFill>
                  <a:schemeClr val="tx1"/>
                </a:solidFill>
              </a:rPr>
              <a:t>Level 2 lists the accounts with a successful sign-in from the botnet and checks for payment changes.</a:t>
            </a:r>
            <a:endParaRPr lang="en-US" sz="950" dirty="0"/>
          </a:p>
        </p:txBody>
      </p:sp>
      <p:sp>
        <p:nvSpPr>
          <p:cNvPr id="50" name="Example 06"/>
          <p:cNvSpPr txBox="1"/>
          <p:nvPr/>
        </p:nvSpPr>
        <p:spPr>
          <a:xfrm>
            <a:off x="10944352"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06 CONTAINMENT</a:t>
            </a:r>
            <a:endParaRPr lang="en-US" sz="950" dirty="0"/>
          </a:p>
          <a:p>
            <a:pPr indent="0" marL="0">
              <a:spcAft>
                <a:spcPts val="500"/>
              </a:spcAft>
              <a:buNone/>
            </a:pPr>
            <a:r>
              <a:rPr lang="en-US" sz="1200" dirty="0">
                <a:solidFill>
                  <a:schemeClr val="tx1"/>
                </a:solidFill>
              </a:rPr>
              <a:t>Playbook revokes sessions, forces password resets and blocks the source ranges at the WAF.</a:t>
            </a:r>
            <a:endParaRPr lang="en-US" sz="950" dirty="0"/>
          </a:p>
        </p:txBody>
      </p:sp>
      <p:sp>
        <p:nvSpPr>
          <p:cNvPr id="51" name="Example 07"/>
          <p:cNvSpPr txBox="1"/>
          <p:nvPr/>
        </p:nvSpPr>
        <p:spPr>
          <a:xfrm>
            <a:off x="12999720"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07 RECOVERY</a:t>
            </a:r>
            <a:endParaRPr lang="en-US" sz="950" dirty="0"/>
          </a:p>
          <a:p>
            <a:pPr indent="0" marL="0">
              <a:spcAft>
                <a:spcPts val="500"/>
              </a:spcAft>
              <a:buNone/>
            </a:pPr>
            <a:r>
              <a:rPr lang="en-US" sz="1200" dirty="0">
                <a:solidFill>
                  <a:schemeClr val="tx1"/>
                </a:solidFill>
              </a:rPr>
              <a:t>MFA enforced on affected accounts. Tampered settings restored. Watch for re-entry.</a:t>
            </a:r>
            <a:endParaRPr lang="en-US" sz="950" dirty="0"/>
          </a:p>
        </p:txBody>
      </p:sp>
      <p:sp>
        <p:nvSpPr>
          <p:cNvPr id="52" name="Example 08"/>
          <p:cNvSpPr txBox="1"/>
          <p:nvPr/>
        </p:nvSpPr>
        <p:spPr>
          <a:xfrm>
            <a:off x="15055088"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08 REPORTING</a:t>
            </a:r>
            <a:endParaRPr lang="en-US" sz="950" dirty="0"/>
          </a:p>
          <a:p>
            <a:pPr indent="0" marL="0">
              <a:spcAft>
                <a:spcPts val="500"/>
              </a:spcAft>
              <a:buNone/>
            </a:pPr>
            <a:r>
              <a:rPr lang="en-US" sz="1200" dirty="0">
                <a:solidFill>
                  <a:schemeClr val="tx1"/>
                </a:solidFill>
              </a:rPr>
              <a:t>Classified against DORA criteria. If major: initial notification within 4 hours. GDPR notice within 72 hours.</a:t>
            </a:r>
            <a:endParaRPr lang="en-US" sz="950" dirty="0"/>
          </a:p>
        </p:txBody>
      </p:sp>
      <p:sp>
        <p:nvSpPr>
          <p:cNvPr id="53" name="Example 09"/>
          <p:cNvSpPr txBox="1"/>
          <p:nvPr/>
        </p:nvSpPr>
        <p:spPr>
          <a:xfrm>
            <a:off x="17110456" y="8869680"/>
            <a:ext cx="1918208" cy="1463040"/>
          </a:xfrm>
          <a:prstGeom prst="rect">
            <a:avLst/>
          </a:prstGeom>
          <a:solidFill>
            <a:schemeClr val="bg1"/>
          </a:solidFill>
          <a:ln/>
        </p:spPr>
        <p:txBody>
          <a:bodyPr wrap="square" lIns="114300" tIns="114300" rIns="114300" bIns="114300" rtlCol="0" anchor="t"/>
          <a:lstStyle/>
          <a:p>
            <a:pPr indent="0" marL="0">
              <a:spcAft>
                <a:spcPts val="500"/>
              </a:spcAft>
              <a:buNone/>
            </a:pPr>
            <a:r>
              <a:rPr lang="en-US" sz="950" b="1" spc="100" kern="0" dirty="0">
                <a:solidFill>
                  <a:schemeClr val="accent2"/>
                </a:solidFill>
              </a:rPr>
              <a:t>09 LESSONS LEARNED</a:t>
            </a:r>
            <a:endParaRPr lang="en-US" sz="950" dirty="0"/>
          </a:p>
          <a:p>
            <a:pPr indent="0" marL="0">
              <a:spcAft>
                <a:spcPts val="500"/>
              </a:spcAft>
              <a:buNone/>
            </a:pPr>
            <a:r>
              <a:rPr lang="en-US" sz="1200" dirty="0">
                <a:solidFill>
                  <a:schemeClr val="tx1"/>
                </a:solidFill>
              </a:rPr>
              <a:t>Breached-password screening added. Rule threshold tuned. Playbook updated.</a:t>
            </a:r>
            <a:endParaRPr lang="en-US" sz="950" dirty="0"/>
          </a:p>
        </p:txBody>
      </p:sp>
      <p:sp>
        <p:nvSpPr>
          <p:cNvPr id="54" name="Text 43"/>
          <p:cNvSpPr txBox="1"/>
          <p:nvPr/>
        </p:nvSpPr>
        <p:spPr>
          <a:xfrm>
            <a:off x="667512" y="1110996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1</a:t>
            </a:r>
            <a:endParaRPr lang="en-US" sz="1000" dirty="0"/>
          </a:p>
        </p:txBody>
      </p:sp>
      <p:sp>
        <p:nvSpPr>
          <p:cNvPr id="55" name="Text 44"/>
          <p:cNvSpPr txBox="1"/>
          <p:nvPr/>
        </p:nvSpPr>
        <p:spPr>
          <a:xfrm>
            <a:off x="667512" y="11347704"/>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Detection and response matrix</a:t>
            </a:r>
            <a:endParaRPr lang="en-US" sz="2800" dirty="0"/>
          </a:p>
        </p:txBody>
      </p:sp>
      <p:sp>
        <p:nvSpPr>
          <p:cNvPr id="56" name="Text 45"/>
          <p:cNvSpPr txBox="1"/>
          <p:nvPr/>
        </p:nvSpPr>
        <p:spPr>
          <a:xfrm>
            <a:off x="10671048" y="11128248"/>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One row per use case. Each row traces back to a risk scenario in the security control matrix and forward to the evidence an auditor will ask for.</a:t>
            </a:r>
            <a:endParaRPr lang="en-US" sz="12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67512" y="12024360"/>
          <a:ext cx="15087600" cy="914400"/>
        </p:xfrm>
        <a:graphic>
          <a:graphicData uri="http://schemas.openxmlformats.org/drawingml/2006/table">
            <a:tbl>
              <a:tblPr/>
              <a:tblGrid>
                <a:gridCol w="1052200"/>
                <a:gridCol w="894370"/>
                <a:gridCol w="1893961"/>
                <a:gridCol w="1473080"/>
                <a:gridCol w="1999181"/>
                <a:gridCol w="2525281"/>
                <a:gridCol w="2525281"/>
                <a:gridCol w="894370"/>
                <a:gridCol w="2209621"/>
                <a:gridCol w="1315250"/>
                <a:gridCol w="1999181"/>
              </a:tblGrid>
              <a:tr h="493522">
                <a:tc>
                  <a:txBody>
                    <a:bodyPr/>
                    <a:lstStyle/>
                    <a:p>
                      <a:pPr indent="0" marL="0">
                        <a:buNone/>
                      </a:pPr>
                      <a:r>
                        <a:rPr lang="en-US" sz="1150" b="1" dirty="0">
                          <a:solidFill>
                            <a:schemeClr val="bg1"/>
                          </a:solidFill>
                        </a:rPr>
                        <a:t>ID</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Traces to</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Threat scenario</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ATT&amp;CK technique</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Log sources</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Detection in QRadar</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Detection in Microsoft Sentinel</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Severity</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Response playbook</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Owner</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Evidence</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1028065">
                <a:tc>
                  <a:txBody>
                    <a:bodyPr/>
                    <a:lstStyle/>
                    <a:p>
                      <a:pPr indent="0" marL="0">
                        <a:buNone/>
                      </a:pPr>
                      <a:r>
                        <a:rPr lang="en-US" sz="1150" b="1" dirty="0">
                          <a:solidFill>
                            <a:schemeClr val="tx1"/>
                          </a:solidFill>
                        </a:rPr>
                        <a:t>SOC-UC-001</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SCM-001</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Credential stuffing against the customer portal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T1110.004 Credential Stuffing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Entra ID sign-in logs, WAF, portal application logs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Rule: failed logins from many source IPs followed by a success. Uses authentication building blocks and a reference set of known-bad IPs.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Scheduled analytics rule on SigninLogs in KQL. Watchlist of known-bad IPs. UEBA sign-in anomalies.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Revoke sessions, force password reset, block source ranges at the WAF.</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L1 to L2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Offense or incident record, playbook run log, list of affected accounts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49884">
                <a:tc>
                  <a:txBody>
                    <a:bodyPr/>
                    <a:lstStyle/>
                    <a:p>
                      <a:pPr indent="0" marL="0">
                        <a:buNone/>
                      </a:pPr>
                      <a:r>
                        <a:rPr lang="en-US" sz="1150" b="1" dirty="0">
                          <a:solidFill>
                            <a:schemeClr val="tx1"/>
                          </a:solidFill>
                        </a:rPr>
                        <a:t>SOC-UC-002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SCM-002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Ransomware encrypting servers and backups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T1486 Data Encrypted for Impact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Defender for Endpoint, Windows Security events, backup platform logs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Defender alerts through the Microsoft Defender DSM, plus a rule on mass file changes and backup deletion.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Defender XDR connector incidents. Fusion multistage attack detection.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bg1"/>
                          </a:solidFill>
                        </a:rPr>
                        <a:t>Critical</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150" dirty="0">
                          <a:solidFill>
                            <a:schemeClr val="tx1"/>
                          </a:solidFill>
                        </a:rPr>
                        <a:t>Isolate devices, disable accounts, invoke the recovery plan.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L2 to L3, incident manager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timeline, isolation log, restore test record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49884">
                <a:tc>
                  <a:txBody>
                    <a:bodyPr/>
                    <a:lstStyle/>
                    <a:p>
                      <a:pPr indent="0" marL="0">
                        <a:buNone/>
                      </a:pPr>
                      <a:r>
                        <a:rPr lang="en-US" sz="1150" b="1" dirty="0">
                          <a:solidFill>
                            <a:schemeClr val="tx1"/>
                          </a:solidFill>
                        </a:rPr>
                        <a:t>SOC-UC-003</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SCM-003</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Compromise through a third-party ICT provider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T1199 Trusted Relationship</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Provider VPN and remote access, service principal sign-ins, provider logs (CIS 8.12)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Rule: provider account active outside agreed hours or sources. Reference set of provider accounts.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Analytics rule on service principal and guest sign-ins. Watchlist of provider identities.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Suspend provider access, rotate secrets, call the contract contact.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L2, third-party risk owner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record, provider notification, access review</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71703">
                <a:tc>
                  <a:txBody>
                    <a:bodyPr/>
                    <a:lstStyle/>
                    <a:p>
                      <a:pPr indent="0" marL="0">
                        <a:buNone/>
                      </a:pPr>
                      <a:r>
                        <a:rPr lang="en-US" sz="1150" b="1" dirty="0">
                          <a:solidFill>
                            <a:schemeClr val="tx1"/>
                          </a:solidFill>
                        </a:rPr>
                        <a:t>SOC-UC-004</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SCM-004</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Misuse of administrator credentials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T1078 Valid Accounts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Entra ID audit logs, PIM, Active Directory security events, PAM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Rule: privileged group change outside a change window. Reference set of administrators.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Analytics rule on AuditLogs and SecurityEvent. Watchlist of privileged accounts.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Disable the account, revoke tokens, review every change made.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record, PAM session recording, change reconciliation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49884">
                <a:tc>
                  <a:txBody>
                    <a:bodyPr/>
                    <a:lstStyle/>
                    <a:p>
                      <a:pPr indent="0" marL="0">
                        <a:buNone/>
                      </a:pPr>
                      <a:r>
                        <a:rPr lang="en-US" sz="1150" b="1" dirty="0">
                          <a:solidFill>
                            <a:schemeClr val="tx1"/>
                          </a:solidFill>
                        </a:rPr>
                        <a:t>SOC-UC-005</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SCM-005</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Exploited vulnerability on an internet-facing system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T1190 Exploit Public-Facing Application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Firewall, WAF and VPN logs, vulnerability scanner, Defender Vulnerability Management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Rule: exploit signature against an asset with a matching open vulnerability in its asset profile.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Analytics rule joining CommonSecurityLog with vulnerability data. Threat intelligence matching.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High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150" dirty="0">
                          <a:solidFill>
                            <a:schemeClr val="tx1"/>
                          </a:solidFill>
                        </a:rPr>
                        <a:t>Isolate the system, apply the emergency patch, hunt for web shells.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L2 to L3</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Incident record, patch record, hunt report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93522">
                <a:tc>
                  <a:txBody>
                    <a:bodyPr/>
                    <a:lstStyle/>
                    <a:p>
                      <a:pPr indent="0" marL="0">
                        <a:buNone/>
                      </a:pPr>
                      <a:r>
                        <a:rPr lang="en-US" sz="1150" b="1" dirty="0">
                          <a:solidFill>
                            <a:schemeClr val="tx2"/>
                          </a:solidFill>
                        </a:rPr>
                        <a:t>SOC-UC-0NN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[SCM ID]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[Threat scenario]</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[Technique ID]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[Sources]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[QRadar rule]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[Sentinel rule]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[Severity]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[Playbook]</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[Tier]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[Proof]</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58" name="Text 46"/>
          <p:cNvSpPr txBox="1"/>
          <p:nvPr/>
        </p:nvSpPr>
        <p:spPr>
          <a:xfrm>
            <a:off x="667512" y="18038064"/>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2</a:t>
            </a:r>
            <a:endParaRPr lang="en-US" sz="1000" dirty="0"/>
          </a:p>
        </p:txBody>
      </p:sp>
      <p:sp>
        <p:nvSpPr>
          <p:cNvPr id="59" name="Text 47"/>
          <p:cNvSpPr txBox="1"/>
          <p:nvPr/>
        </p:nvSpPr>
        <p:spPr>
          <a:xfrm>
            <a:off x="667512" y="18275808"/>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SOC roles and tiers</a:t>
            </a:r>
            <a:endParaRPr lang="en-US" sz="2400" dirty="0"/>
          </a:p>
        </p:txBody>
      </p:sp>
      <p:sp>
        <p:nvSpPr>
          <p:cNvPr id="60" name="Text 48"/>
          <p:cNvSpPr txBox="1"/>
          <p:nvPr/>
        </p:nvSpPr>
        <p:spPr>
          <a:xfrm>
            <a:off x="667512" y="18751296"/>
            <a:ext cx="9208008" cy="384048"/>
          </a:xfrm>
          <a:prstGeom prst="rect">
            <a:avLst/>
          </a:prstGeom>
          <a:noFill/>
          <a:ln/>
        </p:spPr>
        <p:txBody>
          <a:bodyPr wrap="square" lIns="0" tIns="0" rIns="0" bIns="0" rtlCol="0" anchor="t"/>
          <a:lstStyle/>
          <a:p>
            <a:pPr indent="0" marL="0">
              <a:buNone/>
            </a:pPr>
            <a:r>
              <a:rPr lang="en-US" sz="1150" dirty="0">
                <a:solidFill>
                  <a:schemeClr val="tx2"/>
                </a:solidFill>
              </a:rPr>
              <a:t>Who does what, and where they work.</a:t>
            </a:r>
            <a:endParaRPr lang="en-US" sz="11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667512" y="19245072"/>
          <a:ext cx="15087600" cy="914400"/>
        </p:xfrm>
        <a:graphic>
          <a:graphicData uri="http://schemas.openxmlformats.org/drawingml/2006/table">
            <a:tbl>
              <a:tblPr/>
              <a:tblGrid>
                <a:gridCol w="1933682"/>
                <a:gridCol w="4235684"/>
                <a:gridCol w="3038643"/>
              </a:tblGrid>
              <a:tr h="365760">
                <a:tc>
                  <a:txBody>
                    <a:bodyPr/>
                    <a:lstStyle/>
                    <a:p>
                      <a:pPr indent="0" marL="0">
                        <a:buNone/>
                      </a:pPr>
                      <a:r>
                        <a:rPr lang="en-US" sz="1200" b="1" dirty="0">
                          <a:solidFill>
                            <a:schemeClr val="bg1"/>
                          </a:solidFill>
                        </a:rPr>
                        <a:t>Role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they do</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Primary tools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Level 1 · Triage analyst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Watches the queue, validates and enriches alerts, closes false positives, escalates.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QRadar offenses, Sentinel incident queue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Level 2 · Incident responder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Investigates scope and cause, contains, coordinates recovery with system owners.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AQL and KQL searches, Defender XDR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Level 3 · Threat hunter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Hunts for what the rules missed. Performs forensics and malware analysis.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Hunting queries, threat intelligence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Detection engineer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Builds, tests and tunes use cases. Maintains ATT&amp;CK coverage.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QRadar Use Case Manager, Sentinel analytics rules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Platform engineer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Onboards log sources. Keeps collectors, connectors and playbooks healthy.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DSMs, data connectors, SOAR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Incident manager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Runs major incidents. Owns classification and regulatory reporting with compliance and the DPO.</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 record, reporting templates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SOC manager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Owns staffing, metrics and service levels. Reports to the management body.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Dashboards, KPI reports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62" name="Text 49"/>
          <p:cNvSpPr txBox="1"/>
          <p:nvPr/>
        </p:nvSpPr>
        <p:spPr>
          <a:xfrm>
            <a:off x="10241280" y="18038064"/>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3</a:t>
            </a:r>
            <a:endParaRPr lang="en-US" sz="1000" dirty="0"/>
          </a:p>
        </p:txBody>
      </p:sp>
      <p:sp>
        <p:nvSpPr>
          <p:cNvPr id="63" name="Text 50"/>
          <p:cNvSpPr txBox="1"/>
          <p:nvPr/>
        </p:nvSpPr>
        <p:spPr>
          <a:xfrm>
            <a:off x="10241280" y="18275808"/>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Severity and response targets</a:t>
            </a:r>
            <a:endParaRPr lang="en-US" sz="2400" dirty="0"/>
          </a:p>
        </p:txBody>
      </p:sp>
      <p:sp>
        <p:nvSpPr>
          <p:cNvPr id="64" name="Text 51"/>
          <p:cNvSpPr txBox="1"/>
          <p:nvPr/>
        </p:nvSpPr>
        <p:spPr>
          <a:xfrm>
            <a:off x="10241280" y="18751296"/>
            <a:ext cx="9208008" cy="384048"/>
          </a:xfrm>
          <a:prstGeom prst="rect">
            <a:avLst/>
          </a:prstGeom>
          <a:noFill/>
          <a:ln/>
        </p:spPr>
        <p:txBody>
          <a:bodyPr wrap="square" lIns="0" tIns="0" rIns="0" bIns="0" rtlCol="0" anchor="t"/>
          <a:lstStyle/>
          <a:p>
            <a:pPr indent="0" marL="0">
              <a:buNone/>
            </a:pPr>
            <a:r>
              <a:rPr lang="en-US" sz="1150" dirty="0">
                <a:solidFill>
                  <a:schemeClr val="tx2"/>
                </a:solidFill>
              </a:rPr>
              <a:t>Hybrid: rate by description or by numbers. Bracketed values are placeholders to set against your risk appetite and the DORA thresholds in Delegated Regulation (EU) 2024/1772.</a:t>
            </a:r>
            <a:endParaRPr lang="en-US" sz="1150" dirty="0"/>
          </a:p>
        </p:txBody>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10241280" y="19245072"/>
          <a:ext cx="15087600" cy="914400"/>
        </p:xfrm>
        <a:graphic>
          <a:graphicData uri="http://schemas.openxmlformats.org/drawingml/2006/table">
            <a:tbl>
              <a:tblPr/>
              <a:tblGrid>
                <a:gridCol w="891098"/>
                <a:gridCol w="2291394"/>
                <a:gridCol w="2121661"/>
                <a:gridCol w="1272996"/>
                <a:gridCol w="848664"/>
                <a:gridCol w="1782195"/>
              </a:tblGrid>
              <a:tr h="365760">
                <a:tc>
                  <a:txBody>
                    <a:bodyPr/>
                    <a:lstStyle/>
                    <a:p>
                      <a:pPr indent="0" marL="0">
                        <a:buNone/>
                      </a:pPr>
                      <a:r>
                        <a:rPr lang="en-US" sz="1200" b="1" dirty="0">
                          <a:solidFill>
                            <a:schemeClr val="bg1"/>
                          </a:solidFill>
                        </a:rPr>
                        <a:t>Severity</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Qualitative criteria</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Quantitative trigger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Acknowledge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Contain</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Escalate to</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694944">
                <a:tc>
                  <a:txBody>
                    <a:bodyPr/>
                    <a:lstStyle/>
                    <a:p>
                      <a:pPr indent="0" marL="0">
                        <a:buNone/>
                      </a:pPr>
                      <a:r>
                        <a:rPr lang="en-US" sz="1200" b="1" dirty="0">
                          <a:solidFill>
                            <a:schemeClr val="bg1"/>
                          </a:solidFill>
                        </a:rPr>
                        <a:t>Critical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Critical or important function affected, or a confirmed data breach.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[Over X clients], [over Y hours] downtime or [over €Z] loss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[15 min]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[4 hours]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 manager, CISO, management body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94944">
                <a:tc>
                  <a:txBody>
                    <a:bodyPr/>
                    <a:lstStyle/>
                    <a:p>
                      <a:pPr indent="0" marL="0">
                        <a:buNone/>
                      </a:pPr>
                      <a:r>
                        <a:rPr lang="en-US" sz="1200" b="1" dirty="0">
                          <a:solidFill>
                            <a:schemeClr val="tx1"/>
                          </a:solidFill>
                        </a:rPr>
                        <a:t>High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1"/>
                          </a:solidFill>
                        </a:rPr>
                        <a:t>Confirmed compromise of an account or system. No critical function down.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[X to Y clients] or [€ range]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[30 min]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 hours]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SOC manager, system owner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Medium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00" dirty="0">
                          <a:solidFill>
                            <a:schemeClr val="tx1"/>
                          </a:solidFill>
                        </a:rPr>
                        <a:t>Suspicious activity that needs investigation.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Below reporting thresholds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[4 hours]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[3 days]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Level 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Low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00" dirty="0">
                          <a:solidFill>
                            <a:schemeClr val="tx1"/>
                          </a:solidFill>
                        </a:rPr>
                        <a:t>Policy violation or blocked attempt.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[1 day]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[Planned]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Level 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66" name="Text 52"/>
          <p:cNvSpPr txBox="1"/>
          <p:nvPr/>
        </p:nvSpPr>
        <p:spPr>
          <a:xfrm>
            <a:off x="667512" y="23951184"/>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4</a:t>
            </a:r>
            <a:endParaRPr lang="en-US" sz="1000" dirty="0"/>
          </a:p>
        </p:txBody>
      </p:sp>
      <p:sp>
        <p:nvSpPr>
          <p:cNvPr id="67" name="Text 53"/>
          <p:cNvSpPr txBox="1"/>
          <p:nvPr/>
        </p:nvSpPr>
        <p:spPr>
          <a:xfrm>
            <a:off x="667512" y="24188928"/>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Regulatory reporting clock</a:t>
            </a:r>
            <a:endParaRPr lang="en-US" sz="2400" dirty="0"/>
          </a:p>
        </p:txBody>
      </p:sp>
      <p:sp>
        <p:nvSpPr>
          <p:cNvPr id="68" name="Text 54"/>
          <p:cNvSpPr txBox="1"/>
          <p:nvPr/>
        </p:nvSpPr>
        <p:spPr>
          <a:xfrm>
            <a:off x="667512" y="24664416"/>
            <a:ext cx="9208008" cy="384048"/>
          </a:xfrm>
          <a:prstGeom prst="rect">
            <a:avLst/>
          </a:prstGeom>
          <a:noFill/>
          <a:ln/>
        </p:spPr>
        <p:txBody>
          <a:bodyPr wrap="square" lIns="0" tIns="0" rIns="0" bIns="0" rtlCol="0" anchor="t"/>
          <a:lstStyle/>
          <a:p>
            <a:pPr indent="0" marL="0">
              <a:buNone/>
            </a:pPr>
            <a:r>
              <a:rPr lang="en-US" sz="1150" dirty="0">
                <a:solidFill>
                  <a:schemeClr val="tx2"/>
                </a:solidFill>
              </a:rPr>
              <a:t>The SOC starts each clock. Compliance and the DPO file the report.</a:t>
            </a:r>
            <a:endParaRPr lang="en-US" sz="1150" dirty="0"/>
          </a:p>
        </p:txBody>
      </p:sp>
      <p:graphicFrame>
        <p:nvGraphicFramePr>
          <p:cNvPr id="5" name="Table 3"/>
          <p:cNvGraphicFramePr>
            <a:graphicFrameLocks noGrp="1"/>
          </p:cNvGraphicFramePr>
          <p:nvPr>
            <p:extLst>
              <p:ext uri="{D42A27DB-BD31-4B8C-83A1-F6EECF244321}">
                <p14:modId xmlns:p14="http://schemas.microsoft.com/office/powerpoint/2010/main" val="1579011935"/>
              </p:ext>
            </p:extLst>
          </p:nvPr>
        </p:nvGraphicFramePr>
        <p:xfrm>
          <a:off x="667512" y="25158192"/>
          <a:ext cx="15087600" cy="914400"/>
        </p:xfrm>
        <a:graphic>
          <a:graphicData uri="http://schemas.openxmlformats.org/drawingml/2006/table">
            <a:tbl>
              <a:tblPr/>
              <a:tblGrid>
                <a:gridCol w="1732200"/>
                <a:gridCol w="2096873"/>
                <a:gridCol w="3646736"/>
                <a:gridCol w="1732200"/>
              </a:tblGrid>
              <a:tr h="365760">
                <a:tc>
                  <a:txBody>
                    <a:bodyPr/>
                    <a:lstStyle/>
                    <a:p>
                      <a:pPr indent="0" marL="0">
                        <a:buNone/>
                      </a:pPr>
                      <a:r>
                        <a:rPr lang="en-US" sz="1200" b="1" dirty="0">
                          <a:solidFill>
                            <a:schemeClr val="bg1"/>
                          </a:solidFill>
                        </a:rPr>
                        <a:t>Regime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Trigger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Deadlines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Who reports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1252728">
                <a:tc>
                  <a:txBody>
                    <a:bodyPr/>
                    <a:lstStyle/>
                    <a:p>
                      <a:pPr indent="0" marL="0">
                        <a:buNone/>
                      </a:pPr>
                      <a:r>
                        <a:rPr lang="en-US" sz="1200" b="1" dirty="0">
                          <a:solidFill>
                            <a:schemeClr val="tx1"/>
                          </a:solidFill>
                        </a:rPr>
                        <a:t>DORA Art. 19, Del. Reg. (EU) 2025/301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Major ICT-related incident, classified under Art. 18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Initial notification within 4 hours of classification and no later than 24 hours from discovery. Intermediate report within 72 hours of the initial notification. Final report within 1 month of the latest intermediate report.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Financial entity, to its competent authority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94944">
                <a:tc>
                  <a:txBody>
                    <a:bodyPr/>
                    <a:lstStyle/>
                    <a:p>
                      <a:pPr indent="0" marL="0">
                        <a:buNone/>
                      </a:pPr>
                      <a:r>
                        <a:rPr lang="en-US" sz="1200" b="1" dirty="0">
                          <a:solidFill>
                            <a:schemeClr val="tx1"/>
                          </a:solidFill>
                        </a:rPr>
                        <a:t>GDPR Art. 33 and 34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Personal data breach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Supervisory authority within 72 hours of becoming aware. Data subjects without undue delay when the risk is high.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Controller, through the DPO</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80872">
                <a:tc>
                  <a:txBody>
                    <a:bodyPr/>
                    <a:lstStyle/>
                    <a:p>
                      <a:pPr indent="0" marL="0">
                        <a:buNone/>
                      </a:pPr>
                      <a:r>
                        <a:rPr lang="en-US" sz="1200" b="1" dirty="0">
                          <a:solidFill>
                            <a:schemeClr val="tx1"/>
                          </a:solidFill>
                        </a:rPr>
                        <a:t>CRA Art. 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Actively exploited vulnerability or severe incident in a product with digital elements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Early warning within 24 hours. Notification within 72 hours. Final report 14 days after a fix is available (vulnerability) or within 1 month (incident).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Manufacturer, to the CSIRT and ENISA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94944">
                <a:tc>
                  <a:txBody>
                    <a:bodyPr/>
                    <a:lstStyle/>
                    <a:p>
                      <a:pPr indent="0" marL="0">
                        <a:buNone/>
                      </a:pPr>
                      <a:r>
                        <a:rPr lang="en-US" sz="1200" b="1" dirty="0">
                          <a:solidFill>
                            <a:schemeClr val="tx1"/>
                          </a:solidFill>
                        </a:rPr>
                        <a:t>EU AI Act Art. 73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Serious incident involving a high-risk AI system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 later than 15 days after becoming aware. Shorter for the gravest cases.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Provider, to the market surveillance authority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70" name="Text 55"/>
          <p:cNvSpPr txBox="1"/>
          <p:nvPr/>
        </p:nvSpPr>
        <p:spPr>
          <a:xfrm>
            <a:off x="10241280" y="23951184"/>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5</a:t>
            </a:r>
            <a:endParaRPr lang="en-US" sz="1000" dirty="0"/>
          </a:p>
        </p:txBody>
      </p:sp>
      <p:sp>
        <p:nvSpPr>
          <p:cNvPr id="71" name="Text 56"/>
          <p:cNvSpPr txBox="1"/>
          <p:nvPr/>
        </p:nvSpPr>
        <p:spPr>
          <a:xfrm>
            <a:off x="10241280" y="24188928"/>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SOC and NOC interface</a:t>
            </a:r>
            <a:endParaRPr lang="en-US" sz="2400" dirty="0"/>
          </a:p>
        </p:txBody>
      </p:sp>
      <p:sp>
        <p:nvSpPr>
          <p:cNvPr id="72" name="Text 57"/>
          <p:cNvSpPr txBox="1"/>
          <p:nvPr/>
        </p:nvSpPr>
        <p:spPr>
          <a:xfrm>
            <a:off x="10241280" y="24664416"/>
            <a:ext cx="9208008" cy="384048"/>
          </a:xfrm>
          <a:prstGeom prst="rect">
            <a:avLst/>
          </a:prstGeom>
          <a:noFill/>
          <a:ln/>
        </p:spPr>
        <p:txBody>
          <a:bodyPr wrap="square" lIns="0" tIns="0" rIns="0" bIns="0" rtlCol="0" anchor="t"/>
          <a:lstStyle/>
          <a:p>
            <a:pPr indent="0" marL="0">
              <a:buNone/>
            </a:pPr>
            <a:r>
              <a:rPr lang="en-US" sz="1150" dirty="0">
                <a:solidFill>
                  <a:schemeClr val="tx2"/>
                </a:solidFill>
              </a:rPr>
              <a:t>Who leads, who supports, and what triggers the hand-off.</a:t>
            </a:r>
            <a:endParaRPr lang="en-US" sz="1150" dirty="0"/>
          </a:p>
        </p:txBody>
      </p:sp>
      <p:graphicFrame>
        <p:nvGraphicFramePr>
          <p:cNvPr id="6" name="Table 4"/>
          <p:cNvGraphicFramePr>
            <a:graphicFrameLocks noGrp="1"/>
          </p:cNvGraphicFramePr>
          <p:nvPr>
            <p:extLst>
              <p:ext uri="{D42A27DB-BD31-4B8C-83A1-F6EECF244321}">
                <p14:modId xmlns:p14="http://schemas.microsoft.com/office/powerpoint/2010/main" val="1579011935"/>
              </p:ext>
            </p:extLst>
          </p:nvPr>
        </p:nvGraphicFramePr>
        <p:xfrm>
          <a:off x="10241280" y="25158192"/>
          <a:ext cx="15087600" cy="914400"/>
        </p:xfrm>
        <a:graphic>
          <a:graphicData uri="http://schemas.openxmlformats.org/drawingml/2006/table">
            <a:tbl>
              <a:tblPr/>
              <a:tblGrid>
                <a:gridCol w="2005705"/>
                <a:gridCol w="2735052"/>
                <a:gridCol w="2735052"/>
                <a:gridCol w="1732200"/>
              </a:tblGrid>
              <a:tr h="365760">
                <a:tc>
                  <a:txBody>
                    <a:bodyPr/>
                    <a:lstStyle/>
                    <a:p>
                      <a:pPr indent="0" marL="0">
                        <a:buNone/>
                      </a:pPr>
                      <a:r>
                        <a:rPr lang="en-US" sz="1200" b="1" dirty="0">
                          <a:solidFill>
                            <a:schemeClr val="bg1"/>
                          </a:solidFill>
                        </a:rPr>
                        <a:t>Situation</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SOC does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NOC does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Hand-off trigger</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09016">
                <a:tc>
                  <a:txBody>
                    <a:bodyPr/>
                    <a:lstStyle/>
                    <a:p>
                      <a:pPr indent="0" marL="0">
                        <a:buNone/>
                      </a:pPr>
                      <a:r>
                        <a:rPr lang="en-US" sz="1200" b="1" dirty="0">
                          <a:solidFill>
                            <a:schemeClr val="tx1"/>
                          </a:solidFill>
                        </a:rPr>
                        <a:t>Service degraded, cause unknown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Checks the SIEM for attack indicators.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Leads restoration. Owns the ticket.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NOC opens a P1 or P2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DDoS or traffic flood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Investigates the actor and any parallel intrusion.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Activates mitigation and reroutes traffic.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Volumetric alert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Malware on a server or network device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Leads the incident. Decides containment.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Isolates the segment or port on request.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SOC severity High or above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Firewall or network change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Reviews the security risk of the rule.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Implements through change control.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Change request raised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Log source stops sending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Flags the detection gap.</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Restores the device, agent or connector.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Health alert in the SIEM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Major incident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Runs classification and regulatory reporting.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Reports downtime and service impact.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 manager declares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74" name="Text 58"/>
          <p:cNvSpPr txBox="1"/>
          <p:nvPr/>
        </p:nvSpPr>
        <p:spPr>
          <a:xfrm>
            <a:off x="667512" y="2982468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6</a:t>
            </a:r>
            <a:endParaRPr lang="en-US" sz="1000" dirty="0"/>
          </a:p>
        </p:txBody>
      </p:sp>
      <p:sp>
        <p:nvSpPr>
          <p:cNvPr id="75" name="Text 59"/>
          <p:cNvSpPr txBox="1"/>
          <p:nvPr/>
        </p:nvSpPr>
        <p:spPr>
          <a:xfrm>
            <a:off x="667512" y="30062424"/>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Tooling alignment: QRadar to Microsoft Sentinel</a:t>
            </a:r>
            <a:endParaRPr lang="en-US" sz="2400" dirty="0"/>
          </a:p>
        </p:txBody>
      </p:sp>
      <p:sp>
        <p:nvSpPr>
          <p:cNvPr id="76" name="Text 60"/>
          <p:cNvSpPr txBox="1"/>
          <p:nvPr/>
        </p:nvSpPr>
        <p:spPr>
          <a:xfrm>
            <a:off x="667512" y="30537912"/>
            <a:ext cx="9208008" cy="384048"/>
          </a:xfrm>
          <a:prstGeom prst="rect">
            <a:avLst/>
          </a:prstGeom>
          <a:noFill/>
          <a:ln/>
        </p:spPr>
        <p:txBody>
          <a:bodyPr wrap="square" lIns="0" tIns="0" rIns="0" bIns="0" rtlCol="0" anchor="t"/>
          <a:lstStyle/>
          <a:p>
            <a:pPr indent="0" marL="0">
              <a:buNone/>
            </a:pPr>
            <a:r>
              <a:rPr lang="en-US" sz="1150" dirty="0">
                <a:solidFill>
                  <a:schemeClr val="tx2"/>
                </a:solidFill>
              </a:rPr>
              <a:t>Build each use case once and express it in both platforms.</a:t>
            </a:r>
            <a:endParaRPr lang="en-US" sz="1150" dirty="0"/>
          </a:p>
        </p:txBody>
      </p:sp>
      <p:graphicFrame>
        <p:nvGraphicFramePr>
          <p:cNvPr id="7" name="Table 5"/>
          <p:cNvGraphicFramePr>
            <a:graphicFrameLocks noGrp="1"/>
          </p:cNvGraphicFramePr>
          <p:nvPr>
            <p:extLst>
              <p:ext uri="{D42A27DB-BD31-4B8C-83A1-F6EECF244321}">
                <p14:modId xmlns:p14="http://schemas.microsoft.com/office/powerpoint/2010/main" val="1579011935"/>
              </p:ext>
            </p:extLst>
          </p:nvPr>
        </p:nvGraphicFramePr>
        <p:xfrm>
          <a:off x="667512" y="31031688"/>
          <a:ext cx="15087600" cy="914400"/>
        </p:xfrm>
        <a:graphic>
          <a:graphicData uri="http://schemas.openxmlformats.org/drawingml/2006/table">
            <a:tbl>
              <a:tblPr/>
              <a:tblGrid>
                <a:gridCol w="1933682"/>
                <a:gridCol w="3591123"/>
                <a:gridCol w="3683203"/>
              </a:tblGrid>
              <a:tr h="365760">
                <a:tc>
                  <a:txBody>
                    <a:bodyPr/>
                    <a:lstStyle/>
                    <a:p>
                      <a:pPr indent="0" marL="0">
                        <a:buNone/>
                      </a:pPr>
                      <a:r>
                        <a:rPr lang="en-US" sz="1200" b="1" dirty="0">
                          <a:solidFill>
                            <a:schemeClr val="bg1"/>
                          </a:solidFill>
                        </a:rPr>
                        <a:t>Capability</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IBM QRadar, in use today</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Microsoft Sentinel, alignment target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509016">
                <a:tc>
                  <a:txBody>
                    <a:bodyPr/>
                    <a:lstStyle/>
                    <a:p>
                      <a:pPr indent="0" marL="0">
                        <a:buNone/>
                      </a:pPr>
                      <a:r>
                        <a:rPr lang="en-US" sz="1200" b="1" dirty="0">
                          <a:solidFill>
                            <a:schemeClr val="tx1"/>
                          </a:solidFill>
                        </a:rPr>
                        <a:t>Log collection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Log sources, DSMs, event collectors, WinCollect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Data connectors, Azure Monitor Agent, data collection rules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Parsing and normalisation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DSM parsing, custom event properties, QID map</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ASIM parsers, KQL functions, ingestion-time transformations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Query language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AQL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KQL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694944">
                <a:tc>
                  <a:txBody>
                    <a:bodyPr/>
                    <a:lstStyle/>
                    <a:p>
                      <a:pPr indent="0" marL="0">
                        <a:buNone/>
                      </a:pPr>
                      <a:r>
                        <a:rPr lang="en-US" sz="1200" b="1" dirty="0">
                          <a:solidFill>
                            <a:schemeClr val="tx1"/>
                          </a:solidFill>
                        </a:rPr>
                        <a:t>Detection logic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Rules and building blocks: event, flow, common, offense, anomaly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Analytics rules: scheduled, near-real-time, Fusion, Microsoft security, ML behaviour analytics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Alert grouping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Offenses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Incidents with entity mapping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Lookup lists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Reference sets, maps and tables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Watchlists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Behaviour analytics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User Behavior Analytics app</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UEBA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Threat intelligence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X-Force Exchange, STIX and TAXII feeds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Threat intelligence connectors, Defender Threat Intelligence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Automation and response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QRadar SOAR playbooks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Automation rules and playbooks (Logic Apps)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ATT&amp;CK coverage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Use Case Manager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MITRE ATT&amp;CK coverage view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23088">
                <a:tc>
                  <a:txBody>
                    <a:bodyPr/>
                    <a:lstStyle/>
                    <a:p>
                      <a:pPr indent="0" marL="0">
                        <a:buNone/>
                      </a:pPr>
                      <a:r>
                        <a:rPr lang="en-US" sz="1200" b="1" dirty="0">
                          <a:solidFill>
                            <a:schemeClr val="tx1"/>
                          </a:solidFill>
                        </a:rPr>
                        <a:t>Hunting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Saved searches in AQL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Hunting queries, notebooks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Network flows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QFlow, QRadar Network Insights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Flow logs and firewall logs through connectors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Dashboards and reports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Pulse dashboards, reports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Workbooks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09016">
                <a:tc>
                  <a:txBody>
                    <a:bodyPr/>
                    <a:lstStyle/>
                    <a:p>
                      <a:pPr indent="0" marL="0">
                        <a:buNone/>
                      </a:pPr>
                      <a:r>
                        <a:rPr lang="en-US" sz="1200" b="1" dirty="0">
                          <a:solidFill>
                            <a:schemeClr val="tx1"/>
                          </a:solidFill>
                        </a:rPr>
                        <a:t>Microsoft security signals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Defender, Entra ID and Azure through Microsoft DSMs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Native Defender XDR connector with incident sync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78" name="Text 61"/>
          <p:cNvSpPr txBox="1"/>
          <p:nvPr/>
        </p:nvSpPr>
        <p:spPr>
          <a:xfrm>
            <a:off x="10241280" y="29824680"/>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7</a:t>
            </a:r>
            <a:endParaRPr lang="en-US" sz="1000" dirty="0"/>
          </a:p>
        </p:txBody>
      </p:sp>
      <p:sp>
        <p:nvSpPr>
          <p:cNvPr id="79" name="Text 62"/>
          <p:cNvSpPr txBox="1"/>
          <p:nvPr/>
        </p:nvSpPr>
        <p:spPr>
          <a:xfrm>
            <a:off x="10241280" y="30062424"/>
            <a:ext cx="9208008" cy="41148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KPIs for the management body</a:t>
            </a:r>
            <a:endParaRPr lang="en-US" sz="2400" dirty="0"/>
          </a:p>
        </p:txBody>
      </p:sp>
      <p:sp>
        <p:nvSpPr>
          <p:cNvPr id="80" name="Text 63"/>
          <p:cNvSpPr txBox="1"/>
          <p:nvPr/>
        </p:nvSpPr>
        <p:spPr>
          <a:xfrm>
            <a:off x="10241280" y="30537912"/>
            <a:ext cx="9208008" cy="384048"/>
          </a:xfrm>
          <a:prstGeom prst="rect">
            <a:avLst/>
          </a:prstGeom>
          <a:noFill/>
          <a:ln/>
        </p:spPr>
        <p:txBody>
          <a:bodyPr wrap="square" lIns="0" tIns="0" rIns="0" bIns="0" rtlCol="0" anchor="t"/>
          <a:lstStyle/>
          <a:p>
            <a:pPr indent="0" marL="0">
              <a:buNone/>
            </a:pPr>
            <a:r>
              <a:rPr lang="en-US" sz="1150" dirty="0">
                <a:solidFill>
                  <a:schemeClr val="tx2"/>
                </a:solidFill>
              </a:rPr>
              <a:t>Targets are placeholders. Each metric names where the evidence comes from.</a:t>
            </a:r>
            <a:endParaRPr lang="en-US" sz="1150" dirty="0"/>
          </a:p>
        </p:txBody>
      </p:sp>
      <p:graphicFrame>
        <p:nvGraphicFramePr>
          <p:cNvPr id="8" name="Table 6"/>
          <p:cNvGraphicFramePr>
            <a:graphicFrameLocks noGrp="1"/>
          </p:cNvGraphicFramePr>
          <p:nvPr>
            <p:extLst>
              <p:ext uri="{D42A27DB-BD31-4B8C-83A1-F6EECF244321}">
                <p14:modId xmlns:p14="http://schemas.microsoft.com/office/powerpoint/2010/main" val="1579011935"/>
              </p:ext>
            </p:extLst>
          </p:nvPr>
        </p:nvGraphicFramePr>
        <p:xfrm>
          <a:off x="10241280" y="31031688"/>
          <a:ext cx="15087600" cy="914400"/>
        </p:xfrm>
        <a:graphic>
          <a:graphicData uri="http://schemas.openxmlformats.org/drawingml/2006/table">
            <a:tbl>
              <a:tblPr/>
              <a:tblGrid>
                <a:gridCol w="2025762"/>
                <a:gridCol w="3222803"/>
                <a:gridCol w="920801"/>
                <a:gridCol w="3038643"/>
              </a:tblGrid>
              <a:tr h="365760">
                <a:tc>
                  <a:txBody>
                    <a:bodyPr/>
                    <a:lstStyle/>
                    <a:p>
                      <a:pPr indent="0" marL="0">
                        <a:buNone/>
                      </a:pPr>
                      <a:r>
                        <a:rPr lang="en-US" sz="1200" b="1" dirty="0">
                          <a:solidFill>
                            <a:schemeClr val="bg1"/>
                          </a:solidFill>
                        </a:rPr>
                        <a:t>Metric</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shows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Target</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Evidence source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323088">
                <a:tc>
                  <a:txBody>
                    <a:bodyPr/>
                    <a:lstStyle/>
                    <a:p>
                      <a:pPr indent="0" marL="0">
                        <a:buNone/>
                      </a:pPr>
                      <a:r>
                        <a:rPr lang="en-US" sz="1200" b="1" dirty="0">
                          <a:solidFill>
                            <a:schemeClr val="tx1"/>
                          </a:solidFill>
                        </a:rPr>
                        <a:t>Mean time to detect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How long an attacker goes unseen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Incident records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Mean time to acknowledge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Queue health and staffing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Offense and incident timestamps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Mean time to contain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Response effectiveness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Playbook run logs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False positive rate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Detection quality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Closure classifications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ATT&amp;CK technique coverage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Breadth of detection against the threat model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Use Case Manager, Sentinel coverage view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Log source coverage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critical assets sending logs (CIS 8.2)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Log source inventory against the asset register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Reports filed on time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DORA and GDPR deadlines met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Regulatory submission log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Playbook automation rate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Share of incidents with an automated first response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[target]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SOAR and playbook metrics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82" name="Text 64"/>
          <p:cNvSpPr txBox="1"/>
          <p:nvPr/>
        </p:nvSpPr>
        <p:spPr>
          <a:xfrm>
            <a:off x="667512" y="38371272"/>
            <a:ext cx="3657600" cy="201168"/>
          </a:xfrm>
          <a:prstGeom prst="rect">
            <a:avLst/>
          </a:prstGeom>
          <a:noFill/>
          <a:ln/>
        </p:spPr>
        <p:txBody>
          <a:bodyPr wrap="square" lIns="0" tIns="0" rIns="0" bIns="0" rtlCol="0" anchor="t"/>
          <a:lstStyle/>
          <a:p>
            <a:pPr indent="0" marL="0">
              <a:buNone/>
            </a:pPr>
            <a:r>
              <a:rPr lang="en-US" sz="1000" spc="250" kern="0" dirty="0">
                <a:solidFill>
                  <a:schemeClr val="tx2"/>
                </a:solidFill>
              </a:rPr>
              <a:t>TABLE 8</a:t>
            </a:r>
            <a:endParaRPr lang="en-US" sz="1000" dirty="0"/>
          </a:p>
        </p:txBody>
      </p:sp>
      <p:sp>
        <p:nvSpPr>
          <p:cNvPr id="83" name="Text 65"/>
          <p:cNvSpPr txBox="1"/>
          <p:nvPr/>
        </p:nvSpPr>
        <p:spPr>
          <a:xfrm>
            <a:off x="667512" y="38609016"/>
            <a:ext cx="9601200" cy="457200"/>
          </a:xfrm>
          <a:prstGeom prst="rect">
            <a:avLst/>
          </a:prstGeom>
          <a:noFill/>
          <a:ln/>
        </p:spPr>
        <p:txBody>
          <a:bodyPr wrap="square" lIns="0" tIns="0" rIns="0" bIns="0" rtlCol="0" anchor="ctr"/>
          <a:lstStyle/>
          <a:p>
            <a:pPr indent="0" marL="0">
              <a:buNone/>
            </a:pPr>
            <a:r>
              <a:rPr lang="en-US" sz="2800" b="1" dirty="0">
                <a:solidFill>
                  <a:schemeClr val="tx1"/>
                </a:solidFill>
                <a:latin typeface="+mj-lt" pitchFamily="34" charset="0"/>
                <a:ea typeface="+mj-lt" pitchFamily="34" charset="-122"/>
                <a:cs typeface="+mj-lt" pitchFamily="34" charset="-120"/>
              </a:rPr>
              <a:t>Control framework cross-mapping</a:t>
            </a:r>
            <a:endParaRPr lang="en-US" sz="2800" dirty="0"/>
          </a:p>
        </p:txBody>
      </p:sp>
      <p:sp>
        <p:nvSpPr>
          <p:cNvPr id="84" name="Text 66"/>
          <p:cNvSpPr txBox="1"/>
          <p:nvPr/>
        </p:nvSpPr>
        <p:spPr>
          <a:xfrm>
            <a:off x="10671048" y="38389560"/>
            <a:ext cx="8778240" cy="694944"/>
          </a:xfrm>
          <a:prstGeom prst="rect">
            <a:avLst/>
          </a:prstGeom>
          <a:noFill/>
          <a:ln/>
        </p:spPr>
        <p:txBody>
          <a:bodyPr wrap="square" lIns="0" tIns="0" rIns="0" bIns="0" rtlCol="0" anchor="b"/>
          <a:lstStyle/>
          <a:p>
            <a:pPr algn="r" indent="0" marL="0">
              <a:buNone/>
            </a:pPr>
            <a:r>
              <a:rPr lang="en-US" sz="1200" dirty="0">
                <a:solidFill>
                  <a:schemeClr val="tx2"/>
                </a:solidFill>
              </a:rPr>
              <a:t>SOC functions against the same framework set. The CRA, the EU AI Act and ISO/IEC 42001 apply only where the entity makes or uses in-scope products and AI systems. A dash means no direct requirement.</a:t>
            </a:r>
            <a:endParaRPr lang="en-US" sz="1200" dirty="0"/>
          </a:p>
        </p:txBody>
      </p:sp>
      <p:graphicFrame>
        <p:nvGraphicFramePr>
          <p:cNvPr id="9" name="Table 7"/>
          <p:cNvGraphicFramePr>
            <a:graphicFrameLocks noGrp="1"/>
          </p:cNvGraphicFramePr>
          <p:nvPr>
            <p:extLst>
              <p:ext uri="{D42A27DB-BD31-4B8C-83A1-F6EECF244321}">
                <p14:modId xmlns:p14="http://schemas.microsoft.com/office/powerpoint/2010/main" val="1579011935"/>
              </p:ext>
            </p:extLst>
          </p:nvPr>
        </p:nvGraphicFramePr>
        <p:xfrm>
          <a:off x="667512" y="39285672"/>
          <a:ext cx="15087600" cy="914400"/>
        </p:xfrm>
        <a:graphic>
          <a:graphicData uri="http://schemas.openxmlformats.org/drawingml/2006/table">
            <a:tbl>
              <a:tblPr/>
              <a:tblGrid>
                <a:gridCol w="2832173"/>
                <a:gridCol w="1714210"/>
                <a:gridCol w="2086864"/>
                <a:gridCol w="2683111"/>
                <a:gridCol w="1788741"/>
                <a:gridCol w="1937802"/>
                <a:gridCol w="2161395"/>
                <a:gridCol w="1639679"/>
                <a:gridCol w="1937802"/>
              </a:tblGrid>
              <a:tr h="694944">
                <a:tc>
                  <a:txBody>
                    <a:bodyPr/>
                    <a:lstStyle/>
                    <a:p>
                      <a:pPr indent="0" marL="0">
                        <a:buNone/>
                      </a:pPr>
                      <a:r>
                        <a:rPr lang="en-US" sz="1200" b="1" dirty="0">
                          <a:solidFill>
                            <a:schemeClr val="bg1"/>
                          </a:solidFill>
                        </a:rPr>
                        <a:t>Function</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NIST CSF 2.0</a:t>
                      </a:r>
                      <a:endParaRPr lang="en-US" sz="1200" dirty="0"/>
                    </a:p>
                    <a:p>
                      <a:pPr indent="0" marL="0">
                        <a:buNone/>
                      </a:pPr>
                      <a:r>
                        <a:rPr lang="en-US" sz="1050" b="1" dirty="0">
                          <a:solidFill>
                            <a:schemeClr val="bg1"/>
                          </a:solidFill>
                        </a:rPr>
                        <a:t>Categories</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ISO/IEC 27001:2022</a:t>
                      </a:r>
                      <a:endParaRPr lang="en-US" sz="1200" dirty="0"/>
                    </a:p>
                    <a:p>
                      <a:pPr indent="0" marL="0">
                        <a:buNone/>
                      </a:pPr>
                      <a:r>
                        <a:rPr lang="en-US" sz="1050" b="1" dirty="0">
                          <a:solidFill>
                            <a:schemeClr val="bg1"/>
                          </a:solidFill>
                        </a:rPr>
                        <a:t>Annex A</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DORA · Driver</a:t>
                      </a:r>
                      <a:endParaRPr lang="en-US" sz="1200" dirty="0"/>
                    </a:p>
                    <a:p>
                      <a:pPr indent="0" marL="0">
                        <a:buNone/>
                      </a:pPr>
                      <a:r>
                        <a:rPr lang="en-US" sz="1050" b="1" dirty="0">
                          <a:solidFill>
                            <a:schemeClr val="bg1"/>
                          </a:solidFill>
                        </a:rPr>
                        <a:t>Reg. (EU) 2022/2554</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GDPR</a:t>
                      </a:r>
                      <a:endParaRPr lang="en-US" sz="1200" dirty="0"/>
                    </a:p>
                    <a:p>
                      <a:pPr indent="0" marL="0">
                        <a:buNone/>
                      </a:pPr>
                      <a:r>
                        <a:rPr lang="en-US" sz="1050" b="1" dirty="0">
                          <a:solidFill>
                            <a:schemeClr val="bg1"/>
                          </a:solidFill>
                        </a:rPr>
                        <a:t>Reg. (EU) 2016/679</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CIS IG3 · Baseline</a:t>
                      </a:r>
                      <a:endParaRPr lang="en-US" sz="1200" dirty="0"/>
                    </a:p>
                    <a:p>
                      <a:pPr indent="0" marL="0">
                        <a:buNone/>
                      </a:pPr>
                      <a:r>
                        <a:rPr lang="en-US" sz="1050" b="1" dirty="0">
                          <a:solidFill>
                            <a:schemeClr val="bg1"/>
                          </a:solidFill>
                        </a:rPr>
                        <a:t>CIS Controls v8.1</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CRA</a:t>
                      </a:r>
                      <a:endParaRPr lang="en-US" sz="1200" dirty="0"/>
                    </a:p>
                    <a:p>
                      <a:pPr indent="0" marL="0">
                        <a:buNone/>
                      </a:pPr>
                      <a:r>
                        <a:rPr lang="en-US" sz="1050" b="1" dirty="0">
                          <a:solidFill>
                            <a:schemeClr val="bg1"/>
                          </a:solidFill>
                        </a:rPr>
                        <a:t>Reg. (EU) 2024/2847</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EU AI Act</a:t>
                      </a:r>
                      <a:endParaRPr lang="en-US" sz="1200" dirty="0"/>
                    </a:p>
                    <a:p>
                      <a:pPr indent="0" marL="0">
                        <a:buNone/>
                      </a:pPr>
                      <a:r>
                        <a:rPr lang="en-US" sz="1050" b="1" dirty="0">
                          <a:solidFill>
                            <a:schemeClr val="bg1"/>
                          </a:solidFill>
                        </a:rPr>
                        <a:t>Reg. (EU) 2024/1689</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ISO/IEC 42001:2023</a:t>
                      </a:r>
                      <a:endParaRPr lang="en-US" sz="1200" dirty="0"/>
                    </a:p>
                    <a:p>
                      <a:pPr indent="0" marL="0">
                        <a:buNone/>
                      </a:pPr>
                      <a:r>
                        <a:rPr lang="en-US" sz="1050" b="1" dirty="0">
                          <a:solidFill>
                            <a:schemeClr val="bg1"/>
                          </a:solidFill>
                        </a:rPr>
                        <a:t>AI management system</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r>
              <a:tr h="509016">
                <a:tc>
                  <a:txBody>
                    <a:bodyPr/>
                    <a:lstStyle/>
                    <a:p>
                      <a:pPr indent="0" marL="0">
                        <a:buNone/>
                      </a:pPr>
                      <a:r>
                        <a:rPr lang="en-US" sz="1200" b="1" dirty="0">
                          <a:solidFill>
                            <a:schemeClr val="tx1"/>
                          </a:solidFill>
                        </a:rPr>
                        <a:t>Log collection and retention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DE.CM, PR.PS-04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A.8.15, A.8.17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10, RTS 2024/1774 Art. 12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5(1)(e), Art. 32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monitoring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12, Art. 26(6)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Monitoring and detection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DE.CM, DE.AE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A.8.16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10, RTS 2024/1774 Art. 23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32(1)(b)</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 monitoring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26(5), Art. 72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Threat intelligence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ID.RA-02, ID.RA-03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13(1), Art. 45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 dedicated safeguard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Triage and classification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DE.AE-08, RS.MA</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17, Art. 18, Del. Reg. 2024/1772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33(1)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17.9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73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09016">
                <a:tc>
                  <a:txBody>
                    <a:bodyPr/>
                    <a:lstStyle/>
                    <a:p>
                      <a:pPr indent="0" marL="0">
                        <a:buNone/>
                      </a:pPr>
                      <a:r>
                        <a:rPr lang="en-US" sz="1200" b="1" dirty="0">
                          <a:solidFill>
                            <a:schemeClr val="tx1"/>
                          </a:solidFill>
                        </a:rPr>
                        <a:t>Response and containment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RS.MA, RS.MI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A.5.24, A.5.26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11, Art. 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 Art. 33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17.4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II: remediation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Regulatory and client reporting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RS.CO</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A.5.5, A.6.8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19, Del. Reg. 2025/301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33, Art. 34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17.2, 17.6</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73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A.8.3, A.8.4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Evidence and forensics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RS.AN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8.10, 8.11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12, Art. 19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Post-incident review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ID.IM</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A.5.27</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17.8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Annex I Part II</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72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Clause 10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Exercises and detection testing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ID.IM-02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A.5.24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24, 25, 26 (TLPT)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32(1)(d)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17.7, 18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A.6.2.4, Clause 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1"/>
                          </a:solidFill>
                        </a:rPr>
                        <a:t>Outsourced SOC and providers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GV.SC</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A.5.19 to A.5.23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28, 29, 30</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200" dirty="0">
                          <a:solidFill>
                            <a:schemeClr val="tx1"/>
                          </a:solidFill>
                        </a:rPr>
                        <a:t>Art. 28</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CIS 15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00" dirty="0">
                          <a:solidFill>
                            <a:schemeClr val="tx1"/>
                          </a:solidFill>
                        </a:rPr>
                        <a:t>Art. 13(5)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Art. 25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A.10.3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86" name="Shape 67"/>
          <p:cNvSpPr/>
          <p:nvPr/>
        </p:nvSpPr>
        <p:spPr>
          <a:xfrm>
            <a:off x="667512" y="44781216"/>
            <a:ext cx="18781776" cy="0"/>
          </a:xfrm>
          <a:prstGeom prst="line">
            <a:avLst/>
          </a:prstGeom>
          <a:noFill/>
          <a:ln w="19050">
            <a:solidFill>
              <a:schemeClr val="tx1"/>
            </a:solidFill>
            <a:prstDash val="solid"/>
          </a:ln>
        </p:spPr>
      </p:sp>
      <p:sp>
        <p:nvSpPr>
          <p:cNvPr id="87" name="Text 68"/>
          <p:cNvSpPr txBox="1"/>
          <p:nvPr/>
        </p:nvSpPr>
        <p:spPr>
          <a:xfrm>
            <a:off x="667512" y="44964096"/>
            <a:ext cx="10515600" cy="594360"/>
          </a:xfrm>
          <a:prstGeom prst="rect">
            <a:avLst/>
          </a:prstGeom>
          <a:noFill/>
          <a:ln/>
        </p:spPr>
        <p:txBody>
          <a:bodyPr wrap="square" lIns="0" tIns="0" rIns="0" bIns="0" rtlCol="0" anchor="t"/>
          <a:lstStyle/>
          <a:p>
            <a:pPr indent="0" marL="0">
              <a:buNone/>
            </a:pPr>
            <a:r>
              <a:rPr lang="en-US" sz="1100" dirty="0">
                <a:solidFill>
                  <a:schemeClr val="tx2"/>
                </a:solidFill>
              </a:rPr>
              <a:t>Illustrative template. Targets, thresholds and products are examples, so replace them with your own service levels and risk appetite. Article, safeguard and technique numbers are pointers. Check them against the official texts before using them in an audit.</a:t>
            </a:r>
            <a:endParaRPr lang="en-US" sz="1100" dirty="0"/>
          </a:p>
        </p:txBody>
      </p:sp>
      <p:sp>
        <p:nvSpPr>
          <p:cNvPr id="88" name="Text 69"/>
          <p:cNvSpPr txBox="1"/>
          <p:nvPr/>
        </p:nvSpPr>
        <p:spPr>
          <a:xfrm>
            <a:off x="13048488" y="44964096"/>
            <a:ext cx="6400800" cy="594360"/>
          </a:xfrm>
          <a:prstGeom prst="rect">
            <a:avLst/>
          </a:prstGeom>
          <a:noFill/>
          <a:ln/>
        </p:spPr>
        <p:txBody>
          <a:bodyPr wrap="square" lIns="0" tIns="0" rIns="0" bIns="0" rtlCol="0" anchor="t"/>
          <a:lstStyle/>
          <a:p>
            <a:pPr algn="r" indent="0" marL="0">
              <a:buNone/>
            </a:pPr>
            <a:r>
              <a:rPr lang="en-US" sz="1100" b="1" dirty="0">
                <a:solidFill>
                  <a:schemeClr val="tx1"/>
                </a:solidFill>
              </a:rPr>
              <a:t>L1, L2, L3 </a:t>
            </a:r>
            <a:pPr algn="r" indent="0" marL="0">
              <a:buNone/>
            </a:pPr>
            <a:r>
              <a:rPr lang="en-US" sz="1100" dirty="0">
                <a:solidFill>
                  <a:schemeClr val="tx2"/>
                </a:solidFill>
              </a:rPr>
              <a:t>SOC analyst tiers</a:t>
            </a:r>
            <a:endParaRPr lang="en-US" sz="1100" dirty="0"/>
          </a:p>
          <a:p>
            <a:pPr algn="r" indent="0" marL="0">
              <a:buNone/>
            </a:pPr>
            <a:r>
              <a:rPr lang="en-US" sz="1100" b="1" dirty="0">
                <a:solidFill>
                  <a:schemeClr val="tx1"/>
                </a:solidFill>
              </a:rPr>
              <a:t>ATT&amp;CK </a:t>
            </a:r>
            <a:pPr algn="r" indent="0" marL="0">
              <a:buNone/>
            </a:pPr>
            <a:r>
              <a:rPr lang="en-US" sz="1100" dirty="0">
                <a:solidFill>
                  <a:schemeClr val="tx2"/>
                </a:solidFill>
              </a:rPr>
              <a:t>MITRE ATT&amp;CK Enterprise technique IDs</a:t>
            </a:r>
            <a:endParaRPr lang="en-US" sz="1100" dirty="0"/>
          </a:p>
        </p:txBody>
      </p:sp>
    </p:spTree>
  </p:cSld>
  <p:clrMapOvr>
    <a:masterClrMapping/>
  </p:clrMapOvr>
</p:sld>
</file>

<file path=ppt/theme/theme1.xml><?xml version="1.0" encoding="utf-8"?>
<a:theme xmlns:a="http://schemas.openxmlformats.org/drawingml/2006/main" name="Traceability">
  <a:themeElements>
    <a:clrScheme name="Traceability">
      <a:dk1>
        <a:srgbClr val="0E1C2A"/>
      </a:dk1>
      <a:lt1>
        <a:srgbClr val="FFFFFF"/>
      </a:lt1>
      <a:dk2>
        <a:srgbClr val="43525F"/>
      </a:dk2>
      <a:lt2>
        <a:srgbClr val="EEF1F4"/>
      </a:lt2>
      <a:accent1>
        <a:srgbClr val="B5450F"/>
      </a:accent1>
      <a:accent2>
        <a:srgbClr val="0D5C75"/>
      </a:accent2>
      <a:accent3>
        <a:srgbClr val="FBE9DD"/>
      </a:accent3>
      <a:accent4>
        <a:srgbClr val="DDEEF3"/>
      </a:accent4>
      <a:accent5>
        <a:srgbClr val="D9682B"/>
      </a:accent5>
      <a:accent6>
        <a:srgbClr val="8F2F06"/>
      </a:accent6>
      <a:hlink>
        <a:srgbClr val="0D5C75"/>
      </a:hlink>
      <a:folHlink>
        <a:srgbClr val="43525F"/>
      </a:folHlink>
    </a:clrScheme>
    <a:fontScheme name="Trace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 Operating Model</dc:title>
  <dc:subject>SOC Operating Model</dc:subject>
  <dc:creator>Security Architecture</dc:creator>
  <cp:lastModifiedBy>Security Architecture</cp:lastModifiedBy>
  <cp:revision>1</cp:revision>
  <dcterms:created xsi:type="dcterms:W3CDTF">2026-10-04T19:50:57Z</dcterms:created>
  <dcterms:modified xsi:type="dcterms:W3CDTF">2026-10-04T19:50:57Z</dcterms:modified>
</cp:coreProperties>
</file>