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0116800" cy="41879520"/>
  <p:notesSz cx="41879520" cy="20116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rgbClr val="EEF1F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00" cy="4297680"/>
          </a:xfrm>
          <a:prstGeom prst="rect">
            <a:avLst/>
          </a:prstGeom>
          <a:solidFill>
            <a:schemeClr val="tx1"/>
          </a:solidFill>
          <a:ln/>
        </p:spPr>
      </p:sp>
      <p:sp>
        <p:nvSpPr>
          <p:cNvPr id="3" name="Text 1"/>
          <p:cNvSpPr txBox="1"/>
          <p:nvPr/>
        </p:nvSpPr>
        <p:spPr>
          <a:xfrm>
            <a:off x="667512" y="502920"/>
            <a:ext cx="18781776" cy="274320"/>
          </a:xfrm>
          <a:prstGeom prst="rect">
            <a:avLst/>
          </a:prstGeom>
          <a:noFill/>
          <a:ln/>
        </p:spPr>
        <p:txBody>
          <a:bodyPr wrap="square" lIns="0" tIns="0" rIns="0" bIns="0" rtlCol="0" anchor="t"/>
          <a:lstStyle/>
          <a:p>
            <a:pPr indent="0" marL="0">
              <a:buNone/>
            </a:pPr>
            <a:r>
              <a:rPr lang="en-US" sz="1200" spc="300" kern="0" dirty="0">
                <a:solidFill>
                  <a:srgbClr val="9FB0BF"/>
                </a:solidFill>
              </a:rPr>
              <a:t>NETWORK OPERATIONS CENTRE · OPERATING MODEL TEMPLATE</a:t>
            </a:r>
            <a:endParaRPr lang="en-US" sz="1200" dirty="0"/>
          </a:p>
        </p:txBody>
      </p:sp>
      <p:sp>
        <p:nvSpPr>
          <p:cNvPr id="4" name="Text 2"/>
          <p:cNvSpPr txBox="1"/>
          <p:nvPr/>
        </p:nvSpPr>
        <p:spPr>
          <a:xfrm>
            <a:off x="667512" y="868680"/>
            <a:ext cx="18781776" cy="1920240"/>
          </a:xfrm>
          <a:prstGeom prst="rect">
            <a:avLst/>
          </a:prstGeom>
          <a:noFill/>
          <a:ln/>
        </p:spPr>
        <p:txBody>
          <a:bodyPr wrap="square" lIns="0" tIns="0" rIns="0" bIns="0" rtlCol="0" anchor="t"/>
          <a:lstStyle/>
          <a:p>
            <a:pPr indent="0" marL="0">
              <a:buNone/>
            </a:pPr>
            <a:r>
              <a:rPr lang="en-US" sz="5800" b="1" dirty="0">
                <a:solidFill>
                  <a:srgbClr val="FF9A5C"/>
                </a:solidFill>
                <a:latin typeface="+mj-lt" pitchFamily="34" charset="0"/>
                <a:ea typeface="+mj-lt" pitchFamily="34" charset="-122"/>
                <a:cs typeface="+mj-lt" pitchFamily="34" charset="-120"/>
              </a:rPr>
              <a:t>MONITOR</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FF9A5C"/>
                </a:solidFill>
                <a:latin typeface="+mj-lt" pitchFamily="34" charset="0"/>
                <a:ea typeface="+mj-lt" pitchFamily="34" charset="-122"/>
                <a:cs typeface="+mj-lt" pitchFamily="34" charset="-120"/>
              </a:rPr>
              <a:t>DETECT</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RESTORE</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IMPROVE</a:t>
            </a:r>
            <a:endParaRPr lang="en-US" sz="5800" dirty="0"/>
          </a:p>
          <a:p>
            <a:pPr indent="0" marL="0">
              <a:buNone/>
            </a:pPr>
            <a:r>
              <a:rPr lang="en-US" sz="5800" b="1" dirty="0">
                <a:solidFill>
                  <a:schemeClr val="bg1"/>
                </a:solidFill>
                <a:latin typeface="+mj-lt" pitchFamily="34" charset="0"/>
                <a:ea typeface="+mj-lt" pitchFamily="34" charset="-122"/>
                <a:cs typeface="+mj-lt" pitchFamily="34" charset="-120"/>
              </a:rPr>
              <a:t>NOC OPERATING MODEL</a:t>
            </a:r>
            <a:endParaRPr lang="en-US" sz="5800" dirty="0"/>
          </a:p>
        </p:txBody>
      </p:sp>
      <p:sp>
        <p:nvSpPr>
          <p:cNvPr id="5" name="Text 3"/>
          <p:cNvSpPr txBox="1"/>
          <p:nvPr/>
        </p:nvSpPr>
        <p:spPr>
          <a:xfrm>
            <a:off x="667512" y="2926080"/>
            <a:ext cx="8046720" cy="1005840"/>
          </a:xfrm>
          <a:prstGeom prst="rect">
            <a:avLst/>
          </a:prstGeom>
          <a:noFill/>
          <a:ln/>
        </p:spPr>
        <p:txBody>
          <a:bodyPr wrap="square" lIns="0" tIns="0" rIns="0" bIns="0" rtlCol="0" anchor="b"/>
          <a:lstStyle/>
          <a:p>
            <a:pPr indent="0" marL="0">
              <a:lnSpc>
                <a:spcPct val="115000"/>
              </a:lnSpc>
              <a:buNone/>
            </a:pPr>
            <a:r>
              <a:rPr lang="en-US" sz="1350" dirty="0">
                <a:solidFill>
                  <a:srgbClr val="C9D5DF"/>
                </a:solidFill>
              </a:rPr>
              <a:t>One line of sight from the business service to the component that carries it, the event that degrades it and the action that restores it. Built to demonstrate DORA operational resilience, with CIS Controls Implementation Group 3 as the control baseline and network telemetry shared with IBM QRadar and Microsoft Sentinel.</a:t>
            </a:r>
            <a:endParaRPr lang="en-US" sz="1350" dirty="0"/>
          </a:p>
        </p:txBody>
      </p:sp>
      <p:sp>
        <p:nvSpPr>
          <p:cNvPr id="6" name="Shape 4"/>
          <p:cNvSpPr/>
          <p:nvPr/>
        </p:nvSpPr>
        <p:spPr>
          <a:xfrm>
            <a:off x="9756648" y="2834640"/>
            <a:ext cx="3108960" cy="1097280"/>
          </a:xfrm>
          <a:prstGeom prst="rect">
            <a:avLst/>
          </a:prstGeom>
          <a:ln w="12700">
            <a:solidFill>
              <a:srgbClr val="3A4F62"/>
            </a:solidFill>
            <a:prstDash val="solid"/>
          </a:ln>
        </p:spPr>
      </p:sp>
      <p:sp>
        <p:nvSpPr>
          <p:cNvPr id="7" name="Text 5"/>
          <p:cNvSpPr txBox="1"/>
          <p:nvPr/>
        </p:nvSpPr>
        <p:spPr>
          <a:xfrm>
            <a:off x="990295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REGULATORY DRIVER</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DORA</a:t>
            </a:r>
            <a:endParaRPr lang="en-US" sz="900" dirty="0"/>
          </a:p>
          <a:p>
            <a:pPr indent="0" marL="0">
              <a:spcAft>
                <a:spcPts val="300"/>
              </a:spcAft>
              <a:buNone/>
            </a:pPr>
            <a:r>
              <a:rPr lang="en-US" sz="1050" dirty="0">
                <a:solidFill>
                  <a:srgbClr val="C9D5DF"/>
                </a:solidFill>
              </a:rPr>
              <a:t>Regulation (EU) 2022/2554</a:t>
            </a:r>
            <a:endParaRPr lang="en-US" sz="900" dirty="0"/>
          </a:p>
        </p:txBody>
      </p:sp>
      <p:sp>
        <p:nvSpPr>
          <p:cNvPr id="8" name="Shape 6"/>
          <p:cNvSpPr/>
          <p:nvPr/>
        </p:nvSpPr>
        <p:spPr>
          <a:xfrm>
            <a:off x="13048488" y="2834640"/>
            <a:ext cx="3108960" cy="1097280"/>
          </a:xfrm>
          <a:prstGeom prst="rect">
            <a:avLst/>
          </a:prstGeom>
          <a:ln w="12700">
            <a:solidFill>
              <a:srgbClr val="3A4F62"/>
            </a:solidFill>
            <a:prstDash val="solid"/>
          </a:ln>
        </p:spPr>
      </p:sp>
      <p:sp>
        <p:nvSpPr>
          <p:cNvPr id="9" name="Text 7"/>
          <p:cNvSpPr txBox="1"/>
          <p:nvPr/>
        </p:nvSpPr>
        <p:spPr>
          <a:xfrm>
            <a:off x="1319479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CONTROL BASELINE</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300"/>
              </a:spcAft>
              <a:buNone/>
            </a:pPr>
            <a:r>
              <a:rPr lang="en-US" sz="1050" dirty="0">
                <a:solidFill>
                  <a:srgbClr val="C9D5DF"/>
                </a:solidFill>
              </a:rPr>
              <a:t>Implementation Group 3</a:t>
            </a:r>
            <a:endParaRPr lang="en-US" sz="900" dirty="0"/>
          </a:p>
        </p:txBody>
      </p:sp>
      <p:sp>
        <p:nvSpPr>
          <p:cNvPr id="10" name="Shape 8"/>
          <p:cNvSpPr/>
          <p:nvPr/>
        </p:nvSpPr>
        <p:spPr>
          <a:xfrm>
            <a:off x="16340328" y="2834640"/>
            <a:ext cx="3108960" cy="1097280"/>
          </a:xfrm>
          <a:prstGeom prst="rect">
            <a:avLst/>
          </a:prstGeom>
          <a:ln w="12700">
            <a:solidFill>
              <a:srgbClr val="3A4F62"/>
            </a:solidFill>
            <a:prstDash val="solid"/>
          </a:ln>
        </p:spPr>
      </p:sp>
      <p:sp>
        <p:nvSpPr>
          <p:cNvPr id="11" name="Text 9"/>
          <p:cNvSpPr txBox="1"/>
          <p:nvPr/>
        </p:nvSpPr>
        <p:spPr>
          <a:xfrm>
            <a:off x="1648663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TOOLING</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Azure Monitor · QRadar · Sentinel</a:t>
            </a:r>
            <a:endParaRPr lang="en-US" sz="900" dirty="0"/>
          </a:p>
          <a:p>
            <a:pPr indent="0" marL="0">
              <a:spcAft>
                <a:spcPts val="300"/>
              </a:spcAft>
              <a:buNone/>
            </a:pPr>
            <a:r>
              <a:rPr lang="en-US" sz="1050" dirty="0">
                <a:solidFill>
                  <a:srgbClr val="C9D5DF"/>
                </a:solidFill>
              </a:rPr>
              <a:t>QRadar today, aligned to Microsoft Sentinel</a:t>
            </a:r>
            <a:endParaRPr lang="en-US" sz="900" dirty="0"/>
          </a:p>
        </p:txBody>
      </p:sp>
      <p:sp>
        <p:nvSpPr>
          <p:cNvPr id="12" name="Text 10"/>
          <p:cNvSpPr txBox="1"/>
          <p:nvPr/>
        </p:nvSpPr>
        <p:spPr>
          <a:xfrm>
            <a:off x="667512" y="484632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THE CHAIN</a:t>
            </a:r>
            <a:endParaRPr lang="en-US" sz="1000" dirty="0"/>
          </a:p>
        </p:txBody>
      </p:sp>
      <p:sp>
        <p:nvSpPr>
          <p:cNvPr id="13" name="Text 11"/>
          <p:cNvSpPr txBox="1"/>
          <p:nvPr/>
        </p:nvSpPr>
        <p:spPr>
          <a:xfrm>
            <a:off x="667512" y="5084064"/>
            <a:ext cx="100584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Nine linked steps, from service to improvement</a:t>
            </a:r>
            <a:endParaRPr lang="en-US" sz="2800" dirty="0"/>
          </a:p>
        </p:txBody>
      </p:sp>
      <p:sp>
        <p:nvSpPr>
          <p:cNvPr id="14" name="Text 12"/>
          <p:cNvSpPr txBox="1"/>
          <p:nvPr/>
        </p:nvSpPr>
        <p:spPr>
          <a:xfrm>
            <a:off x="10853928" y="5120640"/>
            <a:ext cx="8595360" cy="365760"/>
          </a:xfrm>
          <a:prstGeom prst="rect">
            <a:avLst/>
          </a:prstGeom>
          <a:noFill/>
          <a:ln/>
        </p:spPr>
        <p:txBody>
          <a:bodyPr wrap="square" lIns="0" tIns="0" rIns="0" bIns="0" rtlCol="0" anchor="b"/>
          <a:lstStyle/>
          <a:p>
            <a:pPr algn="r" indent="0" marL="0">
              <a:buNone/>
            </a:pPr>
            <a:r>
              <a:rPr lang="en-US" sz="1200" dirty="0">
                <a:solidFill>
                  <a:schemeClr val="accent1"/>
                </a:solidFill>
              </a:rPr>
              <a:t>■ </a:t>
            </a:r>
            <a:pPr algn="r" indent="0" marL="0">
              <a:buNone/>
            </a:pPr>
            <a:r>
              <a:rPr lang="en-US" sz="1200" dirty="0">
                <a:solidFill>
                  <a:schemeClr val="tx2"/>
                </a:solidFill>
              </a:rPr>
              <a:t>Watch and detect        </a:t>
            </a:r>
            <a:pPr algn="r" indent="0" marL="0">
              <a:buNone/>
            </a:pPr>
            <a:r>
              <a:rPr lang="en-US" sz="1200" dirty="0">
                <a:solidFill>
                  <a:schemeClr val="accent2"/>
                </a:solidFill>
              </a:rPr>
              <a:t>■ </a:t>
            </a:r>
            <a:pPr algn="r" indent="0" marL="0">
              <a:buNone/>
            </a:pPr>
            <a:r>
              <a:rPr lang="en-US" sz="1200" dirty="0">
                <a:solidFill>
                  <a:schemeClr val="tx2"/>
                </a:solidFill>
              </a:rPr>
              <a:t>Restore, report and improve</a:t>
            </a:r>
            <a:endParaRPr lang="en-US" sz="1200" dirty="0"/>
          </a:p>
        </p:txBody>
      </p:sp>
      <p:sp>
        <p:nvSpPr>
          <p:cNvPr id="15" name="Stage 1"/>
          <p:cNvSpPr/>
          <p:nvPr/>
        </p:nvSpPr>
        <p:spPr>
          <a:xfrm>
            <a:off x="667512" y="5806440"/>
            <a:ext cx="2338832" cy="676656"/>
          </a:xfrm>
          <a:prstGeom prst="homePlate">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01  </a:t>
            </a:r>
            <a:pPr algn="ctr" indent="0" marL="0">
              <a:buNone/>
            </a:pPr>
            <a:r>
              <a:rPr lang="en-US" sz="1300" b="1" dirty="0">
                <a:solidFill>
                  <a:schemeClr val="bg1"/>
                </a:solidFill>
                <a:latin typeface="+mj-lt" pitchFamily="34" charset="0"/>
                <a:ea typeface="+mj-lt" pitchFamily="34" charset="-122"/>
                <a:cs typeface="+mj-lt" pitchFamily="34" charset="-120"/>
              </a:rPr>
              <a:t>SERVICE</a:t>
            </a:r>
            <a:endParaRPr lang="en-US" sz="1400" dirty="0"/>
          </a:p>
        </p:txBody>
      </p:sp>
      <p:sp>
        <p:nvSpPr>
          <p:cNvPr id="16" name="Stage 2"/>
          <p:cNvSpPr/>
          <p:nvPr/>
        </p:nvSpPr>
        <p:spPr>
          <a:xfrm>
            <a:off x="2722880"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02  </a:t>
            </a:r>
            <a:pPr algn="ctr" indent="0" marL="0">
              <a:buNone/>
            </a:pPr>
            <a:r>
              <a:rPr lang="en-US" sz="1300" b="1" dirty="0">
                <a:solidFill>
                  <a:schemeClr val="bg1"/>
                </a:solidFill>
                <a:latin typeface="+mj-lt" pitchFamily="34" charset="0"/>
                <a:ea typeface="+mj-lt" pitchFamily="34" charset="-122"/>
                <a:cs typeface="+mj-lt" pitchFamily="34" charset="-120"/>
              </a:rPr>
              <a:t>COMPONENT</a:t>
            </a:r>
            <a:endParaRPr lang="en-US" sz="1400" dirty="0"/>
          </a:p>
        </p:txBody>
      </p:sp>
      <p:sp>
        <p:nvSpPr>
          <p:cNvPr id="17" name="Stage 3"/>
          <p:cNvSpPr/>
          <p:nvPr/>
        </p:nvSpPr>
        <p:spPr>
          <a:xfrm>
            <a:off x="4778248"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03  </a:t>
            </a:r>
            <a:pPr algn="ctr" indent="0" marL="0">
              <a:buNone/>
            </a:pPr>
            <a:r>
              <a:rPr lang="en-US" sz="1300" b="1" dirty="0">
                <a:solidFill>
                  <a:schemeClr val="bg1"/>
                </a:solidFill>
                <a:latin typeface="+mj-lt" pitchFamily="34" charset="0"/>
                <a:ea typeface="+mj-lt" pitchFamily="34" charset="-122"/>
                <a:cs typeface="+mj-lt" pitchFamily="34" charset="-120"/>
              </a:rPr>
              <a:t>TELEMETRY</a:t>
            </a:r>
            <a:endParaRPr lang="en-US" sz="1400" dirty="0"/>
          </a:p>
        </p:txBody>
      </p:sp>
      <p:sp>
        <p:nvSpPr>
          <p:cNvPr id="18" name="Stage 4"/>
          <p:cNvSpPr/>
          <p:nvPr/>
        </p:nvSpPr>
        <p:spPr>
          <a:xfrm>
            <a:off x="6833616"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04  </a:t>
            </a:r>
            <a:pPr algn="ctr" indent="0" marL="0">
              <a:buNone/>
            </a:pPr>
            <a:r>
              <a:rPr lang="en-US" sz="1300" b="1" dirty="0">
                <a:solidFill>
                  <a:schemeClr val="bg1"/>
                </a:solidFill>
                <a:latin typeface="+mj-lt" pitchFamily="34" charset="0"/>
                <a:ea typeface="+mj-lt" pitchFamily="34" charset="-122"/>
                <a:cs typeface="+mj-lt" pitchFamily="34" charset="-120"/>
              </a:rPr>
              <a:t>EVENT</a:t>
            </a:r>
            <a:endParaRPr lang="en-US" sz="1400" dirty="0"/>
          </a:p>
        </p:txBody>
      </p:sp>
      <p:sp>
        <p:nvSpPr>
          <p:cNvPr id="19" name="Stage 5"/>
          <p:cNvSpPr/>
          <p:nvPr/>
        </p:nvSpPr>
        <p:spPr>
          <a:xfrm>
            <a:off x="8888984"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05  </a:t>
            </a:r>
            <a:pPr algn="ctr" indent="0" marL="0">
              <a:buNone/>
            </a:pPr>
            <a:r>
              <a:rPr lang="en-US" sz="1300" b="1" dirty="0">
                <a:solidFill>
                  <a:schemeClr val="bg1"/>
                </a:solidFill>
                <a:latin typeface="+mj-lt" pitchFamily="34" charset="0"/>
                <a:ea typeface="+mj-lt" pitchFamily="34" charset="-122"/>
                <a:cs typeface="+mj-lt" pitchFamily="34" charset="-120"/>
              </a:rPr>
              <a:t>INCIDENT</a:t>
            </a:r>
            <a:endParaRPr lang="en-US" sz="1400" dirty="0"/>
          </a:p>
        </p:txBody>
      </p:sp>
      <p:sp>
        <p:nvSpPr>
          <p:cNvPr id="20" name="Stage 6"/>
          <p:cNvSpPr/>
          <p:nvPr/>
        </p:nvSpPr>
        <p:spPr>
          <a:xfrm>
            <a:off x="10944352"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06  </a:t>
            </a:r>
            <a:pPr algn="ctr" indent="0" marL="0">
              <a:buNone/>
            </a:pPr>
            <a:r>
              <a:rPr lang="en-US" sz="1300" b="1" dirty="0">
                <a:solidFill>
                  <a:schemeClr val="bg1"/>
                </a:solidFill>
                <a:latin typeface="+mj-lt" pitchFamily="34" charset="0"/>
                <a:ea typeface="+mj-lt" pitchFamily="34" charset="-122"/>
                <a:cs typeface="+mj-lt" pitchFamily="34" charset="-120"/>
              </a:rPr>
              <a:t>RESTORATION</a:t>
            </a:r>
            <a:endParaRPr lang="en-US" sz="1400" dirty="0"/>
          </a:p>
        </p:txBody>
      </p:sp>
      <p:sp>
        <p:nvSpPr>
          <p:cNvPr id="21" name="Stage 7"/>
          <p:cNvSpPr/>
          <p:nvPr/>
        </p:nvSpPr>
        <p:spPr>
          <a:xfrm>
            <a:off x="12999720"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07  </a:t>
            </a:r>
            <a:pPr algn="ctr" indent="0" marL="0">
              <a:buNone/>
            </a:pPr>
            <a:r>
              <a:rPr lang="en-US" sz="1300" b="1" dirty="0">
                <a:solidFill>
                  <a:schemeClr val="bg1"/>
                </a:solidFill>
                <a:latin typeface="+mj-lt" pitchFamily="34" charset="0"/>
                <a:ea typeface="+mj-lt" pitchFamily="34" charset="-122"/>
                <a:cs typeface="+mj-lt" pitchFamily="34" charset="-120"/>
              </a:rPr>
              <a:t>PROBLEM</a:t>
            </a:r>
            <a:endParaRPr lang="en-US" sz="1400" dirty="0"/>
          </a:p>
        </p:txBody>
      </p:sp>
      <p:sp>
        <p:nvSpPr>
          <p:cNvPr id="22" name="Stage 8"/>
          <p:cNvSpPr/>
          <p:nvPr/>
        </p:nvSpPr>
        <p:spPr>
          <a:xfrm>
            <a:off x="15055088"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08  </a:t>
            </a:r>
            <a:pPr algn="ctr" indent="0" marL="0">
              <a:buNone/>
            </a:pPr>
            <a:r>
              <a:rPr lang="en-US" sz="1300" b="1" dirty="0">
                <a:solidFill>
                  <a:schemeClr val="bg1"/>
                </a:solidFill>
                <a:latin typeface="+mj-lt" pitchFamily="34" charset="0"/>
                <a:ea typeface="+mj-lt" pitchFamily="34" charset="-122"/>
                <a:cs typeface="+mj-lt" pitchFamily="34" charset="-120"/>
              </a:rPr>
              <a:t>REPORTING</a:t>
            </a:r>
            <a:endParaRPr lang="en-US" sz="1400" dirty="0"/>
          </a:p>
        </p:txBody>
      </p:sp>
      <p:sp>
        <p:nvSpPr>
          <p:cNvPr id="23" name="Stage 9"/>
          <p:cNvSpPr/>
          <p:nvPr/>
        </p:nvSpPr>
        <p:spPr>
          <a:xfrm>
            <a:off x="17110456"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09  </a:t>
            </a:r>
            <a:pPr algn="ctr" indent="0" marL="0">
              <a:buNone/>
            </a:pPr>
            <a:r>
              <a:rPr lang="en-US" sz="1300" b="1" dirty="0">
                <a:solidFill>
                  <a:schemeClr val="bg1"/>
                </a:solidFill>
                <a:latin typeface="+mj-lt" pitchFamily="34" charset="0"/>
                <a:ea typeface="+mj-lt" pitchFamily="34" charset="-122"/>
                <a:cs typeface="+mj-lt" pitchFamily="34" charset="-120"/>
              </a:rPr>
              <a:t>IMPROVEMENT</a:t>
            </a:r>
            <a:endParaRPr lang="en-US" sz="1400" dirty="0"/>
          </a:p>
        </p:txBody>
      </p:sp>
      <p:pic>
        <p:nvPicPr>
          <p:cNvPr id="24" name="Image 0" descr="preencoded.png">    </p:cNvPr>
          <p:cNvPicPr>
            <a:picLocks noChangeAspect="1"/>
          </p:cNvPicPr>
          <p:nvPr/>
        </p:nvPicPr>
        <p:blipFill>
          <a:blip r:embed="rId1"/>
          <a:stretch>
            <a:fillRect/>
          </a:stretch>
        </p:blipFill>
        <p:spPr>
          <a:xfrm>
            <a:off x="704088" y="6665976"/>
            <a:ext cx="384048" cy="384048"/>
          </a:xfrm>
          <a:prstGeom prst="rect">
            <a:avLst/>
          </a:prstGeom>
        </p:spPr>
      </p:pic>
      <p:sp>
        <p:nvSpPr>
          <p:cNvPr id="25" name="Text 22"/>
          <p:cNvSpPr txBox="1"/>
          <p:nvPr/>
        </p:nvSpPr>
        <p:spPr>
          <a:xfrm>
            <a:off x="70408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The business service, its owner and its impact tolerance.</a:t>
            </a:r>
            <a:endParaRPr lang="en-US" sz="1200" dirty="0"/>
          </a:p>
        </p:txBody>
      </p:sp>
      <p:pic>
        <p:nvPicPr>
          <p:cNvPr id="26" name="Image 1" descr="preencoded.png">    </p:cNvPr>
          <p:cNvPicPr>
            <a:picLocks noChangeAspect="1"/>
          </p:cNvPicPr>
          <p:nvPr/>
        </p:nvPicPr>
        <p:blipFill>
          <a:blip r:embed="rId2"/>
          <a:stretch>
            <a:fillRect/>
          </a:stretch>
        </p:blipFill>
        <p:spPr>
          <a:xfrm>
            <a:off x="2759456" y="6665976"/>
            <a:ext cx="384048" cy="384048"/>
          </a:xfrm>
          <a:prstGeom prst="rect">
            <a:avLst/>
          </a:prstGeom>
        </p:spPr>
      </p:pic>
      <p:sp>
        <p:nvSpPr>
          <p:cNvPr id="27" name="Text 23"/>
          <p:cNvSpPr txBox="1"/>
          <p:nvPr/>
        </p:nvSpPr>
        <p:spPr>
          <a:xfrm>
            <a:off x="275945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The network and infrastructure the service depends on.</a:t>
            </a:r>
            <a:endParaRPr lang="en-US" sz="1200" dirty="0"/>
          </a:p>
        </p:txBody>
      </p:sp>
      <p:pic>
        <p:nvPicPr>
          <p:cNvPr id="28" name="Image 2" descr="preencoded.png">    </p:cNvPr>
          <p:cNvPicPr>
            <a:picLocks noChangeAspect="1"/>
          </p:cNvPicPr>
          <p:nvPr/>
        </p:nvPicPr>
        <p:blipFill>
          <a:blip r:embed="rId3"/>
          <a:stretch>
            <a:fillRect/>
          </a:stretch>
        </p:blipFill>
        <p:spPr>
          <a:xfrm>
            <a:off x="4814824" y="6665976"/>
            <a:ext cx="384048" cy="384048"/>
          </a:xfrm>
          <a:prstGeom prst="rect">
            <a:avLst/>
          </a:prstGeom>
        </p:spPr>
      </p:pic>
      <p:sp>
        <p:nvSpPr>
          <p:cNvPr id="29" name="Text 24"/>
          <p:cNvSpPr txBox="1"/>
          <p:nvPr/>
        </p:nvSpPr>
        <p:spPr>
          <a:xfrm>
            <a:off x="481482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Metrics, logs, flows and synthetic probes from every component.</a:t>
            </a:r>
            <a:endParaRPr lang="en-US" sz="1200" dirty="0"/>
          </a:p>
        </p:txBody>
      </p:sp>
      <p:pic>
        <p:nvPicPr>
          <p:cNvPr id="30" name="Image 3" descr="preencoded.png">    </p:cNvPr>
          <p:cNvPicPr>
            <a:picLocks noChangeAspect="1"/>
          </p:cNvPicPr>
          <p:nvPr/>
        </p:nvPicPr>
        <p:blipFill>
          <a:blip r:embed="rId4"/>
          <a:stretch>
            <a:fillRect/>
          </a:stretch>
        </p:blipFill>
        <p:spPr>
          <a:xfrm>
            <a:off x="6870192" y="6665976"/>
            <a:ext cx="384048" cy="384048"/>
          </a:xfrm>
          <a:prstGeom prst="rect">
            <a:avLst/>
          </a:prstGeom>
        </p:spPr>
      </p:pic>
      <p:sp>
        <p:nvSpPr>
          <p:cNvPr id="31" name="Text 25"/>
          <p:cNvSpPr txBox="1"/>
          <p:nvPr/>
        </p:nvSpPr>
        <p:spPr>
          <a:xfrm>
            <a:off x="687019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A threshold or baseline is breached. Events are correlated and de-duplicated.</a:t>
            </a:r>
            <a:endParaRPr lang="en-US" sz="1200" dirty="0"/>
          </a:p>
        </p:txBody>
      </p:sp>
      <p:pic>
        <p:nvPicPr>
          <p:cNvPr id="32" name="Image 4" descr="preencoded.png">    </p:cNvPr>
          <p:cNvPicPr>
            <a:picLocks noChangeAspect="1"/>
          </p:cNvPicPr>
          <p:nvPr/>
        </p:nvPicPr>
        <p:blipFill>
          <a:blip r:embed="rId5"/>
          <a:stretch>
            <a:fillRect/>
          </a:stretch>
        </p:blipFill>
        <p:spPr>
          <a:xfrm>
            <a:off x="8925560" y="6665976"/>
            <a:ext cx="384048" cy="384048"/>
          </a:xfrm>
          <a:prstGeom prst="rect">
            <a:avLst/>
          </a:prstGeom>
        </p:spPr>
      </p:pic>
      <p:sp>
        <p:nvSpPr>
          <p:cNvPr id="33" name="Text 26"/>
          <p:cNvSpPr txBox="1"/>
          <p:nvPr/>
        </p:nvSpPr>
        <p:spPr>
          <a:xfrm>
            <a:off x="8925560"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A ticket is raised and prioritised by business impact.</a:t>
            </a:r>
            <a:endParaRPr lang="en-US" sz="1200" dirty="0"/>
          </a:p>
        </p:txBody>
      </p:sp>
      <p:pic>
        <p:nvPicPr>
          <p:cNvPr id="34" name="Image 5" descr="preencoded.png">    </p:cNvPr>
          <p:cNvPicPr>
            <a:picLocks noChangeAspect="1"/>
          </p:cNvPicPr>
          <p:nvPr/>
        </p:nvPicPr>
        <p:blipFill>
          <a:blip r:embed="rId6"/>
          <a:stretch>
            <a:fillRect/>
          </a:stretch>
        </p:blipFill>
        <p:spPr>
          <a:xfrm>
            <a:off x="10980928" y="6665976"/>
            <a:ext cx="384048" cy="384048"/>
          </a:xfrm>
          <a:prstGeom prst="rect">
            <a:avLst/>
          </a:prstGeom>
        </p:spPr>
      </p:pic>
      <p:sp>
        <p:nvSpPr>
          <p:cNvPr id="35" name="Text 27"/>
          <p:cNvSpPr txBox="1"/>
          <p:nvPr/>
        </p:nvSpPr>
        <p:spPr>
          <a:xfrm>
            <a:off x="1098092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Failover or workaround brings the service back within its recovery time.</a:t>
            </a:r>
            <a:endParaRPr lang="en-US" sz="1200" dirty="0"/>
          </a:p>
        </p:txBody>
      </p:sp>
      <p:pic>
        <p:nvPicPr>
          <p:cNvPr id="36" name="Image 6" descr="preencoded.png">    </p:cNvPr>
          <p:cNvPicPr>
            <a:picLocks noChangeAspect="1"/>
          </p:cNvPicPr>
          <p:nvPr/>
        </p:nvPicPr>
        <p:blipFill>
          <a:blip r:embed="rId7"/>
          <a:stretch>
            <a:fillRect/>
          </a:stretch>
        </p:blipFill>
        <p:spPr>
          <a:xfrm>
            <a:off x="13036296" y="6665976"/>
            <a:ext cx="384048" cy="384048"/>
          </a:xfrm>
          <a:prstGeom prst="rect">
            <a:avLst/>
          </a:prstGeom>
        </p:spPr>
      </p:pic>
      <p:sp>
        <p:nvSpPr>
          <p:cNvPr id="37" name="Text 28"/>
          <p:cNvSpPr txBox="1"/>
          <p:nvPr/>
        </p:nvSpPr>
        <p:spPr>
          <a:xfrm>
            <a:off x="1303629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Root cause is found and fixed for good through change control.</a:t>
            </a:r>
            <a:endParaRPr lang="en-US" sz="1200" dirty="0"/>
          </a:p>
        </p:txBody>
      </p:sp>
      <p:pic>
        <p:nvPicPr>
          <p:cNvPr id="38" name="Image 7" descr="preencoded.png">    </p:cNvPr>
          <p:cNvPicPr>
            <a:picLocks noChangeAspect="1"/>
          </p:cNvPicPr>
          <p:nvPr/>
        </p:nvPicPr>
        <p:blipFill>
          <a:blip r:embed="rId8"/>
          <a:stretch>
            <a:fillRect/>
          </a:stretch>
        </p:blipFill>
        <p:spPr>
          <a:xfrm>
            <a:off x="15091664" y="6665976"/>
            <a:ext cx="384048" cy="384048"/>
          </a:xfrm>
          <a:prstGeom prst="rect">
            <a:avLst/>
          </a:prstGeom>
        </p:spPr>
      </p:pic>
      <p:sp>
        <p:nvSpPr>
          <p:cNvPr id="39" name="Text 29"/>
          <p:cNvSpPr txBox="1"/>
          <p:nvPr/>
        </p:nvSpPr>
        <p:spPr>
          <a:xfrm>
            <a:off x="1509166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Availability, capacity and service levels. DORA classification when major.</a:t>
            </a:r>
            <a:endParaRPr lang="en-US" sz="1200" dirty="0"/>
          </a:p>
        </p:txBody>
      </p:sp>
      <p:pic>
        <p:nvPicPr>
          <p:cNvPr id="40" name="Image 8" descr="preencoded.png">    </p:cNvPr>
          <p:cNvPicPr>
            <a:picLocks noChangeAspect="1"/>
          </p:cNvPicPr>
          <p:nvPr/>
        </p:nvPicPr>
        <p:blipFill>
          <a:blip r:embed="rId9"/>
          <a:stretch>
            <a:fillRect/>
          </a:stretch>
        </p:blipFill>
        <p:spPr>
          <a:xfrm>
            <a:off x="17147032" y="6665976"/>
            <a:ext cx="384048" cy="384048"/>
          </a:xfrm>
          <a:prstGeom prst="rect">
            <a:avLst/>
          </a:prstGeom>
        </p:spPr>
      </p:pic>
      <p:sp>
        <p:nvSpPr>
          <p:cNvPr id="41" name="Text 30"/>
          <p:cNvSpPr txBox="1"/>
          <p:nvPr/>
        </p:nvSpPr>
        <p:spPr>
          <a:xfrm>
            <a:off x="1714703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Capacity plan, resilience tests and lessons learned feed the next cycle.</a:t>
            </a:r>
            <a:endParaRPr lang="en-US" sz="1200" dirty="0"/>
          </a:p>
        </p:txBody>
      </p:sp>
      <p:sp>
        <p:nvSpPr>
          <p:cNvPr id="42" name="Text 31"/>
          <p:cNvSpPr txBox="1"/>
          <p:nvPr/>
        </p:nvSpPr>
        <p:spPr>
          <a:xfrm>
            <a:off x="667512" y="8311896"/>
            <a:ext cx="1600200" cy="329184"/>
          </a:xfrm>
          <a:prstGeom prst="rect">
            <a:avLst/>
          </a:prstGeom>
          <a:noFill/>
          <a:ln w="12700">
            <a:solidFill>
              <a:schemeClr val="tx1"/>
            </a:solidFill>
          </a:ln>
        </p:spPr>
        <p:txBody>
          <a:bodyPr wrap="square" lIns="0" tIns="0" rIns="0" bIns="0" rtlCol="0" anchor="ctr"/>
          <a:lstStyle/>
          <a:p>
            <a:pPr algn="ctr" indent="0" marL="0">
              <a:buNone/>
            </a:pPr>
            <a:r>
              <a:rPr lang="en-US" sz="1000" spc="250" kern="0" dirty="0">
                <a:solidFill>
                  <a:schemeClr val="tx1"/>
                </a:solidFill>
              </a:rPr>
              <a:t>WORKED EXAMPLE</a:t>
            </a:r>
            <a:endParaRPr lang="en-US" sz="1000" dirty="0"/>
          </a:p>
        </p:txBody>
      </p:sp>
      <p:sp>
        <p:nvSpPr>
          <p:cNvPr id="43" name="Text 32"/>
          <p:cNvSpPr txBox="1"/>
          <p:nvPr/>
        </p:nvSpPr>
        <p:spPr>
          <a:xfrm>
            <a:off x="2450592" y="8275320"/>
            <a:ext cx="9144000" cy="402336"/>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Primary circuit to the payments platform degrades</a:t>
            </a:r>
            <a:endParaRPr lang="en-US" sz="2200" dirty="0"/>
          </a:p>
        </p:txBody>
      </p:sp>
      <p:sp>
        <p:nvSpPr>
          <p:cNvPr id="44" name="Text 33"/>
          <p:cNvSpPr txBox="1"/>
          <p:nvPr/>
        </p:nvSpPr>
        <p:spPr>
          <a:xfrm>
            <a:off x="12134088" y="8311896"/>
            <a:ext cx="7315200" cy="329184"/>
          </a:xfrm>
          <a:prstGeom prst="rect">
            <a:avLst/>
          </a:prstGeom>
          <a:noFill/>
          <a:ln/>
        </p:spPr>
        <p:txBody>
          <a:bodyPr wrap="square" lIns="0" tIns="0" rIns="0" bIns="0" rtlCol="0" anchor="ctr"/>
          <a:lstStyle/>
          <a:p>
            <a:pPr algn="r" indent="0" marL="0">
              <a:buNone/>
            </a:pPr>
            <a:r>
              <a:rPr lang="en-US" sz="1200" dirty="0">
                <a:solidFill>
                  <a:schemeClr val="tx2"/>
                </a:solidFill>
              </a:rPr>
              <a:t>Priority P1 · Critical function · Bracketed values are placeholders</a:t>
            </a:r>
            <a:endParaRPr lang="en-US" sz="1200" dirty="0"/>
          </a:p>
        </p:txBody>
      </p:sp>
      <p:sp>
        <p:nvSpPr>
          <p:cNvPr id="45" name="Example 01"/>
          <p:cNvSpPr txBox="1"/>
          <p:nvPr/>
        </p:nvSpPr>
        <p:spPr>
          <a:xfrm>
            <a:off x="66751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01 SERVICE</a:t>
            </a:r>
            <a:endParaRPr lang="en-US" sz="950" dirty="0"/>
          </a:p>
          <a:p>
            <a:pPr indent="0" marL="0">
              <a:spcAft>
                <a:spcPts val="500"/>
              </a:spcAft>
              <a:buNone/>
            </a:pPr>
            <a:r>
              <a:rPr lang="en-US" sz="1200" dirty="0">
                <a:solidFill>
                  <a:schemeClr val="tx1"/>
                </a:solidFill>
              </a:rPr>
              <a:t>Payments API, a critical function. Impact tolerance [2 hours].</a:t>
            </a:r>
            <a:endParaRPr lang="en-US" sz="950" dirty="0"/>
          </a:p>
        </p:txBody>
      </p:sp>
      <p:sp>
        <p:nvSpPr>
          <p:cNvPr id="46" name="Example 02"/>
          <p:cNvSpPr txBox="1"/>
          <p:nvPr/>
        </p:nvSpPr>
        <p:spPr>
          <a:xfrm>
            <a:off x="272288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02 COMPONENT</a:t>
            </a:r>
            <a:endParaRPr lang="en-US" sz="950" dirty="0"/>
          </a:p>
          <a:p>
            <a:pPr indent="0" marL="0">
              <a:spcAft>
                <a:spcPts val="500"/>
              </a:spcAft>
              <a:buNone/>
            </a:pPr>
            <a:r>
              <a:rPr lang="en-US" sz="1200" dirty="0">
                <a:solidFill>
                  <a:schemeClr val="tx1"/>
                </a:solidFill>
              </a:rPr>
              <a:t>Primary ExpressRoute circuit, edge routers and the application gateway.</a:t>
            </a:r>
            <a:endParaRPr lang="en-US" sz="950" dirty="0"/>
          </a:p>
        </p:txBody>
      </p:sp>
      <p:sp>
        <p:nvSpPr>
          <p:cNvPr id="47" name="Example 03"/>
          <p:cNvSpPr txBox="1"/>
          <p:nvPr/>
        </p:nvSpPr>
        <p:spPr>
          <a:xfrm>
            <a:off x="477824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03 TELEMETRY</a:t>
            </a:r>
            <a:endParaRPr lang="en-US" sz="950" dirty="0"/>
          </a:p>
          <a:p>
            <a:pPr indent="0" marL="0">
              <a:spcAft>
                <a:spcPts val="500"/>
              </a:spcAft>
              <a:buNone/>
            </a:pPr>
            <a:r>
              <a:rPr lang="en-US" sz="1200" dirty="0">
                <a:solidFill>
                  <a:schemeClr val="tx1"/>
                </a:solidFill>
              </a:rPr>
              <a:t>Connection Monitor probes, circuit metrics, router syslog and SNMP.</a:t>
            </a:r>
            <a:endParaRPr lang="en-US" sz="950" dirty="0"/>
          </a:p>
        </p:txBody>
      </p:sp>
      <p:sp>
        <p:nvSpPr>
          <p:cNvPr id="48" name="Example 04"/>
          <p:cNvSpPr txBox="1"/>
          <p:nvPr/>
        </p:nvSpPr>
        <p:spPr>
          <a:xfrm>
            <a:off x="683361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04 EVENT</a:t>
            </a:r>
            <a:endParaRPr lang="en-US" sz="950" dirty="0"/>
          </a:p>
          <a:p>
            <a:pPr indent="0" marL="0">
              <a:spcAft>
                <a:spcPts val="500"/>
              </a:spcAft>
              <a:buNone/>
            </a:pPr>
            <a:r>
              <a:rPr lang="en-US" sz="1200" dirty="0">
                <a:solidFill>
                  <a:schemeClr val="tx1"/>
                </a:solidFill>
              </a:rPr>
              <a:t>Packet loss and latency stay above threshold for [5 minutes]. Alert fires.</a:t>
            </a:r>
            <a:endParaRPr lang="en-US" sz="950" dirty="0"/>
          </a:p>
        </p:txBody>
      </p:sp>
      <p:sp>
        <p:nvSpPr>
          <p:cNvPr id="49" name="Example 05"/>
          <p:cNvSpPr txBox="1"/>
          <p:nvPr/>
        </p:nvSpPr>
        <p:spPr>
          <a:xfrm>
            <a:off x="8888984"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05 INCIDENT</a:t>
            </a:r>
            <a:endParaRPr lang="en-US" sz="950" dirty="0"/>
          </a:p>
          <a:p>
            <a:pPr indent="0" marL="0">
              <a:spcAft>
                <a:spcPts val="500"/>
              </a:spcAft>
              <a:buNone/>
            </a:pPr>
            <a:r>
              <a:rPr lang="en-US" sz="1200" dirty="0">
                <a:solidFill>
                  <a:schemeClr val="tx1"/>
                </a:solidFill>
              </a:rPr>
              <a:t>P1 ticket raised. Incident manager engaged. SOC asked to rule out an attack.</a:t>
            </a:r>
            <a:endParaRPr lang="en-US" sz="950" dirty="0"/>
          </a:p>
        </p:txBody>
      </p:sp>
      <p:sp>
        <p:nvSpPr>
          <p:cNvPr id="50" name="Example 06"/>
          <p:cNvSpPr txBox="1"/>
          <p:nvPr/>
        </p:nvSpPr>
        <p:spPr>
          <a:xfrm>
            <a:off x="1094435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06 RESTORATION</a:t>
            </a:r>
            <a:endParaRPr lang="en-US" sz="950" dirty="0"/>
          </a:p>
          <a:p>
            <a:pPr indent="0" marL="0">
              <a:spcAft>
                <a:spcPts val="500"/>
              </a:spcAft>
              <a:buNone/>
            </a:pPr>
            <a:r>
              <a:rPr lang="en-US" sz="1200" dirty="0">
                <a:solidFill>
                  <a:schemeClr val="tx1"/>
                </a:solidFill>
              </a:rPr>
              <a:t>Traffic fails over to the secondary circuit. Service restored in [18 minutes].</a:t>
            </a:r>
            <a:endParaRPr lang="en-US" sz="950" dirty="0"/>
          </a:p>
        </p:txBody>
      </p:sp>
      <p:sp>
        <p:nvSpPr>
          <p:cNvPr id="51" name="Example 07"/>
          <p:cNvSpPr txBox="1"/>
          <p:nvPr/>
        </p:nvSpPr>
        <p:spPr>
          <a:xfrm>
            <a:off x="1299972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07 PROBLEM</a:t>
            </a:r>
            <a:endParaRPr lang="en-US" sz="950" dirty="0"/>
          </a:p>
          <a:p>
            <a:pPr indent="0" marL="0">
              <a:spcAft>
                <a:spcPts val="500"/>
              </a:spcAft>
              <a:buNone/>
            </a:pPr>
            <a:r>
              <a:rPr lang="en-US" sz="1200" dirty="0">
                <a:solidFill>
                  <a:schemeClr val="tx1"/>
                </a:solidFill>
              </a:rPr>
              <a:t>Carrier confirms a fibre fault. Change raised to add path diversity.</a:t>
            </a:r>
            <a:endParaRPr lang="en-US" sz="950" dirty="0"/>
          </a:p>
        </p:txBody>
      </p:sp>
      <p:sp>
        <p:nvSpPr>
          <p:cNvPr id="52" name="Example 08"/>
          <p:cNvSpPr txBox="1"/>
          <p:nvPr/>
        </p:nvSpPr>
        <p:spPr>
          <a:xfrm>
            <a:off x="1505508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08 REPORTING</a:t>
            </a:r>
            <a:endParaRPr lang="en-US" sz="950" dirty="0"/>
          </a:p>
          <a:p>
            <a:pPr indent="0" marL="0">
              <a:spcAft>
                <a:spcPts val="500"/>
              </a:spcAft>
              <a:buNone/>
            </a:pPr>
            <a:r>
              <a:rPr lang="en-US" sz="1200" dirty="0">
                <a:solidFill>
                  <a:schemeClr val="tx1"/>
                </a:solidFill>
              </a:rPr>
              <a:t>Downtime assessed against DORA thresholds: not major. Service level report updated.</a:t>
            </a:r>
            <a:endParaRPr lang="en-US" sz="950" dirty="0"/>
          </a:p>
        </p:txBody>
      </p:sp>
      <p:sp>
        <p:nvSpPr>
          <p:cNvPr id="53" name="Example 09"/>
          <p:cNvSpPr txBox="1"/>
          <p:nvPr/>
        </p:nvSpPr>
        <p:spPr>
          <a:xfrm>
            <a:off x="1711045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09 IMPROVEMENT</a:t>
            </a:r>
            <a:endParaRPr lang="en-US" sz="950" dirty="0"/>
          </a:p>
          <a:p>
            <a:pPr indent="0" marL="0">
              <a:spcAft>
                <a:spcPts val="500"/>
              </a:spcAft>
              <a:buNone/>
            </a:pPr>
            <a:r>
              <a:rPr lang="en-US" sz="1200" dirty="0">
                <a:solidFill>
                  <a:schemeClr val="tx1"/>
                </a:solidFill>
              </a:rPr>
              <a:t>Failover test added to the resilience testing programme. Capacity plan revised.</a:t>
            </a:r>
            <a:endParaRPr lang="en-US" sz="950" dirty="0"/>
          </a:p>
        </p:txBody>
      </p:sp>
      <p:sp>
        <p:nvSpPr>
          <p:cNvPr id="54" name="Text 43"/>
          <p:cNvSpPr txBox="1"/>
          <p:nvPr/>
        </p:nvSpPr>
        <p:spPr>
          <a:xfrm>
            <a:off x="667512" y="1110996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1</a:t>
            </a:r>
            <a:endParaRPr lang="en-US" sz="1000" dirty="0"/>
          </a:p>
        </p:txBody>
      </p:sp>
      <p:sp>
        <p:nvSpPr>
          <p:cNvPr id="55" name="Text 44"/>
          <p:cNvSpPr txBox="1"/>
          <p:nvPr/>
        </p:nvSpPr>
        <p:spPr>
          <a:xfrm>
            <a:off x="667512" y="11347704"/>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Monitoring and restoration matrix</a:t>
            </a:r>
            <a:endParaRPr lang="en-US" sz="2800" dirty="0"/>
          </a:p>
        </p:txBody>
      </p:sp>
      <p:sp>
        <p:nvSpPr>
          <p:cNvPr id="56" name="Text 45"/>
          <p:cNvSpPr txBox="1"/>
          <p:nvPr/>
        </p:nvSpPr>
        <p:spPr>
          <a:xfrm>
            <a:off x="10671048" y="11128248"/>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One row per failure scenario. Each row links a business service to its telemetry, its alert, its runbook and the evidence an auditor will ask for.</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67512" y="12024360"/>
          <a:ext cx="15087600" cy="914400"/>
        </p:xfrm>
        <a:graphic>
          <a:graphicData uri="http://schemas.openxmlformats.org/drawingml/2006/table">
            <a:tbl>
              <a:tblPr/>
              <a:tblGrid>
                <a:gridCol w="1037667"/>
                <a:gridCol w="1452734"/>
                <a:gridCol w="1867801"/>
                <a:gridCol w="1971568"/>
                <a:gridCol w="2179101"/>
                <a:gridCol w="2594168"/>
                <a:gridCol w="830134"/>
                <a:gridCol w="2179101"/>
                <a:gridCol w="1452734"/>
                <a:gridCol w="1764034"/>
                <a:gridCol w="1452734"/>
              </a:tblGrid>
              <a:tr h="493522">
                <a:tc>
                  <a:txBody>
                    <a:bodyPr/>
                    <a:lstStyle/>
                    <a:p>
                      <a:pPr indent="0" marL="0">
                        <a:buNone/>
                      </a:pPr>
                      <a:r>
                        <a:rPr lang="en-US" sz="1150" b="1" dirty="0">
                          <a:solidFill>
                            <a:schemeClr val="bg1"/>
                          </a:solidFill>
                        </a:rPr>
                        <a:t>ID</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Service at risk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Failure scenario</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Telemetry</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Detection in Microsoft tooling</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SIEM view: QRadar and Sentinel</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Priority</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Restoration runbook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Escalation</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Evidence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DORA anchor</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849884">
                <a:tc>
                  <a:txBody>
                    <a:bodyPr/>
                    <a:lstStyle/>
                    <a:p>
                      <a:pPr indent="0" marL="0">
                        <a:buNone/>
                      </a:pPr>
                      <a:r>
                        <a:rPr lang="en-US" sz="1150" b="1" dirty="0">
                          <a:solidFill>
                            <a:schemeClr val="tx1"/>
                          </a:solidFill>
                        </a:rPr>
                        <a:t>NOC-EV-001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Payments API</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Primary WAN or ExpressRoute circuit fails or degrades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Connection Monitor probes, circuit metrics, router syslog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Monitor alert on packet loss, latency and BGP availability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Router and firewall logs in QRadar. The same logs in Sentinel through the Syslog and CEF connectors.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bg1"/>
                          </a:solidFill>
                        </a:rPr>
                        <a:t>P1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Fail over to the secondary circuit. Open a carrier ticket.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manager, carrier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ticket, failover log, carrier report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Art. 11, RTS 2024/1774 Art. 13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71703">
                <a:tc>
                  <a:txBody>
                    <a:bodyPr/>
                    <a:lstStyle/>
                    <a:p>
                      <a:pPr indent="0" marL="0">
                        <a:buNone/>
                      </a:pPr>
                      <a:r>
                        <a:rPr lang="en-US" sz="1150" b="1" dirty="0">
                          <a:solidFill>
                            <a:schemeClr val="tx1"/>
                          </a:solidFill>
                        </a:rPr>
                        <a:t>NOC-EV-002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Customer portal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Bandwidth, CPU or session capacity saturates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Interface utilisation, gateway and firewall metrics, flow logs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Monitor metric alerts with dynamic thresholds. Traffic Analytics.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QFlow shows top talkers. Sentinel queries the flow logs in KQL.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P2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Scale out or shift traffic. Raise a capacity change.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Capacity owner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Capacity report, change record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Art. 7, RTS 2024/1774 Art. 9</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71703">
                <a:tc>
                  <a:txBody>
                    <a:bodyPr/>
                    <a:lstStyle/>
                    <a:p>
                      <a:pPr indent="0" marL="0">
                        <a:buNone/>
                      </a:pPr>
                      <a:r>
                        <a:rPr lang="en-US" sz="1150" b="1" dirty="0">
                          <a:solidFill>
                            <a:schemeClr val="tx1"/>
                          </a:solidFill>
                        </a:rPr>
                        <a:t>NOC-EV-003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All internet-facing services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DDoS or traffic flood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DDoS Protection telemetry, flow logs, WAF logs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DDoS Protection alerts and mitigation reports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QRadar flow anomaly rule. Sentinel Azure DDoS Protection connector.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bg1"/>
                          </a:solidFill>
                        </a:rPr>
                        <a:t>P1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Confirm mitigation is active. Apply rate limits. Reroute if needed.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SOC, incident manager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Mitigation report, incident record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Art. 10, Art. 17</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71703">
                <a:tc>
                  <a:txBody>
                    <a:bodyPr/>
                    <a:lstStyle/>
                    <a:p>
                      <a:pPr indent="0" marL="0">
                        <a:buNone/>
                      </a:pPr>
                      <a:r>
                        <a:rPr lang="en-US" sz="1150" b="1" dirty="0">
                          <a:solidFill>
                            <a:schemeClr val="tx1"/>
                          </a:solidFill>
                        </a:rPr>
                        <a:t>NOC-EV-004</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Core banking integration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Failed change or configuration drift on a network device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Configuration change logs, Azure Activity log, device syslog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Monitor alert on the Activity log. Change Analysis.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Change events as a QRadar log source. Azure Activity connector in Sentinel.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P2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Roll back to the last approved configuration.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Change manager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Change record, rollback log, post-change review</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Art. 9(4)(e), RTS 2024/1774 Art. 17</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49884">
                <a:tc>
                  <a:txBody>
                    <a:bodyPr/>
                    <a:lstStyle/>
                    <a:p>
                      <a:pPr indent="0" marL="0">
                        <a:buNone/>
                      </a:pPr>
                      <a:r>
                        <a:rPr lang="en-US" sz="1150" b="1" dirty="0">
                          <a:solidFill>
                            <a:schemeClr val="tx1"/>
                          </a:solidFill>
                        </a:rPr>
                        <a:t>NOC-EV-005</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Any cloud-hosted service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Cloud region or third-party provider outage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Service Health, Resource Health, provider status feeds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Service Health alerts through action groups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Azure Activity log reaches QRadar through Event Hubs and Sentinel through the Azure Activity connector.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bg1"/>
                          </a:solidFill>
                        </a:rPr>
                        <a:t>P1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Invoke the continuity plan: fail over to the secondary region or provider.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manager, third-party risk owner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Provider incident report, continuity test record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Art. 11, Art. 28</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93522">
                <a:tc>
                  <a:txBody>
                    <a:bodyPr/>
                    <a:lstStyle/>
                    <a:p>
                      <a:pPr indent="0" marL="0">
                        <a:buNone/>
                      </a:pPr>
                      <a:r>
                        <a:rPr lang="en-US" sz="1150" b="1" dirty="0">
                          <a:solidFill>
                            <a:schemeClr val="tx2"/>
                          </a:solidFill>
                        </a:rPr>
                        <a:t>NOC-EV-0NN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[Service]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[Failure]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[Sources]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[Alert]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[SIEM view]</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[P1 to P4]</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[Runbook]</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[Who]</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[Proof]</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[Article]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58" name="Text 46"/>
          <p:cNvSpPr txBox="1"/>
          <p:nvPr/>
        </p:nvSpPr>
        <p:spPr>
          <a:xfrm>
            <a:off x="667512" y="17503521"/>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2</a:t>
            </a:r>
            <a:endParaRPr lang="en-US" sz="1000" dirty="0"/>
          </a:p>
        </p:txBody>
      </p:sp>
      <p:sp>
        <p:nvSpPr>
          <p:cNvPr id="59" name="Text 47"/>
          <p:cNvSpPr txBox="1"/>
          <p:nvPr/>
        </p:nvSpPr>
        <p:spPr>
          <a:xfrm>
            <a:off x="667512" y="17741265"/>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NOC monitoring layers</a:t>
            </a:r>
            <a:endParaRPr lang="en-US" sz="2400" dirty="0"/>
          </a:p>
        </p:txBody>
      </p:sp>
      <p:sp>
        <p:nvSpPr>
          <p:cNvPr id="60" name="Text 48"/>
          <p:cNvSpPr txBox="1"/>
          <p:nvPr/>
        </p:nvSpPr>
        <p:spPr>
          <a:xfrm>
            <a:off x="667512" y="18216753"/>
            <a:ext cx="9208008" cy="384048"/>
          </a:xfrm>
          <a:prstGeom prst="rect">
            <a:avLst/>
          </a:prstGeom>
          <a:noFill/>
          <a:ln/>
        </p:spPr>
        <p:txBody>
          <a:bodyPr wrap="square" lIns="0" tIns="0" rIns="0" bIns="0" rtlCol="0" anchor="t"/>
          <a:lstStyle/>
          <a:p>
            <a:pPr indent="0" marL="0">
              <a:buNone/>
            </a:pPr>
            <a:r>
              <a:rPr lang="en-US" sz="1150" dirty="0">
                <a:solidFill>
                  <a:schemeClr val="tx2"/>
                </a:solidFill>
              </a:rPr>
              <a:t>Each layer and what is watched in it.</a:t>
            </a:r>
            <a:endParaRPr lang="en-US" sz="11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667512" y="18710529"/>
          <a:ext cx="15087600" cy="914400"/>
        </p:xfrm>
        <a:graphic>
          <a:graphicData uri="http://schemas.openxmlformats.org/drawingml/2006/table">
            <a:tbl>
              <a:tblPr/>
              <a:tblGrid>
                <a:gridCol w="2470441"/>
                <a:gridCol w="6737567"/>
              </a:tblGrid>
              <a:tr h="365760">
                <a:tc>
                  <a:txBody>
                    <a:bodyPr/>
                    <a:lstStyle/>
                    <a:p>
                      <a:pPr indent="0" marL="0">
                        <a:buNone/>
                      </a:pPr>
                      <a:r>
                        <a:rPr lang="en-US" sz="1200" b="1" dirty="0">
                          <a:solidFill>
                            <a:schemeClr val="bg1"/>
                          </a:solidFill>
                        </a:rPr>
                        <a:t>Layer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is monitored</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323088">
                <a:tc>
                  <a:txBody>
                    <a:bodyPr/>
                    <a:lstStyle/>
                    <a:p>
                      <a:pPr indent="0" marL="0">
                        <a:buNone/>
                      </a:pPr>
                      <a:r>
                        <a:rPr lang="en-US" sz="1200" b="1" dirty="0">
                          <a:solidFill>
                            <a:schemeClr val="tx1"/>
                          </a:solidFill>
                        </a:rPr>
                        <a:t>Service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Synthetic transactions, availability tests, service level reporting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Application delivery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Load balancers, application gateway, WAF, CDN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Perimeter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Firewalls, VPN gateways, DDoS protection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Core network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Routers, switches, WAN, SD-WAN, ExpressRoute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Cloud network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Virtual networks, peering, private endpoints, DNS zones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Network services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DNS, DHCP, NTP, certificates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Infrastructure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Compute, storage, hypervisors, backup jobs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Third party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Carriers, cloud provider health, SaaS status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62" name="Text 49"/>
          <p:cNvSpPr txBox="1"/>
          <p:nvPr/>
        </p:nvSpPr>
        <p:spPr>
          <a:xfrm>
            <a:off x="10241280" y="17503521"/>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3</a:t>
            </a:r>
            <a:endParaRPr lang="en-US" sz="1000" dirty="0"/>
          </a:p>
        </p:txBody>
      </p:sp>
      <p:sp>
        <p:nvSpPr>
          <p:cNvPr id="63" name="Text 50"/>
          <p:cNvSpPr txBox="1"/>
          <p:nvPr/>
        </p:nvSpPr>
        <p:spPr>
          <a:xfrm>
            <a:off x="10241280" y="17741265"/>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Priority and restoration targets</a:t>
            </a:r>
            <a:endParaRPr lang="en-US" sz="2400" dirty="0"/>
          </a:p>
        </p:txBody>
      </p:sp>
      <p:sp>
        <p:nvSpPr>
          <p:cNvPr id="64" name="Text 51"/>
          <p:cNvSpPr txBox="1"/>
          <p:nvPr/>
        </p:nvSpPr>
        <p:spPr>
          <a:xfrm>
            <a:off x="10241280" y="18216753"/>
            <a:ext cx="9208008" cy="384048"/>
          </a:xfrm>
          <a:prstGeom prst="rect">
            <a:avLst/>
          </a:prstGeom>
          <a:noFill/>
          <a:ln/>
        </p:spPr>
        <p:txBody>
          <a:bodyPr wrap="square" lIns="0" tIns="0" rIns="0" bIns="0" rtlCol="0" anchor="t"/>
          <a:lstStyle/>
          <a:p>
            <a:pPr indent="0" marL="0">
              <a:buNone/>
            </a:pPr>
            <a:r>
              <a:rPr lang="en-US" sz="1150" dirty="0">
                <a:solidFill>
                  <a:schemeClr val="tx2"/>
                </a:solidFill>
              </a:rPr>
              <a:t>Hybrid: rate by description or by numbers. Bracketed values are placeholders to set against your impact tolerances.</a:t>
            </a:r>
            <a:endParaRPr lang="en-US" sz="1150" dirty="0"/>
          </a:p>
        </p:txBody>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10241280" y="18710529"/>
          <a:ext cx="15087600" cy="914400"/>
        </p:xfrm>
        <a:graphic>
          <a:graphicData uri="http://schemas.openxmlformats.org/drawingml/2006/table">
            <a:tbl>
              <a:tblPr/>
              <a:tblGrid>
                <a:gridCol w="770903"/>
                <a:gridCol w="2484021"/>
                <a:gridCol w="2312709"/>
                <a:gridCol w="856559"/>
                <a:gridCol w="1070699"/>
                <a:gridCol w="1713118"/>
              </a:tblGrid>
              <a:tr h="509016">
                <a:tc>
                  <a:txBody>
                    <a:bodyPr/>
                    <a:lstStyle/>
                    <a:p>
                      <a:pPr indent="0" marL="0">
                        <a:buNone/>
                      </a:pPr>
                      <a:r>
                        <a:rPr lang="en-US" sz="1200" b="1" dirty="0">
                          <a:solidFill>
                            <a:schemeClr val="bg1"/>
                          </a:solidFill>
                        </a:rPr>
                        <a:t>Priority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Qualitative criteria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Quantitative trigger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Respond</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Restore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Escalate to</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694944">
                <a:tc>
                  <a:txBody>
                    <a:bodyPr/>
                    <a:lstStyle/>
                    <a:p>
                      <a:pPr indent="0" marL="0">
                        <a:buNone/>
                      </a:pPr>
                      <a:r>
                        <a:rPr lang="en-US" sz="1200" b="1" dirty="0">
                          <a:solidFill>
                            <a:schemeClr val="bg1"/>
                          </a:solidFill>
                        </a:rPr>
                        <a:t>P1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Critical or important function unavailable or severely degraded.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 X% of users] or downtime nearing the impact tolerance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[15 min]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[Within RTO]</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 manager, service owner, SOC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94944">
                <a:tc>
                  <a:txBody>
                    <a:bodyPr/>
                    <a:lstStyle/>
                    <a:p>
                      <a:pPr indent="0" marL="0">
                        <a:buNone/>
                      </a:pPr>
                      <a:r>
                        <a:rPr lang="en-US" sz="1200" b="1" dirty="0">
                          <a:solidFill>
                            <a:schemeClr val="tx1"/>
                          </a:solidFill>
                        </a:rPr>
                        <a:t>P2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Service degraded, or redundancy lost with no customer impact yet.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[X to Y% of users] or one resilient path down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[30 min]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 hours]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NOC lead, service owner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Single component fault with no service impact.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Below service thresholds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[4 hours]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[Next business day]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NOC engineer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rPr>
                        <a:t>Cosmetic issue or information request.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[1 day]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[Planned]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Queue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66" name="Text 52"/>
          <p:cNvSpPr txBox="1"/>
          <p:nvPr/>
        </p:nvSpPr>
        <p:spPr>
          <a:xfrm>
            <a:off x="667512" y="22438233"/>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4</a:t>
            </a:r>
            <a:endParaRPr lang="en-US" sz="1000" dirty="0"/>
          </a:p>
        </p:txBody>
      </p:sp>
      <p:sp>
        <p:nvSpPr>
          <p:cNvPr id="67" name="Text 53"/>
          <p:cNvSpPr txBox="1"/>
          <p:nvPr/>
        </p:nvSpPr>
        <p:spPr>
          <a:xfrm>
            <a:off x="667512" y="22675977"/>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NOC and SOC interface</a:t>
            </a:r>
            <a:endParaRPr lang="en-US" sz="2400" dirty="0"/>
          </a:p>
        </p:txBody>
      </p:sp>
      <p:sp>
        <p:nvSpPr>
          <p:cNvPr id="68" name="Text 54"/>
          <p:cNvSpPr txBox="1"/>
          <p:nvPr/>
        </p:nvSpPr>
        <p:spPr>
          <a:xfrm>
            <a:off x="667512" y="23151465"/>
            <a:ext cx="9208008" cy="384048"/>
          </a:xfrm>
          <a:prstGeom prst="rect">
            <a:avLst/>
          </a:prstGeom>
          <a:noFill/>
          <a:ln/>
        </p:spPr>
        <p:txBody>
          <a:bodyPr wrap="square" lIns="0" tIns="0" rIns="0" bIns="0" rtlCol="0" anchor="t"/>
          <a:lstStyle/>
          <a:p>
            <a:pPr indent="0" marL="0">
              <a:buNone/>
            </a:pPr>
            <a:r>
              <a:rPr lang="en-US" sz="1150" dirty="0">
                <a:solidFill>
                  <a:schemeClr val="tx2"/>
                </a:solidFill>
              </a:rPr>
              <a:t>Who leads, who supports, and what triggers the hand-off.</a:t>
            </a:r>
            <a:endParaRPr lang="en-US" sz="1150" dirty="0"/>
          </a:p>
        </p:txBody>
      </p:sp>
      <p:graphicFrame>
        <p:nvGraphicFramePr>
          <p:cNvPr id="5" name="Table 3"/>
          <p:cNvGraphicFramePr>
            <a:graphicFrameLocks noGrp="1"/>
          </p:cNvGraphicFramePr>
          <p:nvPr>
            <p:extLst>
              <p:ext uri="{D42A27DB-BD31-4B8C-83A1-F6EECF244321}">
                <p14:modId xmlns:p14="http://schemas.microsoft.com/office/powerpoint/2010/main" val="1579011935"/>
              </p:ext>
            </p:extLst>
          </p:nvPr>
        </p:nvGraphicFramePr>
        <p:xfrm>
          <a:off x="667512" y="23645241"/>
          <a:ext cx="15087600" cy="914400"/>
        </p:xfrm>
        <a:graphic>
          <a:graphicData uri="http://schemas.openxmlformats.org/drawingml/2006/table">
            <a:tbl>
              <a:tblPr/>
              <a:tblGrid>
                <a:gridCol w="2005705"/>
                <a:gridCol w="2735052"/>
                <a:gridCol w="2735052"/>
                <a:gridCol w="1732200"/>
              </a:tblGrid>
              <a:tr h="365760">
                <a:tc>
                  <a:txBody>
                    <a:bodyPr/>
                    <a:lstStyle/>
                    <a:p>
                      <a:pPr indent="0" marL="0">
                        <a:buNone/>
                      </a:pPr>
                      <a:r>
                        <a:rPr lang="en-US" sz="1200" b="1" dirty="0">
                          <a:solidFill>
                            <a:schemeClr val="bg1"/>
                          </a:solidFill>
                        </a:rPr>
                        <a:t>Situation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NOC does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SOC does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Hand-off trigger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Service degraded, cause unknown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Leads restoration. Owns the ticket.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Checks the SIEM for attack indicators.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NOC opens a P1 or P2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DDoS or traffic flood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Activates mitigation and reroutes traffic.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Investigates the actor and any parallel intrusion.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Volumetric alert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Malware on a server or network device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Isolates the segment or port on request.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Leads the incident. Decides containment.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SOC severity High or above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Firewall or network change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Implements through change control.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Reviews the security risk of the rule.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Change request raised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Log source stops sending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Restores the device, agent or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Flags the detection gap.</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Health alert in the SIEM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Major incident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Reports downtime and service impact.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Runs classification and regulatory reporting.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 manager declares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70" name="Text 55"/>
          <p:cNvSpPr txBox="1"/>
          <p:nvPr/>
        </p:nvSpPr>
        <p:spPr>
          <a:xfrm>
            <a:off x="10241280" y="22438233"/>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5</a:t>
            </a:r>
            <a:endParaRPr lang="en-US" sz="1000" dirty="0"/>
          </a:p>
        </p:txBody>
      </p:sp>
      <p:sp>
        <p:nvSpPr>
          <p:cNvPr id="71" name="Text 56"/>
          <p:cNvSpPr txBox="1"/>
          <p:nvPr/>
        </p:nvSpPr>
        <p:spPr>
          <a:xfrm>
            <a:off x="10241280" y="22675977"/>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KPIs for the management body</a:t>
            </a:r>
            <a:endParaRPr lang="en-US" sz="2400" dirty="0"/>
          </a:p>
        </p:txBody>
      </p:sp>
      <p:sp>
        <p:nvSpPr>
          <p:cNvPr id="72" name="Text 57"/>
          <p:cNvSpPr txBox="1"/>
          <p:nvPr/>
        </p:nvSpPr>
        <p:spPr>
          <a:xfrm>
            <a:off x="10241280" y="23151465"/>
            <a:ext cx="9208008" cy="384048"/>
          </a:xfrm>
          <a:prstGeom prst="rect">
            <a:avLst/>
          </a:prstGeom>
          <a:noFill/>
          <a:ln/>
        </p:spPr>
        <p:txBody>
          <a:bodyPr wrap="square" lIns="0" tIns="0" rIns="0" bIns="0" rtlCol="0" anchor="t"/>
          <a:lstStyle/>
          <a:p>
            <a:pPr indent="0" marL="0">
              <a:buNone/>
            </a:pPr>
            <a:r>
              <a:rPr lang="en-US" sz="1150" dirty="0">
                <a:solidFill>
                  <a:schemeClr val="tx2"/>
                </a:solidFill>
              </a:rPr>
              <a:t>Targets are placeholders. Each metric names where the evidence comes from.</a:t>
            </a:r>
            <a:endParaRPr lang="en-US" sz="1150" dirty="0"/>
          </a:p>
        </p:txBody>
      </p:sp>
      <p:graphicFrame>
        <p:nvGraphicFramePr>
          <p:cNvPr id="6" name="Table 4"/>
          <p:cNvGraphicFramePr>
            <a:graphicFrameLocks noGrp="1"/>
          </p:cNvGraphicFramePr>
          <p:nvPr>
            <p:extLst>
              <p:ext uri="{D42A27DB-BD31-4B8C-83A1-F6EECF244321}">
                <p14:modId xmlns:p14="http://schemas.microsoft.com/office/powerpoint/2010/main" val="1579011935"/>
              </p:ext>
            </p:extLst>
          </p:nvPr>
        </p:nvGraphicFramePr>
        <p:xfrm>
          <a:off x="10241280" y="23645241"/>
          <a:ext cx="15087600" cy="914400"/>
        </p:xfrm>
        <a:graphic>
          <a:graphicData uri="http://schemas.openxmlformats.org/drawingml/2006/table">
            <a:tbl>
              <a:tblPr/>
              <a:tblGrid>
                <a:gridCol w="2025762"/>
                <a:gridCol w="3314883"/>
                <a:gridCol w="920801"/>
                <a:gridCol w="2946563"/>
              </a:tblGrid>
              <a:tr h="365760">
                <a:tc>
                  <a:txBody>
                    <a:bodyPr/>
                    <a:lstStyle/>
                    <a:p>
                      <a:pPr indent="0" marL="0">
                        <a:buNone/>
                      </a:pPr>
                      <a:r>
                        <a:rPr lang="en-US" sz="1200" b="1" dirty="0">
                          <a:solidFill>
                            <a:schemeClr val="bg1"/>
                          </a:solidFill>
                        </a:rPr>
                        <a:t>Metric</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shows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Target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Evidence source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Service availability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Uptime of each critical or important function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 %]</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Availability tests, service level report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Mean time to acknowledge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Queue health and staffing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Ticket timestamps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Mean time to restore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Restoration effectiveness against RTO</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 tickets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Detected by 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incidents the NOC finds before users report them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Ticket source field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Change success rate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changes with no incident or rollback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Change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Capacity headroom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Spare capacity on critical links and gateways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Capacity report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Failover tests passed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Resilience of redundant paths and sites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Test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Monitoring coverage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critical components with an alert and a runbook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CMDB against the monitoring inventory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74" name="Text 58"/>
          <p:cNvSpPr txBox="1"/>
          <p:nvPr/>
        </p:nvSpPr>
        <p:spPr>
          <a:xfrm>
            <a:off x="667512" y="28488513"/>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6</a:t>
            </a:r>
            <a:endParaRPr lang="en-US" sz="1000" dirty="0"/>
          </a:p>
        </p:txBody>
      </p:sp>
      <p:sp>
        <p:nvSpPr>
          <p:cNvPr id="75" name="Text 59"/>
          <p:cNvSpPr txBox="1"/>
          <p:nvPr/>
        </p:nvSpPr>
        <p:spPr>
          <a:xfrm>
            <a:off x="667512" y="28726257"/>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Tooling alignment: Microsoft, QRadar and Sentinel</a:t>
            </a:r>
            <a:endParaRPr lang="en-US" sz="2800" dirty="0"/>
          </a:p>
        </p:txBody>
      </p:sp>
      <p:sp>
        <p:nvSpPr>
          <p:cNvPr id="76" name="Text 60"/>
          <p:cNvSpPr txBox="1"/>
          <p:nvPr/>
        </p:nvSpPr>
        <p:spPr>
          <a:xfrm>
            <a:off x="10671048" y="28506801"/>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Operational telemetry stays in Microsoft tooling. The SIEM gets the security-relevant share, in QRadar today and in the same shape for Microsoft Sentinel.</a:t>
            </a:r>
            <a:endParaRPr lang="en-US" sz="1200" dirty="0"/>
          </a:p>
        </p:txBody>
      </p:sp>
      <p:graphicFrame>
        <p:nvGraphicFramePr>
          <p:cNvPr id="7" name="Table 5"/>
          <p:cNvGraphicFramePr>
            <a:graphicFrameLocks noGrp="1"/>
          </p:cNvGraphicFramePr>
          <p:nvPr>
            <p:extLst>
              <p:ext uri="{D42A27DB-BD31-4B8C-83A1-F6EECF244321}">
                <p14:modId xmlns:p14="http://schemas.microsoft.com/office/powerpoint/2010/main" val="1579011935"/>
              </p:ext>
            </p:extLst>
          </p:nvPr>
        </p:nvGraphicFramePr>
        <p:xfrm>
          <a:off x="667512" y="29402913"/>
          <a:ext cx="15087600" cy="914400"/>
        </p:xfrm>
        <a:graphic>
          <a:graphicData uri="http://schemas.openxmlformats.org/drawingml/2006/table">
            <a:tbl>
              <a:tblPr/>
              <a:tblGrid>
                <a:gridCol w="3238237"/>
                <a:gridCol w="5181180"/>
                <a:gridCol w="4857356"/>
                <a:gridCol w="5505003"/>
              </a:tblGrid>
              <a:tr h="365760">
                <a:tc>
                  <a:txBody>
                    <a:bodyPr/>
                    <a:lstStyle/>
                    <a:p>
                      <a:pPr indent="0" marL="0">
                        <a:buNone/>
                      </a:pPr>
                      <a:r>
                        <a:rPr lang="en-US" sz="1200" b="1" dirty="0">
                          <a:solidFill>
                            <a:schemeClr val="bg1"/>
                          </a:solidFill>
                        </a:rPr>
                        <a:t>Capability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Microsoft operations tooling</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IBM QRadar, in use today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Microsoft Sentinel, alignment target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323088">
                <a:tc>
                  <a:txBody>
                    <a:bodyPr/>
                    <a:lstStyle/>
                    <a:p>
                      <a:pPr indent="0" marL="0">
                        <a:buNone/>
                      </a:pPr>
                      <a:r>
                        <a:rPr lang="en-US" sz="1200" b="1" dirty="0">
                          <a:solidFill>
                            <a:schemeClr val="tx1"/>
                          </a:solidFill>
                        </a:rPr>
                        <a:t>Availability and performance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Monitor metrics and alerts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Device health from syslog only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Monitor data in the same Log Analytics workspace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Connectivity probes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Network Watcher Connection Monitor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Probe results queried in KQL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Flow visibility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Virtual network flow logs, Traffic Analytics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QFlow, QRadar Network Insights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Flow logs ingested, ASIM network session schema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Device logs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Syslog and CEF through Azure Monitor Agent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Log sources with DSMs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Syslog and CEF connectors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DDoS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DDoS Protection telemetry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Flow anomaly rules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DDoS Protection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Firewall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Firewall logs and metrics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Firewall DSMs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Firewall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Provider health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Service Health, Resource Health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Activity log through Event Hubs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Activity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Change tracking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Activity log, Change Analysis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Configuration change log sources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Activity connector, analytics rules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Alert routing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Action groups to the ITSM tool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Offense forwarding to the ITSM tool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Automation rules and playbooks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Dashboards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Azure Monitor workbooks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Pulse dashboards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Workbooks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78" name="Text 61"/>
          <p:cNvSpPr txBox="1"/>
          <p:nvPr/>
        </p:nvSpPr>
        <p:spPr>
          <a:xfrm>
            <a:off x="667512" y="33776793"/>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7</a:t>
            </a:r>
            <a:endParaRPr lang="en-US" sz="1000" dirty="0"/>
          </a:p>
        </p:txBody>
      </p:sp>
      <p:sp>
        <p:nvSpPr>
          <p:cNvPr id="79" name="Text 62"/>
          <p:cNvSpPr txBox="1"/>
          <p:nvPr/>
        </p:nvSpPr>
        <p:spPr>
          <a:xfrm>
            <a:off x="667512" y="34014537"/>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Control framework cross-mapping</a:t>
            </a:r>
            <a:endParaRPr lang="en-US" sz="2800" dirty="0"/>
          </a:p>
        </p:txBody>
      </p:sp>
      <p:sp>
        <p:nvSpPr>
          <p:cNvPr id="80" name="Text 63"/>
          <p:cNvSpPr txBox="1"/>
          <p:nvPr/>
        </p:nvSpPr>
        <p:spPr>
          <a:xfrm>
            <a:off x="10671048" y="33795081"/>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NOC functions against the same framework set. The CRA, the EU AI Act and ISO/IEC 42001 apply only where the entity makes or uses in-scope products and AI systems. A dash means no direct requirement.</a:t>
            </a:r>
            <a:endParaRPr lang="en-US" sz="1200" dirty="0"/>
          </a:p>
        </p:txBody>
      </p:sp>
      <p:graphicFrame>
        <p:nvGraphicFramePr>
          <p:cNvPr id="8" name="Table 6"/>
          <p:cNvGraphicFramePr>
            <a:graphicFrameLocks noGrp="1"/>
          </p:cNvGraphicFramePr>
          <p:nvPr>
            <p:extLst>
              <p:ext uri="{D42A27DB-BD31-4B8C-83A1-F6EECF244321}">
                <p14:modId xmlns:p14="http://schemas.microsoft.com/office/powerpoint/2010/main" val="1579011935"/>
              </p:ext>
            </p:extLst>
          </p:nvPr>
        </p:nvGraphicFramePr>
        <p:xfrm>
          <a:off x="667512" y="34691193"/>
          <a:ext cx="15087600" cy="914400"/>
        </p:xfrm>
        <a:graphic>
          <a:graphicData uri="http://schemas.openxmlformats.org/drawingml/2006/table">
            <a:tbl>
              <a:tblPr/>
              <a:tblGrid>
                <a:gridCol w="2832173"/>
                <a:gridCol w="1714210"/>
                <a:gridCol w="2086864"/>
                <a:gridCol w="2683111"/>
                <a:gridCol w="1788741"/>
                <a:gridCol w="1937802"/>
                <a:gridCol w="2161395"/>
                <a:gridCol w="1639679"/>
                <a:gridCol w="1937802"/>
              </a:tblGrid>
              <a:tr h="694944">
                <a:tc>
                  <a:txBody>
                    <a:bodyPr/>
                    <a:lstStyle/>
                    <a:p>
                      <a:pPr indent="0" marL="0">
                        <a:buNone/>
                      </a:pPr>
                      <a:r>
                        <a:rPr lang="en-US" sz="1200" b="1" dirty="0">
                          <a:solidFill>
                            <a:schemeClr val="bg1"/>
                          </a:solidFill>
                        </a:rPr>
                        <a:t>Function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NIST CSF 2.0</a:t>
                      </a:r>
                      <a:endParaRPr lang="en-US" sz="1200" dirty="0"/>
                    </a:p>
                    <a:p>
                      <a:pPr indent="0" marL="0">
                        <a:buNone/>
                      </a:pPr>
                      <a:r>
                        <a:rPr lang="en-US" sz="1050" b="1" dirty="0">
                          <a:solidFill>
                            <a:schemeClr val="bg1"/>
                          </a:solidFill>
                        </a:rPr>
                        <a:t>Categories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27001:2022</a:t>
                      </a:r>
                      <a:endParaRPr lang="en-US" sz="1200" dirty="0"/>
                    </a:p>
                    <a:p>
                      <a:pPr indent="0" marL="0">
                        <a:buNone/>
                      </a:pPr>
                      <a:r>
                        <a:rPr lang="en-US" sz="1050" b="1" dirty="0">
                          <a:solidFill>
                            <a:schemeClr val="bg1"/>
                          </a:solidFill>
                        </a:rPr>
                        <a:t>Annex 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DORA · Driver</a:t>
                      </a:r>
                      <a:endParaRPr lang="en-US" sz="1200" dirty="0"/>
                    </a:p>
                    <a:p>
                      <a:pPr indent="0" marL="0">
                        <a:buNone/>
                      </a:pPr>
                      <a:r>
                        <a:rPr lang="en-US" sz="1050" b="1" dirty="0">
                          <a:solidFill>
                            <a:schemeClr val="bg1"/>
                          </a:solidFill>
                        </a:rPr>
                        <a:t>Reg. (EU) 2022/2554</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GDPR</a:t>
                      </a:r>
                      <a:endParaRPr lang="en-US" sz="1200" dirty="0"/>
                    </a:p>
                    <a:p>
                      <a:pPr indent="0" marL="0">
                        <a:buNone/>
                      </a:pPr>
                      <a:r>
                        <a:rPr lang="en-US" sz="1050" b="1" dirty="0">
                          <a:solidFill>
                            <a:schemeClr val="bg1"/>
                          </a:solidFill>
                        </a:rPr>
                        <a:t>Reg. (EU) 2016/679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CIS IG3 · Baseline</a:t>
                      </a:r>
                      <a:endParaRPr lang="en-US" sz="1200" dirty="0"/>
                    </a:p>
                    <a:p>
                      <a:pPr indent="0" marL="0">
                        <a:buNone/>
                      </a:pPr>
                      <a:r>
                        <a:rPr lang="en-US" sz="1050" b="1" dirty="0">
                          <a:solidFill>
                            <a:schemeClr val="bg1"/>
                          </a:solidFill>
                        </a:rPr>
                        <a:t>CIS Controls v8.1</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CRA</a:t>
                      </a:r>
                      <a:endParaRPr lang="en-US" sz="1200" dirty="0"/>
                    </a:p>
                    <a:p>
                      <a:pPr indent="0" marL="0">
                        <a:buNone/>
                      </a:pPr>
                      <a:r>
                        <a:rPr lang="en-US" sz="1050" b="1" dirty="0">
                          <a:solidFill>
                            <a:schemeClr val="bg1"/>
                          </a:solidFill>
                        </a:rPr>
                        <a:t>Reg. (EU) 2024/2847</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EU AI Act</a:t>
                      </a:r>
                      <a:endParaRPr lang="en-US" sz="1200" dirty="0"/>
                    </a:p>
                    <a:p>
                      <a:pPr indent="0" marL="0">
                        <a:buNone/>
                      </a:pPr>
                      <a:r>
                        <a:rPr lang="en-US" sz="1050" b="1" dirty="0">
                          <a:solidFill>
                            <a:schemeClr val="bg1"/>
                          </a:solidFill>
                        </a:rPr>
                        <a:t>Reg. (EU) 2024/1689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42001:2023</a:t>
                      </a:r>
                      <a:endParaRPr lang="en-US" sz="1200" dirty="0"/>
                    </a:p>
                    <a:p>
                      <a:pPr indent="0" marL="0">
                        <a:buNone/>
                      </a:pPr>
                      <a:r>
                        <a:rPr lang="en-US" sz="1050" b="1" dirty="0">
                          <a:solidFill>
                            <a:schemeClr val="bg1"/>
                          </a:solidFill>
                        </a:rPr>
                        <a:t>AI management system</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323088">
                <a:tc>
                  <a:txBody>
                    <a:bodyPr/>
                    <a:lstStyle/>
                    <a:p>
                      <a:pPr indent="0" marL="0">
                        <a:buNone/>
                      </a:pPr>
                      <a:r>
                        <a:rPr lang="en-US" sz="1200" b="1" dirty="0">
                          <a:solidFill>
                            <a:schemeClr val="tx1"/>
                          </a:solidFill>
                        </a:rPr>
                        <a:t>Network and asset inventory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ID.AM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 12.4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A.4.5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Network architecture and segmentation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PR.IR-01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A.8.20, A.8.22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9(4)(b), RTS 2024/1774 Art. 13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12, 13.4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attack surface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Via ISO/IEC 27001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Availability and performance 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DE.CM-01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A.8.16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32(1)(b)</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13.6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availability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Capacity management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PR.IR-04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7, RTS 2024/1774 Art. 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32(1)(b)</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 dedicated safeguard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A.4.5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Change and configuration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PR.PS-01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A.8.9, A.8.32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9(4)(e), RTS 2024/1774 Art. 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4.2, 12.1, 12.3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secure by default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Incident and major incident management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RS.MA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A.5.24 to A.5.26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17, 18, 19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73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Continuity, failover and recovery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PR.IR-03, RC.RP</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A.5.29, A.5.30, A.8.14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11, Art. 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availability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Via ISO/IEC 27001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Logging to the SIEM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DE.CM, PR.PS-04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A.8.15, A.8.17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10, RTS 2024/1774 Art. 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8, 13.6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Carriers and cloud providers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A.5.19 to A.5.23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 29, 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Resilience testing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ID.IM-02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24, 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11.5, 18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 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82" name="Shape 64"/>
          <p:cNvSpPr/>
          <p:nvPr/>
        </p:nvSpPr>
        <p:spPr>
          <a:xfrm>
            <a:off x="667512" y="40558593"/>
            <a:ext cx="18781776" cy="0"/>
          </a:xfrm>
          <a:prstGeom prst="line">
            <a:avLst/>
          </a:prstGeom>
          <a:noFill/>
          <a:ln w="19050">
            <a:solidFill>
              <a:schemeClr val="tx1"/>
            </a:solidFill>
            <a:prstDash val="solid"/>
          </a:ln>
        </p:spPr>
      </p:sp>
      <p:sp>
        <p:nvSpPr>
          <p:cNvPr id="83" name="Text 65"/>
          <p:cNvSpPr txBox="1"/>
          <p:nvPr/>
        </p:nvSpPr>
        <p:spPr>
          <a:xfrm>
            <a:off x="667512" y="40741473"/>
            <a:ext cx="10515600" cy="594360"/>
          </a:xfrm>
          <a:prstGeom prst="rect">
            <a:avLst/>
          </a:prstGeom>
          <a:noFill/>
          <a:ln/>
        </p:spPr>
        <p:txBody>
          <a:bodyPr wrap="square" lIns="0" tIns="0" rIns="0" bIns="0" rtlCol="0" anchor="t"/>
          <a:lstStyle/>
          <a:p>
            <a:pPr indent="0" marL="0">
              <a:buNone/>
            </a:pPr>
            <a:r>
              <a:rPr lang="en-US" sz="1100" dirty="0">
                <a:solidFill>
                  <a:schemeClr val="tx2"/>
                </a:solidFill>
              </a:rPr>
              <a:t>Illustrative template. Targets, thresholds and products are examples, so replace them with your own service levels and risk appetite. Article, safeguard and technique numbers are pointers. Check them against the official texts before using them in an audit.</a:t>
            </a:r>
            <a:endParaRPr lang="en-US" sz="1100" dirty="0"/>
          </a:p>
        </p:txBody>
      </p:sp>
      <p:sp>
        <p:nvSpPr>
          <p:cNvPr id="84" name="Text 66"/>
          <p:cNvSpPr txBox="1"/>
          <p:nvPr/>
        </p:nvSpPr>
        <p:spPr>
          <a:xfrm>
            <a:off x="13048488" y="40741473"/>
            <a:ext cx="6400800" cy="594360"/>
          </a:xfrm>
          <a:prstGeom prst="rect">
            <a:avLst/>
          </a:prstGeom>
          <a:noFill/>
          <a:ln/>
        </p:spPr>
        <p:txBody>
          <a:bodyPr wrap="square" lIns="0" tIns="0" rIns="0" bIns="0" rtlCol="0" anchor="t"/>
          <a:lstStyle/>
          <a:p>
            <a:pPr algn="r" indent="0" marL="0">
              <a:buNone/>
            </a:pPr>
            <a:r>
              <a:rPr lang="en-US" sz="1100" b="1" dirty="0">
                <a:solidFill>
                  <a:schemeClr val="tx1"/>
                </a:solidFill>
              </a:rPr>
              <a:t>RTO </a:t>
            </a:r>
            <a:pPr algn="r" indent="0" marL="0">
              <a:buNone/>
            </a:pPr>
            <a:r>
              <a:rPr lang="en-US" sz="1100" dirty="0">
                <a:solidFill>
                  <a:schemeClr val="tx2"/>
                </a:solidFill>
              </a:rPr>
              <a:t>Recovery time objective</a:t>
            </a:r>
            <a:endParaRPr lang="en-US" sz="1100" dirty="0"/>
          </a:p>
          <a:p>
            <a:pPr algn="r" indent="0" marL="0">
              <a:buNone/>
            </a:pPr>
            <a:r>
              <a:rPr lang="en-US" sz="1100" b="1" dirty="0">
                <a:solidFill>
                  <a:schemeClr val="tx1"/>
                </a:solidFill>
              </a:rPr>
              <a:t>P1 to P4 </a:t>
            </a:r>
            <a:pPr algn="r" indent="0" marL="0">
              <a:buNone/>
            </a:pPr>
            <a:r>
              <a:rPr lang="en-US" sz="1100" dirty="0">
                <a:solidFill>
                  <a:schemeClr val="tx2"/>
                </a:solidFill>
              </a:rPr>
              <a:t>Incident priority, highest first</a:t>
            </a:r>
            <a:endParaRPr lang="en-US" sz="1100" dirty="0"/>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NOC Operating Model</dc:title>
  <dc:subject>NOC Operating Model</dc:subject>
  <dc:creator>Security Architecture</dc:creator>
  <cp:lastModifiedBy>Security Architecture</cp:lastModifiedBy>
  <cp:revision>1</cp:revision>
  <dcterms:created xsi:type="dcterms:W3CDTF">2026-10-04T19:50:57Z</dcterms:created>
  <dcterms:modified xsi:type="dcterms:W3CDTF">2026-10-04T19:50:57Z</dcterms:modified>
</cp:coreProperties>
</file>