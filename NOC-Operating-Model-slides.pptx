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63c0c050-be49-e832-bf65-7545973c693a}">
          <p14:sldIdLst>
            <p14:sldId id="256"/>
            <p14:sldId id="257"/>
            <p14:sldId id="258"/>
          </p14:sldIdLst>
        </p14:section>
        <p14:section name="Tables" id="{e21d75e9-4342-f38b-53db-1eef38f86914}">
          <p14:sldIdLst>
            <p14:sldId id="259"/>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row per failure scenario. Each row links a business service to its telemetry, its alert, its runbook and the evidence an auditor will ask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row per failure scenario. Each row links a business service to its telemetry, its alert, its runbook and the evidence an auditor will ask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NOC functions against the same framework set. The CRA, the EU AI Act and ISO/IEC 42001 apply only where the entity makes or uses in-scope products and AI systems. A dash means no direct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E1C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463040"/>
            <a:ext cx="11277295" cy="201168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EEF1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txBox="1"/>
          <p:nvPr/>
        </p:nvSpPr>
        <p:spPr>
          <a:xfrm>
            <a:off x="457200" y="6446520"/>
            <a:ext cx="8229600" cy="256032"/>
          </a:xfrm>
          <a:prstGeom prst="rect">
            <a:avLst/>
          </a:prstGeom>
          <a:noFill/>
          <a:ln/>
        </p:spPr>
        <p:txBody>
          <a:bodyPr wrap="square" lIns="0" tIns="0" rIns="0" bIns="0" rtlCol="0" anchor="ctr"/>
          <a:lstStyle/>
          <a:p>
            <a:pPr indent="0" marL="0">
              <a:buNone/>
            </a:pPr>
            <a:r>
              <a:rPr lang="en-US" sz="900" dirty="0">
                <a:solidFill>
                  <a:schemeClr val="tx2"/>
                </a:solidFill>
              </a:rPr>
              <a:t>NOC operating model · DORA · CIS Controls IG3</a:t>
            </a:r>
            <a:endParaRPr lang="en-US" sz="9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3.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60120"/>
            <a:ext cx="11277295" cy="320040"/>
          </a:xfrm>
          <a:prstGeom prst="rect">
            <a:avLst/>
          </a:prstGeom>
          <a:noFill/>
          <a:ln/>
        </p:spPr>
        <p:txBody>
          <a:bodyPr wrap="square" lIns="0" tIns="0" rIns="0" bIns="0" rtlCol="0" anchor="t"/>
          <a:lstStyle/>
          <a:p>
            <a:pPr indent="0" marL="0">
              <a:buNone/>
            </a:pPr>
            <a:r>
              <a:rPr lang="en-US" sz="1200" spc="300" kern="0" dirty="0">
                <a:solidFill>
                  <a:srgbClr val="9FB0BF"/>
                </a:solidFill>
              </a:rPr>
              <a:t>NETWORK OPERATIONS CENTRE · OPERATING MODEL TEMPLATE</a:t>
            </a:r>
            <a:endParaRPr lang="en-US" sz="1200" dirty="0"/>
          </a:p>
        </p:txBody>
      </p:sp>
      <p:sp>
        <p:nvSpPr>
          <p:cNvPr id="3" name="Text 0"/>
          <p:cNvSpPr/>
          <p:nvPr>
            <p:ph idx="100" type="title" hasCustomPrompt="1"/>
          </p:nvPr>
        </p:nvSpPr>
        <p:spPr>
          <a:xfrm>
            <a:off x="457200" y="1463040"/>
            <a:ext cx="11277295" cy="2011680"/>
          </a:xfrm>
          <a:prstGeom prst="rect">
            <a:avLst/>
          </a:prstGeom>
          <a:noFill/>
          <a:ln/>
        </p:spPr>
        <p:txBody>
          <a:bodyPr wrap="square" lIns="0" tIns="0" rIns="0" bIns="0" rtlCol="0" anchor="t"/>
          <a:lstStyle/>
          <a:p>
            <a:pPr algn="l" indent="0" marL="0">
              <a:buNone/>
            </a:pPr>
            <a:r>
              <a:rPr lang="en-US" sz="4200" b="1" dirty="0">
                <a:solidFill>
                  <a:srgbClr val="FF9A5C"/>
                </a:solidFill>
              </a:rPr>
              <a:t>Monitor</a:t>
            </a:r>
            <a:pPr algn="l" indent="0" marL="0">
              <a:buNone/>
            </a:pPr>
            <a:r>
              <a:rPr lang="en-US" sz="4200" b="1" dirty="0">
                <a:solidFill>
                  <a:srgbClr val="5D7183"/>
                </a:solidFill>
              </a:rPr>
              <a:t>  ›  </a:t>
            </a:r>
            <a:pPr algn="l" indent="0" marL="0">
              <a:buNone/>
            </a:pPr>
            <a:r>
              <a:rPr lang="en-US" sz="4200" b="1" dirty="0">
                <a:solidFill>
                  <a:srgbClr val="FF9A5C"/>
                </a:solidFill>
              </a:rPr>
              <a:t>Detect</a:t>
            </a:r>
            <a:pPr algn="l" indent="0" marL="0">
              <a:buNone/>
            </a:pPr>
            <a:r>
              <a:rPr lang="en-US" sz="4200" b="1" dirty="0">
                <a:solidFill>
                  <a:srgbClr val="5D7183"/>
                </a:solidFill>
              </a:rPr>
              <a:t>  ›  </a:t>
            </a:r>
            <a:pPr algn="l" indent="0" marL="0">
              <a:buNone/>
            </a:pPr>
            <a:r>
              <a:rPr lang="en-US" sz="4200" b="1" dirty="0">
                <a:solidFill>
                  <a:srgbClr val="6CCBDF"/>
                </a:solidFill>
              </a:rPr>
              <a:t>Restore</a:t>
            </a:r>
            <a:pPr algn="l" indent="0" marL="0">
              <a:buNone/>
            </a:pPr>
            <a:r>
              <a:rPr lang="en-US" sz="4200" b="1" dirty="0">
                <a:solidFill>
                  <a:srgbClr val="5D7183"/>
                </a:solidFill>
              </a:rPr>
              <a:t>  ›  </a:t>
            </a:r>
            <a:pPr algn="l" indent="0" marL="0">
              <a:buNone/>
            </a:pPr>
            <a:r>
              <a:rPr lang="en-US" sz="4200" b="1" dirty="0">
                <a:solidFill>
                  <a:srgbClr val="6CCBDF"/>
                </a:solidFill>
              </a:rPr>
              <a:t>Improve</a:t>
            </a:r>
            <a:endParaRPr lang="en-US" sz="4200" dirty="0"/>
          </a:p>
          <a:p>
            <a:pPr algn="l" indent="0" marL="0">
              <a:buNone/>
            </a:pPr>
            <a:r>
              <a:rPr lang="en-US" sz="4200" b="1" dirty="0">
                <a:solidFill>
                  <a:schemeClr val="bg1"/>
                </a:solidFill>
              </a:rPr>
              <a:t>NOC Operating Model</a:t>
            </a:r>
            <a:endParaRPr lang="en-US" sz="4200" dirty="0"/>
          </a:p>
        </p:txBody>
      </p:sp>
      <p:sp>
        <p:nvSpPr>
          <p:cNvPr id="4" name="Text 2"/>
          <p:cNvSpPr txBox="1"/>
          <p:nvPr/>
        </p:nvSpPr>
        <p:spPr>
          <a:xfrm>
            <a:off x="457200" y="3840480"/>
            <a:ext cx="5120640" cy="2011680"/>
          </a:xfrm>
          <a:prstGeom prst="rect">
            <a:avLst/>
          </a:prstGeom>
          <a:noFill/>
          <a:ln/>
        </p:spPr>
        <p:txBody>
          <a:bodyPr wrap="square" lIns="0" tIns="0" rIns="0" bIns="0" rtlCol="0" anchor="t"/>
          <a:lstStyle/>
          <a:p>
            <a:pPr indent="0" marL="0">
              <a:lnSpc>
                <a:spcPct val="115000"/>
              </a:lnSpc>
              <a:buNone/>
            </a:pPr>
            <a:r>
              <a:rPr lang="en-US" sz="1400" dirty="0">
                <a:solidFill>
                  <a:srgbClr val="C9D5DF"/>
                </a:solidFill>
              </a:rPr>
              <a:t>One line of sight from the business service to the component that carries it, the event that degrades it and the action that restores it. Built to demonstrate DORA operational resilience, with CIS Controls Implementation Group 3 as the control baseline and network telemetry shared with IBM QRadar and Microsoft Sentinel.</a:t>
            </a:r>
            <a:endParaRPr lang="en-US" sz="1400" dirty="0"/>
          </a:p>
        </p:txBody>
      </p:sp>
      <p:sp>
        <p:nvSpPr>
          <p:cNvPr id="5" name="Shape 3"/>
          <p:cNvSpPr/>
          <p:nvPr/>
        </p:nvSpPr>
        <p:spPr>
          <a:xfrm>
            <a:off x="5943600" y="3840480"/>
            <a:ext cx="1828800" cy="1828800"/>
          </a:xfrm>
          <a:prstGeom prst="rect">
            <a:avLst/>
          </a:prstGeom>
          <a:ln w="12700">
            <a:solidFill>
              <a:srgbClr val="3A4F62"/>
            </a:solidFill>
            <a:prstDash val="solid"/>
          </a:ln>
        </p:spPr>
      </p:sp>
      <p:sp>
        <p:nvSpPr>
          <p:cNvPr id="6" name="Text 4"/>
          <p:cNvSpPr txBox="1"/>
          <p:nvPr/>
        </p:nvSpPr>
        <p:spPr>
          <a:xfrm>
            <a:off x="6071616" y="3931920"/>
            <a:ext cx="1572768" cy="1645920"/>
          </a:xfrm>
          <a:prstGeom prst="rect">
            <a:avLst/>
          </a:prstGeom>
          <a:noFill/>
          <a:ln/>
        </p:spPr>
        <p:txBody>
          <a:bodyPr wrap="square" lIns="0" tIns="0" rIns="0" bIns="0" rtlCol="0" anchor="ctr"/>
          <a:lstStyle/>
          <a:p>
            <a:pPr indent="0" marL="0">
              <a:spcAft>
                <a:spcPts val="500"/>
              </a:spcAft>
              <a:buNone/>
            </a:pPr>
            <a:r>
              <a:rPr lang="en-US" sz="900" spc="200" kern="0" dirty="0">
                <a:solidFill>
                  <a:srgbClr val="9FB0BF"/>
                </a:solidFill>
              </a:rPr>
              <a:t>REGULATORY DRIVER</a:t>
            </a:r>
            <a:endParaRPr lang="en-US" sz="900" dirty="0"/>
          </a:p>
          <a:p>
            <a:pPr indent="0" marL="0">
              <a:spcAft>
                <a:spcPts val="500"/>
              </a:spcAft>
              <a:buNone/>
            </a:pPr>
            <a:r>
              <a:rPr lang="en-US" sz="1500" b="1" dirty="0">
                <a:solidFill>
                  <a:schemeClr val="bg1"/>
                </a:solidFill>
                <a:latin typeface="+mj-lt" pitchFamily="34" charset="0"/>
                <a:ea typeface="+mj-lt" pitchFamily="34" charset="-122"/>
                <a:cs typeface="+mj-lt" pitchFamily="34" charset="-120"/>
              </a:rPr>
              <a:t>DORA</a:t>
            </a:r>
            <a:endParaRPr lang="en-US" sz="900" dirty="0"/>
          </a:p>
          <a:p>
            <a:pPr indent="0" marL="0">
              <a:spcAft>
                <a:spcPts val="500"/>
              </a:spcAft>
              <a:buNone/>
            </a:pPr>
            <a:r>
              <a:rPr lang="en-US" sz="1100" dirty="0">
                <a:solidFill>
                  <a:srgbClr val="C9D5DF"/>
                </a:solidFill>
              </a:rPr>
              <a:t>Regulation (EU) 2022/2554</a:t>
            </a:r>
            <a:endParaRPr lang="en-US" sz="900" dirty="0"/>
          </a:p>
        </p:txBody>
      </p:sp>
      <p:sp>
        <p:nvSpPr>
          <p:cNvPr id="7" name="Shape 5"/>
          <p:cNvSpPr/>
          <p:nvPr/>
        </p:nvSpPr>
        <p:spPr>
          <a:xfrm>
            <a:off x="7909560" y="3840480"/>
            <a:ext cx="1828800" cy="1828800"/>
          </a:xfrm>
          <a:prstGeom prst="rect">
            <a:avLst/>
          </a:prstGeom>
          <a:ln w="12700">
            <a:solidFill>
              <a:srgbClr val="3A4F62"/>
            </a:solidFill>
            <a:prstDash val="solid"/>
          </a:ln>
        </p:spPr>
      </p:sp>
      <p:sp>
        <p:nvSpPr>
          <p:cNvPr id="8" name="Text 6"/>
          <p:cNvSpPr txBox="1"/>
          <p:nvPr/>
        </p:nvSpPr>
        <p:spPr>
          <a:xfrm>
            <a:off x="8037576" y="3931920"/>
            <a:ext cx="1572768" cy="1645920"/>
          </a:xfrm>
          <a:prstGeom prst="rect">
            <a:avLst/>
          </a:prstGeom>
          <a:noFill/>
          <a:ln/>
        </p:spPr>
        <p:txBody>
          <a:bodyPr wrap="square" lIns="0" tIns="0" rIns="0" bIns="0" rtlCol="0" anchor="ctr"/>
          <a:lstStyle/>
          <a:p>
            <a:pPr indent="0" marL="0">
              <a:spcAft>
                <a:spcPts val="500"/>
              </a:spcAft>
              <a:buNone/>
            </a:pPr>
            <a:r>
              <a:rPr lang="en-US" sz="900" spc="200" kern="0" dirty="0">
                <a:solidFill>
                  <a:srgbClr val="9FB0BF"/>
                </a:solidFill>
              </a:rPr>
              <a:t>CONTROL BASELINE</a:t>
            </a:r>
            <a:endParaRPr lang="en-US" sz="900" dirty="0"/>
          </a:p>
          <a:p>
            <a:pPr indent="0" marL="0">
              <a:spcAft>
                <a:spcPts val="500"/>
              </a:spcAft>
              <a:buNone/>
            </a:pPr>
            <a:r>
              <a:rPr lang="en-US" sz="1500" b="1" dirty="0">
                <a:solidFill>
                  <a:schemeClr val="bg1"/>
                </a:solidFill>
                <a:latin typeface="+mj-lt" pitchFamily="34" charset="0"/>
                <a:ea typeface="+mj-lt" pitchFamily="34" charset="-122"/>
                <a:cs typeface="+mj-lt" pitchFamily="34" charset="-120"/>
              </a:rPr>
              <a:t>CIS Controls v8.1 · IG3</a:t>
            </a:r>
            <a:endParaRPr lang="en-US" sz="900" dirty="0"/>
          </a:p>
          <a:p>
            <a:pPr indent="0" marL="0">
              <a:spcAft>
                <a:spcPts val="500"/>
              </a:spcAft>
              <a:buNone/>
            </a:pPr>
            <a:r>
              <a:rPr lang="en-US" sz="1100" dirty="0">
                <a:solidFill>
                  <a:srgbClr val="C9D5DF"/>
                </a:solidFill>
              </a:rPr>
              <a:t>Implementation Group 3</a:t>
            </a:r>
            <a:endParaRPr lang="en-US" sz="900" dirty="0"/>
          </a:p>
        </p:txBody>
      </p:sp>
      <p:sp>
        <p:nvSpPr>
          <p:cNvPr id="9" name="Shape 7"/>
          <p:cNvSpPr/>
          <p:nvPr/>
        </p:nvSpPr>
        <p:spPr>
          <a:xfrm>
            <a:off x="9875520" y="3840480"/>
            <a:ext cx="1828800" cy="1828800"/>
          </a:xfrm>
          <a:prstGeom prst="rect">
            <a:avLst/>
          </a:prstGeom>
          <a:ln w="12700">
            <a:solidFill>
              <a:srgbClr val="3A4F62"/>
            </a:solidFill>
            <a:prstDash val="solid"/>
          </a:ln>
        </p:spPr>
      </p:sp>
      <p:sp>
        <p:nvSpPr>
          <p:cNvPr id="10" name="Text 8"/>
          <p:cNvSpPr txBox="1"/>
          <p:nvPr/>
        </p:nvSpPr>
        <p:spPr>
          <a:xfrm>
            <a:off x="10003536" y="3931920"/>
            <a:ext cx="1572768" cy="1645920"/>
          </a:xfrm>
          <a:prstGeom prst="rect">
            <a:avLst/>
          </a:prstGeom>
          <a:noFill/>
          <a:ln/>
        </p:spPr>
        <p:txBody>
          <a:bodyPr wrap="square" lIns="0" tIns="0" rIns="0" bIns="0" rtlCol="0" anchor="ctr"/>
          <a:lstStyle/>
          <a:p>
            <a:pPr indent="0" marL="0">
              <a:spcAft>
                <a:spcPts val="500"/>
              </a:spcAft>
              <a:buNone/>
            </a:pPr>
            <a:r>
              <a:rPr lang="en-US" sz="900" spc="200" kern="0" dirty="0">
                <a:solidFill>
                  <a:srgbClr val="9FB0BF"/>
                </a:solidFill>
              </a:rPr>
              <a:t>TOOLING</a:t>
            </a:r>
            <a:endParaRPr lang="en-US" sz="900" dirty="0"/>
          </a:p>
          <a:p>
            <a:pPr indent="0" marL="0">
              <a:spcAft>
                <a:spcPts val="500"/>
              </a:spcAft>
              <a:buNone/>
            </a:pPr>
            <a:r>
              <a:rPr lang="en-US" sz="1500" b="1" dirty="0">
                <a:solidFill>
                  <a:schemeClr val="bg1"/>
                </a:solidFill>
                <a:latin typeface="+mj-lt" pitchFamily="34" charset="0"/>
                <a:ea typeface="+mj-lt" pitchFamily="34" charset="-122"/>
                <a:cs typeface="+mj-lt" pitchFamily="34" charset="-120"/>
              </a:rPr>
              <a:t>Azure Monitor · QRadar · Sentinel</a:t>
            </a:r>
            <a:endParaRPr lang="en-US" sz="900" dirty="0"/>
          </a:p>
          <a:p>
            <a:pPr indent="0" marL="0">
              <a:spcAft>
                <a:spcPts val="500"/>
              </a:spcAft>
              <a:buNone/>
            </a:pPr>
            <a:r>
              <a:rPr lang="en-US" sz="1100" dirty="0">
                <a:solidFill>
                  <a:srgbClr val="C9D5DF"/>
                </a:solidFill>
              </a:rPr>
              <a:t>QRadar today, aligned to Microsoft Sentinel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Nine linked steps, from service to improvement</a:t>
            </a:r>
            <a:endParaRPr lang="en-US" sz="3000" dirty="0"/>
          </a:p>
        </p:txBody>
      </p:sp>
      <p:sp>
        <p:nvSpPr>
          <p:cNvPr id="3" name="Text 1"/>
          <p:cNvSpPr txBox="1"/>
          <p:nvPr/>
        </p:nvSpPr>
        <p:spPr>
          <a:xfrm>
            <a:off x="457200" y="1005840"/>
            <a:ext cx="11277295" cy="365760"/>
          </a:xfrm>
          <a:prstGeom prst="rect">
            <a:avLst/>
          </a:prstGeom>
          <a:noFill/>
          <a:ln/>
        </p:spPr>
        <p:txBody>
          <a:bodyPr wrap="square" lIns="0" tIns="0" rIns="0" bIns="0" rtlCol="0" anchor="t"/>
          <a:lstStyle/>
          <a:p>
            <a:pPr indent="0" marL="0">
              <a:buNone/>
            </a:pPr>
            <a:r>
              <a:rPr lang="en-US" sz="1400" dirty="0">
                <a:solidFill>
                  <a:schemeClr val="accent1"/>
                </a:solidFill>
              </a:rPr>
              <a:t>■ </a:t>
            </a:r>
            <a:pPr indent="0" marL="0">
              <a:buNone/>
            </a:pPr>
            <a:r>
              <a:rPr lang="en-US" sz="1400" dirty="0">
                <a:solidFill>
                  <a:schemeClr val="tx2"/>
                </a:solidFill>
              </a:rPr>
              <a:t>Watch and detect      </a:t>
            </a:r>
            <a:pPr indent="0" marL="0">
              <a:buNone/>
            </a:pPr>
            <a:r>
              <a:rPr lang="en-US" sz="1400" dirty="0">
                <a:solidFill>
                  <a:schemeClr val="accent2"/>
                </a:solidFill>
              </a:rPr>
              <a:t>■ </a:t>
            </a:r>
            <a:pPr indent="0" marL="0">
              <a:buNone/>
            </a:pPr>
            <a:r>
              <a:rPr lang="en-US" sz="1400" dirty="0">
                <a:solidFill>
                  <a:schemeClr val="tx2"/>
                </a:solidFill>
              </a:rPr>
              <a:t>Restore, report and improve</a:t>
            </a:r>
            <a:endParaRPr lang="en-US" sz="1400" dirty="0"/>
          </a:p>
        </p:txBody>
      </p:sp>
      <p:sp>
        <p:nvSpPr>
          <p:cNvPr id="4" name="Stage 1"/>
          <p:cNvSpPr/>
          <p:nvPr/>
        </p:nvSpPr>
        <p:spPr>
          <a:xfrm>
            <a:off x="457200" y="1645920"/>
            <a:ext cx="1598473" cy="868680"/>
          </a:xfrm>
          <a:prstGeom prst="homePlate">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01</a:t>
            </a:r>
            <a:endParaRPr lang="en-US" sz="2000" dirty="0"/>
          </a:p>
        </p:txBody>
      </p:sp>
      <p:sp>
        <p:nvSpPr>
          <p:cNvPr id="5" name="Stage 2"/>
          <p:cNvSpPr/>
          <p:nvPr/>
        </p:nvSpPr>
        <p:spPr>
          <a:xfrm>
            <a:off x="1667053"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02</a:t>
            </a:r>
            <a:endParaRPr lang="en-US" sz="2000" dirty="0"/>
          </a:p>
        </p:txBody>
      </p:sp>
      <p:sp>
        <p:nvSpPr>
          <p:cNvPr id="6" name="Stage 3"/>
          <p:cNvSpPr/>
          <p:nvPr/>
        </p:nvSpPr>
        <p:spPr>
          <a:xfrm>
            <a:off x="2876906"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03</a:t>
            </a:r>
            <a:endParaRPr lang="en-US" sz="2000" dirty="0"/>
          </a:p>
        </p:txBody>
      </p:sp>
      <p:sp>
        <p:nvSpPr>
          <p:cNvPr id="7" name="Stage 4"/>
          <p:cNvSpPr/>
          <p:nvPr/>
        </p:nvSpPr>
        <p:spPr>
          <a:xfrm>
            <a:off x="4086758"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04</a:t>
            </a:r>
            <a:endParaRPr lang="en-US" sz="2000" dirty="0"/>
          </a:p>
        </p:txBody>
      </p:sp>
      <p:sp>
        <p:nvSpPr>
          <p:cNvPr id="8" name="Stage 5"/>
          <p:cNvSpPr/>
          <p:nvPr/>
        </p:nvSpPr>
        <p:spPr>
          <a:xfrm>
            <a:off x="5296611"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05</a:t>
            </a:r>
            <a:endParaRPr lang="en-US" sz="2000" dirty="0"/>
          </a:p>
        </p:txBody>
      </p:sp>
      <p:sp>
        <p:nvSpPr>
          <p:cNvPr id="9" name="Stage 6"/>
          <p:cNvSpPr/>
          <p:nvPr/>
        </p:nvSpPr>
        <p:spPr>
          <a:xfrm>
            <a:off x="6506464"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06</a:t>
            </a:r>
            <a:endParaRPr lang="en-US" sz="2000" dirty="0"/>
          </a:p>
        </p:txBody>
      </p:sp>
      <p:sp>
        <p:nvSpPr>
          <p:cNvPr id="10" name="Stage 7"/>
          <p:cNvSpPr/>
          <p:nvPr/>
        </p:nvSpPr>
        <p:spPr>
          <a:xfrm>
            <a:off x="7716317"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07</a:t>
            </a:r>
            <a:endParaRPr lang="en-US" sz="2000" dirty="0"/>
          </a:p>
        </p:txBody>
      </p:sp>
      <p:sp>
        <p:nvSpPr>
          <p:cNvPr id="11" name="Stage 8"/>
          <p:cNvSpPr/>
          <p:nvPr/>
        </p:nvSpPr>
        <p:spPr>
          <a:xfrm>
            <a:off x="8926170"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08</a:t>
            </a:r>
            <a:endParaRPr lang="en-US" sz="2000" dirty="0"/>
          </a:p>
        </p:txBody>
      </p:sp>
      <p:sp>
        <p:nvSpPr>
          <p:cNvPr id="12" name="Stage 9"/>
          <p:cNvSpPr/>
          <p:nvPr/>
        </p:nvSpPr>
        <p:spPr>
          <a:xfrm>
            <a:off x="10136022"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09</a:t>
            </a:r>
            <a:endParaRPr lang="en-US" sz="2000" dirty="0"/>
          </a:p>
        </p:txBody>
      </p:sp>
      <p:sp>
        <p:nvSpPr>
          <p:cNvPr id="13" name="Text 11"/>
          <p:cNvSpPr txBox="1"/>
          <p:nvPr/>
        </p:nvSpPr>
        <p:spPr>
          <a:xfrm>
            <a:off x="493776"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Service</a:t>
            </a:r>
            <a:endParaRPr lang="en-US" sz="1250" dirty="0"/>
          </a:p>
        </p:txBody>
      </p:sp>
      <p:pic>
        <p:nvPicPr>
          <p:cNvPr id="14" name="Image 0" descr="preencoded.png">    </p:cNvPr>
          <p:cNvPicPr>
            <a:picLocks noChangeAspect="1"/>
          </p:cNvPicPr>
          <p:nvPr/>
        </p:nvPicPr>
        <p:blipFill>
          <a:blip r:embed="rId1"/>
          <a:stretch>
            <a:fillRect/>
          </a:stretch>
        </p:blipFill>
        <p:spPr>
          <a:xfrm>
            <a:off x="493776" y="3429000"/>
            <a:ext cx="502920" cy="502920"/>
          </a:xfrm>
          <a:prstGeom prst="rect">
            <a:avLst/>
          </a:prstGeom>
        </p:spPr>
      </p:pic>
      <p:sp>
        <p:nvSpPr>
          <p:cNvPr id="15" name="Text 12"/>
          <p:cNvSpPr txBox="1"/>
          <p:nvPr/>
        </p:nvSpPr>
        <p:spPr>
          <a:xfrm>
            <a:off x="493776"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The business service, its owner and its impact tolerance.</a:t>
            </a:r>
            <a:endParaRPr lang="en-US" sz="1300" dirty="0"/>
          </a:p>
        </p:txBody>
      </p:sp>
      <p:sp>
        <p:nvSpPr>
          <p:cNvPr id="16" name="Text 13"/>
          <p:cNvSpPr txBox="1"/>
          <p:nvPr/>
        </p:nvSpPr>
        <p:spPr>
          <a:xfrm>
            <a:off x="1703629"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Component</a:t>
            </a:r>
            <a:endParaRPr lang="en-US" sz="1250" dirty="0"/>
          </a:p>
        </p:txBody>
      </p:sp>
      <p:pic>
        <p:nvPicPr>
          <p:cNvPr id="17" name="Image 1" descr="preencoded.png">    </p:cNvPr>
          <p:cNvPicPr>
            <a:picLocks noChangeAspect="1"/>
          </p:cNvPicPr>
          <p:nvPr/>
        </p:nvPicPr>
        <p:blipFill>
          <a:blip r:embed="rId2"/>
          <a:stretch>
            <a:fillRect/>
          </a:stretch>
        </p:blipFill>
        <p:spPr>
          <a:xfrm>
            <a:off x="1703629" y="3429000"/>
            <a:ext cx="502920" cy="502920"/>
          </a:xfrm>
          <a:prstGeom prst="rect">
            <a:avLst/>
          </a:prstGeom>
        </p:spPr>
      </p:pic>
      <p:sp>
        <p:nvSpPr>
          <p:cNvPr id="18" name="Text 14"/>
          <p:cNvSpPr txBox="1"/>
          <p:nvPr/>
        </p:nvSpPr>
        <p:spPr>
          <a:xfrm>
            <a:off x="1703629"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The network and infrastructure the service depends on.</a:t>
            </a:r>
            <a:endParaRPr lang="en-US" sz="1300" dirty="0"/>
          </a:p>
        </p:txBody>
      </p:sp>
      <p:sp>
        <p:nvSpPr>
          <p:cNvPr id="19" name="Text 15"/>
          <p:cNvSpPr txBox="1"/>
          <p:nvPr/>
        </p:nvSpPr>
        <p:spPr>
          <a:xfrm>
            <a:off x="2913482"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Telemetry</a:t>
            </a:r>
            <a:endParaRPr lang="en-US" sz="1250" dirty="0"/>
          </a:p>
        </p:txBody>
      </p:sp>
      <p:pic>
        <p:nvPicPr>
          <p:cNvPr id="20" name="Image 2" descr="preencoded.png">    </p:cNvPr>
          <p:cNvPicPr>
            <a:picLocks noChangeAspect="1"/>
          </p:cNvPicPr>
          <p:nvPr/>
        </p:nvPicPr>
        <p:blipFill>
          <a:blip r:embed="rId3"/>
          <a:stretch>
            <a:fillRect/>
          </a:stretch>
        </p:blipFill>
        <p:spPr>
          <a:xfrm>
            <a:off x="2913482" y="3429000"/>
            <a:ext cx="502920" cy="502920"/>
          </a:xfrm>
          <a:prstGeom prst="rect">
            <a:avLst/>
          </a:prstGeom>
        </p:spPr>
      </p:pic>
      <p:sp>
        <p:nvSpPr>
          <p:cNvPr id="21" name="Text 16"/>
          <p:cNvSpPr txBox="1"/>
          <p:nvPr/>
        </p:nvSpPr>
        <p:spPr>
          <a:xfrm>
            <a:off x="2913482"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Metrics, logs, flows and synthetic probes from every component.</a:t>
            </a:r>
            <a:endParaRPr lang="en-US" sz="1300" dirty="0"/>
          </a:p>
        </p:txBody>
      </p:sp>
      <p:sp>
        <p:nvSpPr>
          <p:cNvPr id="22" name="Text 17"/>
          <p:cNvSpPr txBox="1"/>
          <p:nvPr/>
        </p:nvSpPr>
        <p:spPr>
          <a:xfrm>
            <a:off x="4123334"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Event</a:t>
            </a:r>
            <a:endParaRPr lang="en-US" sz="1250" dirty="0"/>
          </a:p>
        </p:txBody>
      </p:sp>
      <p:pic>
        <p:nvPicPr>
          <p:cNvPr id="23" name="Image 3" descr="preencoded.png">    </p:cNvPr>
          <p:cNvPicPr>
            <a:picLocks noChangeAspect="1"/>
          </p:cNvPicPr>
          <p:nvPr/>
        </p:nvPicPr>
        <p:blipFill>
          <a:blip r:embed="rId4"/>
          <a:stretch>
            <a:fillRect/>
          </a:stretch>
        </p:blipFill>
        <p:spPr>
          <a:xfrm>
            <a:off x="4123334" y="3429000"/>
            <a:ext cx="502920" cy="502920"/>
          </a:xfrm>
          <a:prstGeom prst="rect">
            <a:avLst/>
          </a:prstGeom>
        </p:spPr>
      </p:pic>
      <p:sp>
        <p:nvSpPr>
          <p:cNvPr id="24" name="Text 18"/>
          <p:cNvSpPr txBox="1"/>
          <p:nvPr/>
        </p:nvSpPr>
        <p:spPr>
          <a:xfrm>
            <a:off x="4123334"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A threshold or baseline is breached. Events are correlated and de-duplicated.</a:t>
            </a:r>
            <a:endParaRPr lang="en-US" sz="1300" dirty="0"/>
          </a:p>
        </p:txBody>
      </p:sp>
      <p:sp>
        <p:nvSpPr>
          <p:cNvPr id="25" name="Text 19"/>
          <p:cNvSpPr txBox="1"/>
          <p:nvPr/>
        </p:nvSpPr>
        <p:spPr>
          <a:xfrm>
            <a:off x="5333187"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Incident</a:t>
            </a:r>
            <a:endParaRPr lang="en-US" sz="1250" dirty="0"/>
          </a:p>
        </p:txBody>
      </p:sp>
      <p:pic>
        <p:nvPicPr>
          <p:cNvPr id="26" name="Image 4" descr="preencoded.png">    </p:cNvPr>
          <p:cNvPicPr>
            <a:picLocks noChangeAspect="1"/>
          </p:cNvPicPr>
          <p:nvPr/>
        </p:nvPicPr>
        <p:blipFill>
          <a:blip r:embed="rId5"/>
          <a:stretch>
            <a:fillRect/>
          </a:stretch>
        </p:blipFill>
        <p:spPr>
          <a:xfrm>
            <a:off x="5333187" y="3429000"/>
            <a:ext cx="502920" cy="502920"/>
          </a:xfrm>
          <a:prstGeom prst="rect">
            <a:avLst/>
          </a:prstGeom>
        </p:spPr>
      </p:pic>
      <p:sp>
        <p:nvSpPr>
          <p:cNvPr id="27" name="Text 20"/>
          <p:cNvSpPr txBox="1"/>
          <p:nvPr/>
        </p:nvSpPr>
        <p:spPr>
          <a:xfrm>
            <a:off x="5333187"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A ticket is raised and prioritised by business impact.</a:t>
            </a:r>
            <a:endParaRPr lang="en-US" sz="1300" dirty="0"/>
          </a:p>
        </p:txBody>
      </p:sp>
      <p:sp>
        <p:nvSpPr>
          <p:cNvPr id="28" name="Text 21"/>
          <p:cNvSpPr txBox="1"/>
          <p:nvPr/>
        </p:nvSpPr>
        <p:spPr>
          <a:xfrm>
            <a:off x="6543040"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Restoration</a:t>
            </a:r>
            <a:endParaRPr lang="en-US" sz="1250" dirty="0"/>
          </a:p>
        </p:txBody>
      </p:sp>
      <p:pic>
        <p:nvPicPr>
          <p:cNvPr id="29" name="Image 5" descr="preencoded.png">    </p:cNvPr>
          <p:cNvPicPr>
            <a:picLocks noChangeAspect="1"/>
          </p:cNvPicPr>
          <p:nvPr/>
        </p:nvPicPr>
        <p:blipFill>
          <a:blip r:embed="rId6"/>
          <a:stretch>
            <a:fillRect/>
          </a:stretch>
        </p:blipFill>
        <p:spPr>
          <a:xfrm>
            <a:off x="6543040" y="3429000"/>
            <a:ext cx="502920" cy="502920"/>
          </a:xfrm>
          <a:prstGeom prst="rect">
            <a:avLst/>
          </a:prstGeom>
        </p:spPr>
      </p:pic>
      <p:sp>
        <p:nvSpPr>
          <p:cNvPr id="30" name="Text 22"/>
          <p:cNvSpPr txBox="1"/>
          <p:nvPr/>
        </p:nvSpPr>
        <p:spPr>
          <a:xfrm>
            <a:off x="6543040"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Failover or workaround brings the service back within its recovery time.</a:t>
            </a:r>
            <a:endParaRPr lang="en-US" sz="1300" dirty="0"/>
          </a:p>
        </p:txBody>
      </p:sp>
      <p:sp>
        <p:nvSpPr>
          <p:cNvPr id="31" name="Text 23"/>
          <p:cNvSpPr txBox="1"/>
          <p:nvPr/>
        </p:nvSpPr>
        <p:spPr>
          <a:xfrm>
            <a:off x="7752893"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Problem</a:t>
            </a:r>
            <a:endParaRPr lang="en-US" sz="1250" dirty="0"/>
          </a:p>
        </p:txBody>
      </p:sp>
      <p:pic>
        <p:nvPicPr>
          <p:cNvPr id="32" name="Image 6" descr="preencoded.png">    </p:cNvPr>
          <p:cNvPicPr>
            <a:picLocks noChangeAspect="1"/>
          </p:cNvPicPr>
          <p:nvPr/>
        </p:nvPicPr>
        <p:blipFill>
          <a:blip r:embed="rId7"/>
          <a:stretch>
            <a:fillRect/>
          </a:stretch>
        </p:blipFill>
        <p:spPr>
          <a:xfrm>
            <a:off x="7752893" y="3429000"/>
            <a:ext cx="502920" cy="502920"/>
          </a:xfrm>
          <a:prstGeom prst="rect">
            <a:avLst/>
          </a:prstGeom>
        </p:spPr>
      </p:pic>
      <p:sp>
        <p:nvSpPr>
          <p:cNvPr id="33" name="Text 24"/>
          <p:cNvSpPr txBox="1"/>
          <p:nvPr/>
        </p:nvSpPr>
        <p:spPr>
          <a:xfrm>
            <a:off x="7752893"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Root cause is found and fixed for good through change control.</a:t>
            </a:r>
            <a:endParaRPr lang="en-US" sz="1300" dirty="0"/>
          </a:p>
        </p:txBody>
      </p:sp>
      <p:sp>
        <p:nvSpPr>
          <p:cNvPr id="34" name="Text 25"/>
          <p:cNvSpPr txBox="1"/>
          <p:nvPr/>
        </p:nvSpPr>
        <p:spPr>
          <a:xfrm>
            <a:off x="8962746"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Reporting</a:t>
            </a:r>
            <a:endParaRPr lang="en-US" sz="1250" dirty="0"/>
          </a:p>
        </p:txBody>
      </p:sp>
      <p:pic>
        <p:nvPicPr>
          <p:cNvPr id="35" name="Image 7" descr="preencoded.png">    </p:cNvPr>
          <p:cNvPicPr>
            <a:picLocks noChangeAspect="1"/>
          </p:cNvPicPr>
          <p:nvPr/>
        </p:nvPicPr>
        <p:blipFill>
          <a:blip r:embed="rId8"/>
          <a:stretch>
            <a:fillRect/>
          </a:stretch>
        </p:blipFill>
        <p:spPr>
          <a:xfrm>
            <a:off x="8962746" y="3429000"/>
            <a:ext cx="502920" cy="502920"/>
          </a:xfrm>
          <a:prstGeom prst="rect">
            <a:avLst/>
          </a:prstGeom>
        </p:spPr>
      </p:pic>
      <p:sp>
        <p:nvSpPr>
          <p:cNvPr id="36" name="Text 26"/>
          <p:cNvSpPr txBox="1"/>
          <p:nvPr/>
        </p:nvSpPr>
        <p:spPr>
          <a:xfrm>
            <a:off x="8962746"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Availability, capacity and service levels. DORA classification when major.</a:t>
            </a:r>
            <a:endParaRPr lang="en-US" sz="1300" dirty="0"/>
          </a:p>
        </p:txBody>
      </p:sp>
      <p:sp>
        <p:nvSpPr>
          <p:cNvPr id="37" name="Text 27"/>
          <p:cNvSpPr txBox="1"/>
          <p:nvPr/>
        </p:nvSpPr>
        <p:spPr>
          <a:xfrm>
            <a:off x="10172598"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Improvement</a:t>
            </a:r>
            <a:endParaRPr lang="en-US" sz="1250" dirty="0"/>
          </a:p>
        </p:txBody>
      </p:sp>
      <p:pic>
        <p:nvPicPr>
          <p:cNvPr id="38" name="Image 8" descr="preencoded.png">    </p:cNvPr>
          <p:cNvPicPr>
            <a:picLocks noChangeAspect="1"/>
          </p:cNvPicPr>
          <p:nvPr/>
        </p:nvPicPr>
        <p:blipFill>
          <a:blip r:embed="rId9"/>
          <a:stretch>
            <a:fillRect/>
          </a:stretch>
        </p:blipFill>
        <p:spPr>
          <a:xfrm>
            <a:off x="10172598" y="3429000"/>
            <a:ext cx="502920" cy="502920"/>
          </a:xfrm>
          <a:prstGeom prst="rect">
            <a:avLst/>
          </a:prstGeom>
        </p:spPr>
      </p:pic>
      <p:sp>
        <p:nvSpPr>
          <p:cNvPr id="39" name="Text 28"/>
          <p:cNvSpPr txBox="1"/>
          <p:nvPr/>
        </p:nvSpPr>
        <p:spPr>
          <a:xfrm>
            <a:off x="10172598"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Capacity plan, resilience tests and lessons learned feed the next cycle.</a:t>
            </a:r>
            <a:endParaRPr lang="en-US" sz="13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Worked example: the payments circuit degrades</a:t>
            </a:r>
            <a:endParaRPr lang="en-US" sz="3000" dirty="0"/>
          </a:p>
        </p:txBody>
      </p:sp>
      <p:sp>
        <p:nvSpPr>
          <p:cNvPr id="3" name="Text 1"/>
          <p:cNvSpPr txBox="1"/>
          <p:nvPr/>
        </p:nvSpPr>
        <p:spPr>
          <a:xfrm>
            <a:off x="457200" y="1005840"/>
            <a:ext cx="11277295" cy="365760"/>
          </a:xfrm>
          <a:prstGeom prst="rect">
            <a:avLst/>
          </a:prstGeom>
          <a:noFill/>
          <a:ln/>
        </p:spPr>
        <p:txBody>
          <a:bodyPr wrap="square" lIns="0" tIns="0" rIns="0" bIns="0" rtlCol="0" anchor="t"/>
          <a:lstStyle/>
          <a:p>
            <a:pPr indent="0" marL="0">
              <a:buNone/>
            </a:pPr>
            <a:r>
              <a:rPr lang="en-US" sz="1400" dirty="0">
                <a:solidFill>
                  <a:schemeClr val="tx2"/>
                </a:solidFill>
              </a:rPr>
              <a:t>Priority P1 · Critical function · Bracketed values are placeholders</a:t>
            </a:r>
            <a:endParaRPr lang="en-US" sz="1400" dirty="0"/>
          </a:p>
        </p:txBody>
      </p:sp>
      <p:sp>
        <p:nvSpPr>
          <p:cNvPr id="4" name="Stage 1"/>
          <p:cNvSpPr/>
          <p:nvPr/>
        </p:nvSpPr>
        <p:spPr>
          <a:xfrm>
            <a:off x="457200" y="1554480"/>
            <a:ext cx="1415593" cy="457200"/>
          </a:xfrm>
          <a:prstGeom prst="homePlate">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01</a:t>
            </a:r>
            <a:endParaRPr lang="en-US" sz="1300" dirty="0"/>
          </a:p>
        </p:txBody>
      </p:sp>
      <p:sp>
        <p:nvSpPr>
          <p:cNvPr id="5" name="Stage 2"/>
          <p:cNvSpPr/>
          <p:nvPr/>
        </p:nvSpPr>
        <p:spPr>
          <a:xfrm>
            <a:off x="1689913"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02</a:t>
            </a:r>
            <a:endParaRPr lang="en-US" sz="1300" dirty="0"/>
          </a:p>
        </p:txBody>
      </p:sp>
      <p:sp>
        <p:nvSpPr>
          <p:cNvPr id="6" name="Stage 3"/>
          <p:cNvSpPr/>
          <p:nvPr/>
        </p:nvSpPr>
        <p:spPr>
          <a:xfrm>
            <a:off x="2922626"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03</a:t>
            </a:r>
            <a:endParaRPr lang="en-US" sz="1300" dirty="0"/>
          </a:p>
        </p:txBody>
      </p:sp>
      <p:sp>
        <p:nvSpPr>
          <p:cNvPr id="7" name="Stage 4"/>
          <p:cNvSpPr/>
          <p:nvPr/>
        </p:nvSpPr>
        <p:spPr>
          <a:xfrm>
            <a:off x="4155338"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04</a:t>
            </a:r>
            <a:endParaRPr lang="en-US" sz="1300" dirty="0"/>
          </a:p>
        </p:txBody>
      </p:sp>
      <p:sp>
        <p:nvSpPr>
          <p:cNvPr id="8" name="Stage 5"/>
          <p:cNvSpPr/>
          <p:nvPr/>
        </p:nvSpPr>
        <p:spPr>
          <a:xfrm>
            <a:off x="5388051"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05</a:t>
            </a:r>
            <a:endParaRPr lang="en-US" sz="1300" dirty="0"/>
          </a:p>
        </p:txBody>
      </p:sp>
      <p:sp>
        <p:nvSpPr>
          <p:cNvPr id="9" name="Stage 6"/>
          <p:cNvSpPr/>
          <p:nvPr/>
        </p:nvSpPr>
        <p:spPr>
          <a:xfrm>
            <a:off x="6620764"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06</a:t>
            </a:r>
            <a:endParaRPr lang="en-US" sz="1300" dirty="0"/>
          </a:p>
        </p:txBody>
      </p:sp>
      <p:sp>
        <p:nvSpPr>
          <p:cNvPr id="10" name="Stage 7"/>
          <p:cNvSpPr/>
          <p:nvPr/>
        </p:nvSpPr>
        <p:spPr>
          <a:xfrm>
            <a:off x="7853477"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07</a:t>
            </a:r>
            <a:endParaRPr lang="en-US" sz="1300" dirty="0"/>
          </a:p>
        </p:txBody>
      </p:sp>
      <p:sp>
        <p:nvSpPr>
          <p:cNvPr id="11" name="Stage 8"/>
          <p:cNvSpPr/>
          <p:nvPr/>
        </p:nvSpPr>
        <p:spPr>
          <a:xfrm>
            <a:off x="9086190"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08</a:t>
            </a:r>
            <a:endParaRPr lang="en-US" sz="1300" dirty="0"/>
          </a:p>
        </p:txBody>
      </p:sp>
      <p:sp>
        <p:nvSpPr>
          <p:cNvPr id="12" name="Stage 9"/>
          <p:cNvSpPr/>
          <p:nvPr/>
        </p:nvSpPr>
        <p:spPr>
          <a:xfrm>
            <a:off x="10318902"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09</a:t>
            </a:r>
            <a:endParaRPr lang="en-US" sz="1300" dirty="0"/>
          </a:p>
        </p:txBody>
      </p:sp>
      <p:sp>
        <p:nvSpPr>
          <p:cNvPr id="13" name="Example 01"/>
          <p:cNvSpPr txBox="1"/>
          <p:nvPr/>
        </p:nvSpPr>
        <p:spPr>
          <a:xfrm>
            <a:off x="457200"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Service</a:t>
            </a:r>
            <a:endParaRPr lang="en-US" sz="1200" dirty="0"/>
          </a:p>
          <a:p>
            <a:pPr indent="0" marL="0">
              <a:spcAft>
                <a:spcPts val="600"/>
              </a:spcAft>
              <a:buNone/>
            </a:pPr>
            <a:r>
              <a:rPr lang="en-US" sz="1200" dirty="0">
                <a:solidFill>
                  <a:schemeClr val="tx1"/>
                </a:solidFill>
              </a:rPr>
              <a:t>Payments API, a critical function. Impact tolerance [2 hours].</a:t>
            </a:r>
            <a:endParaRPr lang="en-US" sz="1200" dirty="0"/>
          </a:p>
        </p:txBody>
      </p:sp>
      <p:sp>
        <p:nvSpPr>
          <p:cNvPr id="14" name="Example 02"/>
          <p:cNvSpPr txBox="1"/>
          <p:nvPr/>
        </p:nvSpPr>
        <p:spPr>
          <a:xfrm>
            <a:off x="1689913"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Component</a:t>
            </a:r>
            <a:endParaRPr lang="en-US" sz="1200" dirty="0"/>
          </a:p>
          <a:p>
            <a:pPr indent="0" marL="0">
              <a:spcAft>
                <a:spcPts val="600"/>
              </a:spcAft>
              <a:buNone/>
            </a:pPr>
            <a:r>
              <a:rPr lang="en-US" sz="1200" dirty="0">
                <a:solidFill>
                  <a:schemeClr val="tx1"/>
                </a:solidFill>
              </a:rPr>
              <a:t>Primary ExpressRoute circuit, edge routers and the application gateway.</a:t>
            </a:r>
            <a:endParaRPr lang="en-US" sz="1200" dirty="0"/>
          </a:p>
        </p:txBody>
      </p:sp>
      <p:sp>
        <p:nvSpPr>
          <p:cNvPr id="15" name="Example 03"/>
          <p:cNvSpPr txBox="1"/>
          <p:nvPr/>
        </p:nvSpPr>
        <p:spPr>
          <a:xfrm>
            <a:off x="2922626"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Telemetry</a:t>
            </a:r>
            <a:endParaRPr lang="en-US" sz="1200" dirty="0"/>
          </a:p>
          <a:p>
            <a:pPr indent="0" marL="0">
              <a:spcAft>
                <a:spcPts val="600"/>
              </a:spcAft>
              <a:buNone/>
            </a:pPr>
            <a:r>
              <a:rPr lang="en-US" sz="1200" dirty="0">
                <a:solidFill>
                  <a:schemeClr val="tx1"/>
                </a:solidFill>
              </a:rPr>
              <a:t>Connection Monitor probes, circuit metrics, router syslog and SNMP.</a:t>
            </a:r>
            <a:endParaRPr lang="en-US" sz="1200" dirty="0"/>
          </a:p>
        </p:txBody>
      </p:sp>
      <p:sp>
        <p:nvSpPr>
          <p:cNvPr id="16" name="Example 04"/>
          <p:cNvSpPr txBox="1"/>
          <p:nvPr/>
        </p:nvSpPr>
        <p:spPr>
          <a:xfrm>
            <a:off x="4155338"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Event</a:t>
            </a:r>
            <a:endParaRPr lang="en-US" sz="1200" dirty="0"/>
          </a:p>
          <a:p>
            <a:pPr indent="0" marL="0">
              <a:spcAft>
                <a:spcPts val="600"/>
              </a:spcAft>
              <a:buNone/>
            </a:pPr>
            <a:r>
              <a:rPr lang="en-US" sz="1200" dirty="0">
                <a:solidFill>
                  <a:schemeClr val="tx1"/>
                </a:solidFill>
              </a:rPr>
              <a:t>Packet loss and latency stay above threshold for [5 minutes]. Alert fires.</a:t>
            </a:r>
            <a:endParaRPr lang="en-US" sz="1200" dirty="0"/>
          </a:p>
        </p:txBody>
      </p:sp>
      <p:sp>
        <p:nvSpPr>
          <p:cNvPr id="17" name="Example 05"/>
          <p:cNvSpPr txBox="1"/>
          <p:nvPr/>
        </p:nvSpPr>
        <p:spPr>
          <a:xfrm>
            <a:off x="5388051"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Incident</a:t>
            </a:r>
            <a:endParaRPr lang="en-US" sz="1200" dirty="0"/>
          </a:p>
          <a:p>
            <a:pPr indent="0" marL="0">
              <a:spcAft>
                <a:spcPts val="600"/>
              </a:spcAft>
              <a:buNone/>
            </a:pPr>
            <a:r>
              <a:rPr lang="en-US" sz="1200" dirty="0">
                <a:solidFill>
                  <a:schemeClr val="tx1"/>
                </a:solidFill>
              </a:rPr>
              <a:t>P1 ticket raised. Incident manager engaged. SOC asked to rule out an attack.</a:t>
            </a:r>
            <a:endParaRPr lang="en-US" sz="1200" dirty="0"/>
          </a:p>
        </p:txBody>
      </p:sp>
      <p:sp>
        <p:nvSpPr>
          <p:cNvPr id="18" name="Example 06"/>
          <p:cNvSpPr txBox="1"/>
          <p:nvPr/>
        </p:nvSpPr>
        <p:spPr>
          <a:xfrm>
            <a:off x="6620764"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Restoration</a:t>
            </a:r>
            <a:endParaRPr lang="en-US" sz="1200" dirty="0"/>
          </a:p>
          <a:p>
            <a:pPr indent="0" marL="0">
              <a:spcAft>
                <a:spcPts val="600"/>
              </a:spcAft>
              <a:buNone/>
            </a:pPr>
            <a:r>
              <a:rPr lang="en-US" sz="1200" dirty="0">
                <a:solidFill>
                  <a:schemeClr val="tx1"/>
                </a:solidFill>
              </a:rPr>
              <a:t>Traffic fails over to the secondary circuit. Service restored in [18 minutes].</a:t>
            </a:r>
            <a:endParaRPr lang="en-US" sz="1200" dirty="0"/>
          </a:p>
        </p:txBody>
      </p:sp>
      <p:sp>
        <p:nvSpPr>
          <p:cNvPr id="19" name="Example 07"/>
          <p:cNvSpPr txBox="1"/>
          <p:nvPr/>
        </p:nvSpPr>
        <p:spPr>
          <a:xfrm>
            <a:off x="7853477"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Problem</a:t>
            </a:r>
            <a:endParaRPr lang="en-US" sz="1200" dirty="0"/>
          </a:p>
          <a:p>
            <a:pPr indent="0" marL="0">
              <a:spcAft>
                <a:spcPts val="600"/>
              </a:spcAft>
              <a:buNone/>
            </a:pPr>
            <a:r>
              <a:rPr lang="en-US" sz="1200" dirty="0">
                <a:solidFill>
                  <a:schemeClr val="tx1"/>
                </a:solidFill>
              </a:rPr>
              <a:t>Carrier confirms a fibre fault. Change raised to add path diversity.</a:t>
            </a:r>
            <a:endParaRPr lang="en-US" sz="1200" dirty="0"/>
          </a:p>
        </p:txBody>
      </p:sp>
      <p:sp>
        <p:nvSpPr>
          <p:cNvPr id="20" name="Example 08"/>
          <p:cNvSpPr txBox="1"/>
          <p:nvPr/>
        </p:nvSpPr>
        <p:spPr>
          <a:xfrm>
            <a:off x="9086190"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Reporting</a:t>
            </a:r>
            <a:endParaRPr lang="en-US" sz="1200" dirty="0"/>
          </a:p>
          <a:p>
            <a:pPr indent="0" marL="0">
              <a:spcAft>
                <a:spcPts val="600"/>
              </a:spcAft>
              <a:buNone/>
            </a:pPr>
            <a:r>
              <a:rPr lang="en-US" sz="1200" dirty="0">
                <a:solidFill>
                  <a:schemeClr val="tx1"/>
                </a:solidFill>
              </a:rPr>
              <a:t>Downtime assessed against DORA thresholds: not major. Service level report updated.</a:t>
            </a:r>
            <a:endParaRPr lang="en-US" sz="1200" dirty="0"/>
          </a:p>
        </p:txBody>
      </p:sp>
      <p:sp>
        <p:nvSpPr>
          <p:cNvPr id="21" name="Example 09"/>
          <p:cNvSpPr txBox="1"/>
          <p:nvPr/>
        </p:nvSpPr>
        <p:spPr>
          <a:xfrm>
            <a:off x="10318902"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Improvement</a:t>
            </a:r>
            <a:endParaRPr lang="en-US" sz="1200" dirty="0"/>
          </a:p>
          <a:p>
            <a:pPr indent="0" marL="0">
              <a:spcAft>
                <a:spcPts val="600"/>
              </a:spcAft>
              <a:buNone/>
            </a:pPr>
            <a:r>
              <a:rPr lang="en-US" sz="1200" dirty="0">
                <a:solidFill>
                  <a:schemeClr val="tx1"/>
                </a:solidFill>
              </a:rPr>
              <a:t>Failover test added to the resilience testing programme. Capacity plan revised.</a:t>
            </a:r>
            <a:endParaRPr lang="en-US" sz="12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Monitoring and restoration matrix: what to watch</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9144000" cy="914400"/>
        </p:xfrm>
        <a:graphic>
          <a:graphicData uri="http://schemas.openxmlformats.org/drawingml/2006/table">
            <a:tbl>
              <a:tblPr/>
              <a:tblGrid>
                <a:gridCol w="1253033"/>
                <a:gridCol w="1754246"/>
                <a:gridCol w="2255459"/>
                <a:gridCol w="2380762"/>
                <a:gridCol w="2631369"/>
                <a:gridCol w="1002426"/>
              </a:tblGrid>
              <a:tr h="524510">
                <a:tc>
                  <a:txBody>
                    <a:bodyPr/>
                    <a:lstStyle/>
                    <a:p>
                      <a:pPr indent="0" marL="0">
                        <a:buNone/>
                      </a:pPr>
                      <a:r>
                        <a:rPr lang="en-US" sz="1250" b="1" dirty="0">
                          <a:solidFill>
                            <a:schemeClr val="bg1"/>
                          </a:solidFill>
                        </a:rPr>
                        <a:t>ID</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Service at risk</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bg1"/>
                          </a:solidFill>
                        </a:rPr>
                        <a:t>Failure scenario</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bg1"/>
                          </a:solidFill>
                        </a:rPr>
                        <a:t>Telemetry</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bg1"/>
                          </a:solidFill>
                        </a:rPr>
                        <a:t>Detection in Microsoft tooling</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bg1"/>
                          </a:solidFill>
                        </a:rPr>
                        <a:t>Priority</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718185">
                <a:tc>
                  <a:txBody>
                    <a:bodyPr/>
                    <a:lstStyle/>
                    <a:p>
                      <a:pPr indent="0" marL="0">
                        <a:buNone/>
                      </a:pPr>
                      <a:r>
                        <a:rPr lang="en-US" sz="1250" b="1" dirty="0">
                          <a:solidFill>
                            <a:schemeClr val="tx1"/>
                          </a:solidFill>
                        </a:rPr>
                        <a:t>NOC-EV-001</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Payments API</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Primary WAN or ExpressRoute circuit fails or degrades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Connection Monitor probes, circuit metrics, router syslog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Azure Monitor alert on packet loss, latency and BGP availability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bg1"/>
                          </a:solidFill>
                        </a:rPr>
                        <a:t>P1</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r>
              <a:tr h="718185">
                <a:tc>
                  <a:txBody>
                    <a:bodyPr/>
                    <a:lstStyle/>
                    <a:p>
                      <a:pPr indent="0" marL="0">
                        <a:buNone/>
                      </a:pPr>
                      <a:r>
                        <a:rPr lang="en-US" sz="1250" b="1" dirty="0">
                          <a:solidFill>
                            <a:schemeClr val="tx1"/>
                          </a:solidFill>
                        </a:rPr>
                        <a:t>NOC-EV-002</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Customer portal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Bandwidth, CPU or session capacity saturates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Interface utilisation, gateway and firewall metrics, flow logs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Azure Monitor metric alerts with dynamic thresholds. Traffic Analytics.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P2</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r>
              <a:tr h="524510">
                <a:tc>
                  <a:txBody>
                    <a:bodyPr/>
                    <a:lstStyle/>
                    <a:p>
                      <a:pPr indent="0" marL="0">
                        <a:buNone/>
                      </a:pPr>
                      <a:r>
                        <a:rPr lang="en-US" sz="1250" b="1" dirty="0">
                          <a:solidFill>
                            <a:schemeClr val="tx1"/>
                          </a:solidFill>
                        </a:rPr>
                        <a:t>NOC-EV-003</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All internet-facing services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DDoS or traffic flood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DDoS Protection telemetry, flow logs, WAF logs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Azure DDoS Protection alerts and mitigation reports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bg1"/>
                          </a:solidFill>
                        </a:rPr>
                        <a:t>P1</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r>
              <a:tr h="718185">
                <a:tc>
                  <a:txBody>
                    <a:bodyPr/>
                    <a:lstStyle/>
                    <a:p>
                      <a:pPr indent="0" marL="0">
                        <a:buNone/>
                      </a:pPr>
                      <a:r>
                        <a:rPr lang="en-US" sz="1250" b="1" dirty="0">
                          <a:solidFill>
                            <a:schemeClr val="tx1"/>
                          </a:solidFill>
                        </a:rPr>
                        <a:t>NOC-EV-004</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Core banking integration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Failed change or configuration drift on a network device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Configuration change logs, Azure Activity log, device syslog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Azure Monitor alert on the Activity log. Change Analysis.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P2</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r>
              <a:tr h="718185">
                <a:tc>
                  <a:txBody>
                    <a:bodyPr/>
                    <a:lstStyle/>
                    <a:p>
                      <a:pPr indent="0" marL="0">
                        <a:buNone/>
                      </a:pPr>
                      <a:r>
                        <a:rPr lang="en-US" sz="1250" b="1" dirty="0">
                          <a:solidFill>
                            <a:schemeClr val="tx1"/>
                          </a:solidFill>
                        </a:rPr>
                        <a:t>NOC-EV-005</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Any cloud-hosted service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Cloud region or third-party provider outage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Azure Service Health, Resource Health, provider status feeds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Service Health alerts through action groups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bg1"/>
                          </a:solidFill>
                        </a:rPr>
                        <a:t>P1</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r>
              <a:tr h="524510">
                <a:tc>
                  <a:txBody>
                    <a:bodyPr/>
                    <a:lstStyle/>
                    <a:p>
                      <a:pPr indent="0" marL="0">
                        <a:buNone/>
                      </a:pPr>
                      <a:r>
                        <a:rPr lang="en-US" sz="1250" b="1" dirty="0">
                          <a:solidFill>
                            <a:schemeClr val="tx2"/>
                          </a:solidFill>
                        </a:rPr>
                        <a:t>NOC-EV-0NN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[Service]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[Failure]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[Sources]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[Alert]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[P1 to P4]</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Monitoring and restoration matrix: how to restore and prove it</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9144000" cy="914400"/>
        </p:xfrm>
        <a:graphic>
          <a:graphicData uri="http://schemas.openxmlformats.org/drawingml/2006/table">
            <a:tbl>
              <a:tblPr/>
              <a:tblGrid>
                <a:gridCol w="1116564"/>
                <a:gridCol w="2791410"/>
                <a:gridCol w="2344784"/>
                <a:gridCol w="1563189"/>
                <a:gridCol w="1898159"/>
                <a:gridCol w="1563189"/>
              </a:tblGrid>
              <a:tr h="524510">
                <a:tc>
                  <a:txBody>
                    <a:bodyPr/>
                    <a:lstStyle/>
                    <a:p>
                      <a:pPr indent="0" marL="0">
                        <a:buNone/>
                      </a:pPr>
                      <a:r>
                        <a:rPr lang="en-US" sz="1250" b="1" dirty="0">
                          <a:solidFill>
                            <a:schemeClr val="bg1"/>
                          </a:solidFill>
                        </a:rPr>
                        <a:t>ID</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SIEM view: QRadar and Sentinel</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bg1"/>
                          </a:solidFill>
                        </a:rPr>
                        <a:t>Restoration runbook</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50" b="1" dirty="0">
                          <a:solidFill>
                            <a:schemeClr val="bg1"/>
                          </a:solidFill>
                        </a:rPr>
                        <a:t>Escalation</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50" b="1" dirty="0">
                          <a:solidFill>
                            <a:schemeClr val="bg1"/>
                          </a:solidFill>
                        </a:rPr>
                        <a:t>Evidence</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50" b="1" dirty="0">
                          <a:solidFill>
                            <a:schemeClr val="bg1"/>
                          </a:solidFill>
                        </a:rPr>
                        <a:t>DORA anchor</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911860">
                <a:tc>
                  <a:txBody>
                    <a:bodyPr/>
                    <a:lstStyle/>
                    <a:p>
                      <a:pPr indent="0" marL="0">
                        <a:buNone/>
                      </a:pPr>
                      <a:r>
                        <a:rPr lang="en-US" sz="1250" b="1" dirty="0">
                          <a:solidFill>
                            <a:schemeClr val="tx1"/>
                          </a:solidFill>
                        </a:rPr>
                        <a:t>NOC-EV-001</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Router and firewall logs in QRadar. The same logs in Sentinel through the Syslog and CEF connectors.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Fail over to the secondary circuit. Open a carrier ticket.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Incident manager, carrier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Incident ticket, failover log, carrier report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Art. 11, RTS 2024/1774 Art. 13</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718185">
                <a:tc>
                  <a:txBody>
                    <a:bodyPr/>
                    <a:lstStyle/>
                    <a:p>
                      <a:pPr indent="0" marL="0">
                        <a:buNone/>
                      </a:pPr>
                      <a:r>
                        <a:rPr lang="en-US" sz="1250" b="1" dirty="0">
                          <a:solidFill>
                            <a:schemeClr val="tx1"/>
                          </a:solidFill>
                        </a:rPr>
                        <a:t>NOC-EV-002</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QFlow shows top talkers. Sentinel queries the flow logs in KQL.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Scale out or shift traffic. Raise a capacity change.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Capacity owner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Capacity report, change record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Art. 7, RTS 2024/1774 Art. 9</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718185">
                <a:tc>
                  <a:txBody>
                    <a:bodyPr/>
                    <a:lstStyle/>
                    <a:p>
                      <a:pPr indent="0" marL="0">
                        <a:buNone/>
                      </a:pPr>
                      <a:r>
                        <a:rPr lang="en-US" sz="1250" b="1" dirty="0">
                          <a:solidFill>
                            <a:schemeClr val="tx1"/>
                          </a:solidFill>
                        </a:rPr>
                        <a:t>NOC-EV-003</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QRadar flow anomaly rule. Sentinel Azure DDoS Protection connector.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Confirm mitigation is active. Apply rate limits. Reroute if needed.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SOC, incident manager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Mitigation report, incident record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Art. 10, Art. 17</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718185">
                <a:tc>
                  <a:txBody>
                    <a:bodyPr/>
                    <a:lstStyle/>
                    <a:p>
                      <a:pPr indent="0" marL="0">
                        <a:buNone/>
                      </a:pPr>
                      <a:r>
                        <a:rPr lang="en-US" sz="1250" b="1" dirty="0">
                          <a:solidFill>
                            <a:schemeClr val="tx1"/>
                          </a:solidFill>
                        </a:rPr>
                        <a:t>NOC-EV-004</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Change events as a QRadar log source. Azure Activity connector in Sentinel.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Roll back to the last approved configuration.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Change manager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Change record, rollback log, post-change review</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Art. 9(4)(e), RTS 2024/1774 Art. 17</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911860">
                <a:tc>
                  <a:txBody>
                    <a:bodyPr/>
                    <a:lstStyle/>
                    <a:p>
                      <a:pPr indent="0" marL="0">
                        <a:buNone/>
                      </a:pPr>
                      <a:r>
                        <a:rPr lang="en-US" sz="1250" b="1" dirty="0">
                          <a:solidFill>
                            <a:schemeClr val="tx1"/>
                          </a:solidFill>
                        </a:rPr>
                        <a:t>NOC-EV-005</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Azure Activity log reaches QRadar through Event Hubs and Sentinel through the Azure Activity connector.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Invoke the continuity plan: fail over to the secondary region or provider.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Incident manager, third-party risk owner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Provider incident report, continuity test record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Art. 11, Art. 28</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2"/>
                          </a:solidFill>
                        </a:rPr>
                        <a:t>NOC-EV-0NN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[SIEM view]</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[Runbook]</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[Who]</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[Proof]</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[Article]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NOC monitoring layers</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Each layer and what is watched in it.</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3025616"/>
                <a:gridCol w="8251679"/>
              </a:tblGrid>
              <a:tr h="365760">
                <a:tc>
                  <a:txBody>
                    <a:bodyPr/>
                    <a:lstStyle/>
                    <a:p>
                      <a:pPr indent="0" marL="0">
                        <a:buNone/>
                      </a:pPr>
                      <a:r>
                        <a:rPr lang="en-US" sz="1250" b="1" dirty="0">
                          <a:solidFill>
                            <a:schemeClr val="bg1"/>
                          </a:solidFill>
                        </a:rPr>
                        <a:t>Layer</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What is monitored</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330835">
                <a:tc>
                  <a:txBody>
                    <a:bodyPr/>
                    <a:lstStyle/>
                    <a:p>
                      <a:pPr indent="0" marL="0">
                        <a:buNone/>
                      </a:pPr>
                      <a:r>
                        <a:rPr lang="en-US" sz="1250" b="1" dirty="0">
                          <a:solidFill>
                            <a:schemeClr val="tx1"/>
                          </a:solidFill>
                        </a:rPr>
                        <a:t>Service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Synthetic transactions, availability tests, service level reporting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Application delivery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Load balancers, application gateway, WAF, CDN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Perimeter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Firewalls, VPN gateways, DDoS protection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Core network</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Routers, switches, WAN, SD-WAN, ExpressRoute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Cloud network</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Virtual networks, peering, private endpoints, DNS zones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Network services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DNS, DHCP, NTP, certificates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Infrastructure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Compute, storage, hypervisors, backup jobs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Third party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Carriers, cloud provider health, SaaS status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Priority and restoration targets</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Hybrid: rate by description or by numbers. Bracketed values are placeholders to set against your impact tolerances.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944146"/>
                <a:gridCol w="3042247"/>
                <a:gridCol w="2832437"/>
                <a:gridCol w="1049051"/>
                <a:gridCol w="1311313"/>
                <a:gridCol w="2098101"/>
              </a:tblGrid>
              <a:tr h="365760">
                <a:tc>
                  <a:txBody>
                    <a:bodyPr/>
                    <a:lstStyle/>
                    <a:p>
                      <a:pPr indent="0" marL="0">
                        <a:buNone/>
                      </a:pPr>
                      <a:r>
                        <a:rPr lang="en-US" sz="1250" b="1" dirty="0">
                          <a:solidFill>
                            <a:schemeClr val="bg1"/>
                          </a:solidFill>
                        </a:rPr>
                        <a:t>Priority</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Qualitative criteria</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Quantitative trigger</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50" b="1" dirty="0">
                          <a:solidFill>
                            <a:schemeClr val="bg1"/>
                          </a:solidFill>
                        </a:rPr>
                        <a:t>Respond</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Restore</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Escalate to</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24510">
                <a:tc>
                  <a:txBody>
                    <a:bodyPr/>
                    <a:lstStyle/>
                    <a:p>
                      <a:pPr indent="0" marL="0">
                        <a:buNone/>
                      </a:pPr>
                      <a:r>
                        <a:rPr lang="en-US" sz="1250" b="1" dirty="0">
                          <a:solidFill>
                            <a:schemeClr val="bg1"/>
                          </a:solidFill>
                        </a:rPr>
                        <a:t>P1</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Critical or important function unavailable or severely degraded.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[Over X% of users] or downtime nearing the impact tolerance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[15 min]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[Within RTO]</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Incident manager, service owner, SOC</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P2</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250" dirty="0">
                          <a:solidFill>
                            <a:schemeClr val="tx1"/>
                          </a:solidFill>
                        </a:rPr>
                        <a:t>Service degraded, or redundancy lost with no customer impact yet.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[X to Y% of users] or one resilient path down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[30 min]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[4 hours]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NOC lead, service owner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P3</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250" dirty="0">
                          <a:solidFill>
                            <a:schemeClr val="tx1"/>
                          </a:solidFill>
                        </a:rPr>
                        <a:t>Single component fault with no service impact.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Below service thresholds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[4 hours]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[Next business day]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NOC engineer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P4</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3"/>
                    </a:solidFill>
                  </a:tcPr>
                </a:tc>
                <a:tc>
                  <a:txBody>
                    <a:bodyPr/>
                    <a:lstStyle/>
                    <a:p>
                      <a:pPr indent="0" marL="0">
                        <a:buNone/>
                      </a:pPr>
                      <a:r>
                        <a:rPr lang="en-US" sz="1250" dirty="0">
                          <a:solidFill>
                            <a:schemeClr val="tx1"/>
                          </a:solidFill>
                        </a:rPr>
                        <a:t>Cosmetic issue or information request.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None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[1 day]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[Planned]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Queue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NOC and SOC interface</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Who leads, who supports, and what triggers the hand-off.</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2456441"/>
                <a:gridCol w="3349692"/>
                <a:gridCol w="3349692"/>
                <a:gridCol w="2121471"/>
              </a:tblGrid>
              <a:tr h="365760">
                <a:tc>
                  <a:txBody>
                    <a:bodyPr/>
                    <a:lstStyle/>
                    <a:p>
                      <a:pPr indent="0" marL="0">
                        <a:buNone/>
                      </a:pPr>
                      <a:r>
                        <a:rPr lang="en-US" sz="1250" b="1" dirty="0">
                          <a:solidFill>
                            <a:schemeClr val="bg1"/>
                          </a:solidFill>
                        </a:rPr>
                        <a:t>Situation</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NOC does</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bg1"/>
                          </a:solidFill>
                        </a:rPr>
                        <a:t>SOC does</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50" b="1" dirty="0">
                          <a:solidFill>
                            <a:schemeClr val="bg1"/>
                          </a:solidFill>
                        </a:rPr>
                        <a:t>Hand-off trigger</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24510">
                <a:tc>
                  <a:txBody>
                    <a:bodyPr/>
                    <a:lstStyle/>
                    <a:p>
                      <a:pPr indent="0" marL="0">
                        <a:buNone/>
                      </a:pPr>
                      <a:r>
                        <a:rPr lang="en-US" sz="1250" b="1" dirty="0">
                          <a:solidFill>
                            <a:schemeClr val="tx1"/>
                          </a:solidFill>
                        </a:rPr>
                        <a:t>Service degraded, cause unknown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Leads restoration. Owns the ticket.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Checks the SIEM for attack indicators.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NOC opens a P1 or P2</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DDoS or traffic flood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Activates mitigation and reroutes traffic.</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Investigates the actor and any parallel intrusion.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Volumetric alert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Malware on a server or network device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Isolates the segment or port on request.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Leads the incident. Decides containment.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SOC severity High or above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Firewall or network change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Implements through change control.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Reviews the security risk of the rule.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Change request raised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Log source stops sending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Restores the device, agent or connector.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Flags the detection gap.</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Health alert in the SIEM</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Major incident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Reports downtime and service impact.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Runs classification and regulatory reporting.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Incident manager declares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Tooling alignment: Microsoft, QRadar and Sentinel</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Operational telemetry stays in Microsoft tooling. The SIEM gets the security-relevant share, in QRadar today and in the same shape for Microsoft Sentinel.</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1944361"/>
                <a:gridCol w="3110978"/>
                <a:gridCol w="2916542"/>
                <a:gridCol w="3305414"/>
              </a:tblGrid>
              <a:tr h="365760">
                <a:tc>
                  <a:txBody>
                    <a:bodyPr/>
                    <a:lstStyle/>
                    <a:p>
                      <a:pPr indent="0" marL="0">
                        <a:buNone/>
                      </a:pPr>
                      <a:r>
                        <a:rPr lang="en-US" sz="1150" b="1" dirty="0">
                          <a:solidFill>
                            <a:schemeClr val="bg1"/>
                          </a:solidFill>
                        </a:rPr>
                        <a:t>Capability</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rPr>
                        <a:t>Microsoft operations tooling</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rPr>
                        <a:t>IBM QRadar, in use today</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Microsoft Sentinel, alignment target</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493522">
                <a:tc>
                  <a:txBody>
                    <a:bodyPr/>
                    <a:lstStyle/>
                    <a:p>
                      <a:pPr indent="0" marL="0">
                        <a:buNone/>
                      </a:pPr>
                      <a:r>
                        <a:rPr lang="en-US" sz="1150" b="1" dirty="0">
                          <a:solidFill>
                            <a:schemeClr val="tx1"/>
                          </a:solidFill>
                        </a:rPr>
                        <a:t>Availability and performance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Azure Monitor metrics and alerts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Device health from syslog only</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Azure Monitor data in the same Log Analytics workspace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15341">
                <a:tc>
                  <a:txBody>
                    <a:bodyPr/>
                    <a:lstStyle/>
                    <a:p>
                      <a:pPr indent="0" marL="0">
                        <a:buNone/>
                      </a:pPr>
                      <a:r>
                        <a:rPr lang="en-US" sz="1150" b="1" dirty="0">
                          <a:solidFill>
                            <a:schemeClr val="tx1"/>
                          </a:solidFill>
                        </a:rPr>
                        <a:t>Connectivity probes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Network Watcher Connection Monitor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Probe results queried in KQL</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493522">
                <a:tc>
                  <a:txBody>
                    <a:bodyPr/>
                    <a:lstStyle/>
                    <a:p>
                      <a:pPr indent="0" marL="0">
                        <a:buNone/>
                      </a:pPr>
                      <a:r>
                        <a:rPr lang="en-US" sz="1150" b="1" dirty="0">
                          <a:solidFill>
                            <a:schemeClr val="tx1"/>
                          </a:solidFill>
                        </a:rPr>
                        <a:t>Flow visibility</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Virtual network flow logs, Traffic Analytics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QFlow, QRadar Network Insights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Flow logs ingested, ASIM network session schema</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493522">
                <a:tc>
                  <a:txBody>
                    <a:bodyPr/>
                    <a:lstStyle/>
                    <a:p>
                      <a:pPr indent="0" marL="0">
                        <a:buNone/>
                      </a:pPr>
                      <a:r>
                        <a:rPr lang="en-US" sz="1150" b="1" dirty="0">
                          <a:solidFill>
                            <a:schemeClr val="tx1"/>
                          </a:solidFill>
                        </a:rPr>
                        <a:t>Device logs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Syslog and CEF through Azure Monitor Agent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Log sources with DSMs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Syslog and CEF connectors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15341">
                <a:tc>
                  <a:txBody>
                    <a:bodyPr/>
                    <a:lstStyle/>
                    <a:p>
                      <a:pPr indent="0" marL="0">
                        <a:buNone/>
                      </a:pPr>
                      <a:r>
                        <a:rPr lang="en-US" sz="1150" b="1" dirty="0">
                          <a:solidFill>
                            <a:schemeClr val="tx1"/>
                          </a:solidFill>
                        </a:rPr>
                        <a:t>DDoS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Azure DDoS Protection telemetry</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Flow anomaly rules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Azure DDoS Protection connector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15341">
                <a:tc>
                  <a:txBody>
                    <a:bodyPr/>
                    <a:lstStyle/>
                    <a:p>
                      <a:pPr indent="0" marL="0">
                        <a:buNone/>
                      </a:pPr>
                      <a:r>
                        <a:rPr lang="en-US" sz="1150" b="1" dirty="0">
                          <a:solidFill>
                            <a:schemeClr val="tx1"/>
                          </a:solidFill>
                        </a:rPr>
                        <a:t>Firewall</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Azure Firewall logs and metrics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Firewall DSMs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Azure Firewall connector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493522">
                <a:tc>
                  <a:txBody>
                    <a:bodyPr/>
                    <a:lstStyle/>
                    <a:p>
                      <a:pPr indent="0" marL="0">
                        <a:buNone/>
                      </a:pPr>
                      <a:r>
                        <a:rPr lang="en-US" sz="1150" b="1" dirty="0">
                          <a:solidFill>
                            <a:schemeClr val="tx1"/>
                          </a:solidFill>
                        </a:rPr>
                        <a:t>Provider health</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Azure Service Health, Resource Health</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Azure Activity log through Event Hubs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Azure Activity connector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493522">
                <a:tc>
                  <a:txBody>
                    <a:bodyPr/>
                    <a:lstStyle/>
                    <a:p>
                      <a:pPr indent="0" marL="0">
                        <a:buNone/>
                      </a:pPr>
                      <a:r>
                        <a:rPr lang="en-US" sz="1150" b="1" dirty="0">
                          <a:solidFill>
                            <a:schemeClr val="tx1"/>
                          </a:solidFill>
                        </a:rPr>
                        <a:t>Change tracking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Azure Activity log, Change Analysis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Configuration change log sources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Azure Activity connector, analytics rules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15341">
                <a:tc>
                  <a:txBody>
                    <a:bodyPr/>
                    <a:lstStyle/>
                    <a:p>
                      <a:pPr indent="0" marL="0">
                        <a:buNone/>
                      </a:pPr>
                      <a:r>
                        <a:rPr lang="en-US" sz="1150" b="1" dirty="0">
                          <a:solidFill>
                            <a:schemeClr val="tx1"/>
                          </a:solidFill>
                        </a:rPr>
                        <a:t>Alert routing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Action groups to the ITSM tool</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Offense forwarding to the ITSM tool</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Automation rules and playbooks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15341">
                <a:tc>
                  <a:txBody>
                    <a:bodyPr/>
                    <a:lstStyle/>
                    <a:p>
                      <a:pPr indent="0" marL="0">
                        <a:buNone/>
                      </a:pPr>
                      <a:r>
                        <a:rPr lang="en-US" sz="1150" b="1" dirty="0">
                          <a:solidFill>
                            <a:schemeClr val="tx1"/>
                          </a:solidFill>
                        </a:rPr>
                        <a:t>Dashboards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Azure Monitor workbooks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Pulse dashboards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Workbooks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KPIs for the management body</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Targets are placeholders. Each metric names where the evidence comes from.</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2481005"/>
                <a:gridCol w="4059826"/>
                <a:gridCol w="1127730"/>
                <a:gridCol w="3608734"/>
              </a:tblGrid>
              <a:tr h="365760">
                <a:tc>
                  <a:txBody>
                    <a:bodyPr/>
                    <a:lstStyle/>
                    <a:p>
                      <a:pPr indent="0" marL="0">
                        <a:buNone/>
                      </a:pPr>
                      <a:r>
                        <a:rPr lang="en-US" sz="1250" b="1" dirty="0">
                          <a:solidFill>
                            <a:schemeClr val="bg1"/>
                          </a:solidFill>
                        </a:rPr>
                        <a:t>Metric</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What it shows</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Target</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Evidence source</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330835">
                <a:tc>
                  <a:txBody>
                    <a:bodyPr/>
                    <a:lstStyle/>
                    <a:p>
                      <a:pPr indent="0" marL="0">
                        <a:buNone/>
                      </a:pPr>
                      <a:r>
                        <a:rPr lang="en-US" sz="1250" b="1" dirty="0">
                          <a:solidFill>
                            <a:schemeClr val="tx1"/>
                          </a:solidFill>
                        </a:rPr>
                        <a:t>Service availability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Uptime of each critical or important function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 %]</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Availability tests, service level report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Mean time to acknowledge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Queue health and staffing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Ticket timestamps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Mean time to restore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Restoration effectiveness against RTO</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Incident tickets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Detected by monitoring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Share of incidents the NOC finds before users report them</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Ticket source field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Change success rate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Share of changes with no incident or rollback</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Change records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Capacity headroom</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Spare capacity on critical links and gateways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Capacity report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Failover tests passed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Resilience of redundant paths and sites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Test records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Monitoring coverage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Share of critical components with an alert and a runbook</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CMDB against the monitoring inventory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Control framework cross-mapping</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9144000" cy="914400"/>
        </p:xfrm>
        <a:graphic>
          <a:graphicData uri="http://schemas.openxmlformats.org/drawingml/2006/table">
            <a:tbl>
              <a:tblPr/>
              <a:tblGrid>
                <a:gridCol w="1700545"/>
                <a:gridCol w="1029277"/>
                <a:gridCol w="1253033"/>
                <a:gridCol w="1611042"/>
                <a:gridCol w="1074028"/>
                <a:gridCol w="1163530"/>
                <a:gridCol w="1297784"/>
                <a:gridCol w="984526"/>
                <a:gridCol w="1163530"/>
              </a:tblGrid>
              <a:tr h="756920">
                <a:tc>
                  <a:txBody>
                    <a:bodyPr/>
                    <a:lstStyle/>
                    <a:p>
                      <a:pPr indent="0" marL="0">
                        <a:buNone/>
                      </a:pPr>
                      <a:r>
                        <a:rPr lang="en-US" sz="1000" b="1" dirty="0">
                          <a:solidFill>
                            <a:schemeClr val="bg1"/>
                          </a:solidFill>
                        </a:rPr>
                        <a:t>Function</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NIST CSF 2.0</a:t>
                      </a:r>
                      <a:endParaRPr lang="en-US" sz="1000" dirty="0"/>
                    </a:p>
                    <a:p>
                      <a:pPr indent="0" marL="0">
                        <a:buNone/>
                      </a:pPr>
                      <a:r>
                        <a:rPr lang="en-US" sz="850" b="1" dirty="0">
                          <a:solidFill>
                            <a:schemeClr val="bg1"/>
                          </a:solidFill>
                        </a:rPr>
                        <a:t>Categories</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ISO/IEC 27001:2022</a:t>
                      </a:r>
                      <a:endParaRPr lang="en-US" sz="1000" dirty="0"/>
                    </a:p>
                    <a:p>
                      <a:pPr indent="0" marL="0">
                        <a:buNone/>
                      </a:pPr>
                      <a:r>
                        <a:rPr lang="en-US" sz="850" b="1" dirty="0">
                          <a:solidFill>
                            <a:schemeClr val="bg1"/>
                          </a:solidFill>
                        </a:rPr>
                        <a:t>Annex A</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DORA · Driver</a:t>
                      </a:r>
                      <a:endParaRPr lang="en-US" sz="1000" dirty="0"/>
                    </a:p>
                    <a:p>
                      <a:pPr indent="0" marL="0">
                        <a:buNone/>
                      </a:pPr>
                      <a:r>
                        <a:rPr lang="en-US" sz="850" b="1" dirty="0">
                          <a:solidFill>
                            <a:schemeClr val="bg1"/>
                          </a:solidFill>
                        </a:rPr>
                        <a:t>Reg. (EU) 2022/2554</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GDPR</a:t>
                      </a:r>
                      <a:endParaRPr lang="en-US" sz="1000" dirty="0"/>
                    </a:p>
                    <a:p>
                      <a:pPr indent="0" marL="0">
                        <a:buNone/>
                      </a:pPr>
                      <a:r>
                        <a:rPr lang="en-US" sz="850" b="1" dirty="0">
                          <a:solidFill>
                            <a:schemeClr val="bg1"/>
                          </a:solidFill>
                        </a:rPr>
                        <a:t>Reg. (EU) 2016/679</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CIS IG3 · Baseline</a:t>
                      </a:r>
                      <a:endParaRPr lang="en-US" sz="1000" dirty="0"/>
                    </a:p>
                    <a:p>
                      <a:pPr indent="0" marL="0">
                        <a:buNone/>
                      </a:pPr>
                      <a:r>
                        <a:rPr lang="en-US" sz="850" b="1" dirty="0">
                          <a:solidFill>
                            <a:schemeClr val="bg1"/>
                          </a:solidFill>
                        </a:rPr>
                        <a:t>CIS Controls v8.1</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000" b="1" dirty="0">
                          <a:solidFill>
                            <a:schemeClr val="bg1"/>
                          </a:solidFill>
                        </a:rPr>
                        <a:t>CRA</a:t>
                      </a:r>
                      <a:endParaRPr lang="en-US" sz="1000" dirty="0"/>
                    </a:p>
                    <a:p>
                      <a:pPr indent="0" marL="0">
                        <a:buNone/>
                      </a:pPr>
                      <a:r>
                        <a:rPr lang="en-US" sz="850" b="1" dirty="0">
                          <a:solidFill>
                            <a:schemeClr val="bg1"/>
                          </a:solidFill>
                        </a:rPr>
                        <a:t>Reg. (EU) 2024/2847</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EU AI Act</a:t>
                      </a:r>
                      <a:endParaRPr lang="en-US" sz="1000" dirty="0"/>
                    </a:p>
                    <a:p>
                      <a:pPr indent="0" marL="0">
                        <a:buNone/>
                      </a:pPr>
                      <a:r>
                        <a:rPr lang="en-US" sz="850" b="1" dirty="0">
                          <a:solidFill>
                            <a:schemeClr val="bg1"/>
                          </a:solidFill>
                        </a:rPr>
                        <a:t>Reg. (EU) 2024/1689</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ISO/IEC 42001:2023</a:t>
                      </a:r>
                      <a:endParaRPr lang="en-US" sz="1000" dirty="0"/>
                    </a:p>
                    <a:p>
                      <a:pPr indent="0" marL="0">
                        <a:buNone/>
                      </a:pPr>
                      <a:r>
                        <a:rPr lang="en-US" sz="850" b="1" dirty="0">
                          <a:solidFill>
                            <a:schemeClr val="bg1"/>
                          </a:solidFill>
                        </a:rPr>
                        <a:t>AI management system</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r>
              <a:tr h="447040">
                <a:tc>
                  <a:txBody>
                    <a:bodyPr/>
                    <a:lstStyle/>
                    <a:p>
                      <a:pPr indent="0" marL="0">
                        <a:buNone/>
                      </a:pPr>
                      <a:r>
                        <a:rPr lang="en-US" sz="1000" b="1" dirty="0">
                          <a:solidFill>
                            <a:schemeClr val="tx1"/>
                          </a:solidFill>
                        </a:rPr>
                        <a:t>Network and asset inventory</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ID.AM</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A.5.9</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8</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 12.4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A.4.5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Network architecture and segmentation</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PR.IR-01</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A.8.20, A.8.22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9(4)(b), RTS 2024/1774 Art. 13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12, 13.4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Annex I Part I: attack surface</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Via ISO/IEC 27001</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Availability and performance monitoring</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DE.CM-01</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A.8.16</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10</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32(1)(b)</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13.6</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Annex I Part I: availability</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A.6.2.6</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Capacity management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PR.IR-04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A.8.6</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7, RTS 2024/1774 Art. 9</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32(1)(b)</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No dedicated safeguard</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A.4.5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Change and configuration</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PR.PS-01</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A.8.9, A.8.32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9(4)(e), RTS 2024/1774 Art. 17</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4.2, 12.1, 12.3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Annex I Part I: secure by default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A.6.2.5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Incident and major incident management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RS.MA</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A.5.24 to A.5.26</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17, 18, 19</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17</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Art. 14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73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A.8.4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Continuity, failover and recovery</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PR.IR-03, RC.RP</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A.5.29, A.5.30, A.8.14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11, Art. 12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32(1)(c)</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11</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Annex I Part I: availability</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15(4)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Via ISO/IEC 27001</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Logging to the SIEM</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DE.CM, PR.PS-04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A.8.15, A.8.17</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10, RTS 2024/1774 Art. 12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8, 13.6</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Annex I Part I: monitoring</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A.6.2.8</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Carriers and cloud providers</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GV.SC</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A.5.19 to A.5.23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28, 29, 30</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28</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Art. 13(5)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A.10.3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292100">
                <a:tc>
                  <a:txBody>
                    <a:bodyPr/>
                    <a:lstStyle/>
                    <a:p>
                      <a:pPr indent="0" marL="0">
                        <a:buNone/>
                      </a:pPr>
                      <a:r>
                        <a:rPr lang="en-US" sz="1000" b="1" dirty="0">
                          <a:solidFill>
                            <a:schemeClr val="tx1"/>
                          </a:solidFill>
                        </a:rPr>
                        <a:t>Resilience testing</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ID.IM-02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A.5.30</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24, Art. 25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32(1)(d)</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11.5, 18</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Clause 9</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Traceability">
  <a:themeElements>
    <a:clrScheme name="Traceability">
      <a:dk1>
        <a:srgbClr val="0E1C2A"/>
      </a:dk1>
      <a:lt1>
        <a:srgbClr val="FFFFFF"/>
      </a:lt1>
      <a:dk2>
        <a:srgbClr val="43525F"/>
      </a:dk2>
      <a:lt2>
        <a:srgbClr val="EEF1F4"/>
      </a:lt2>
      <a:accent1>
        <a:srgbClr val="B5450F"/>
      </a:accent1>
      <a:accent2>
        <a:srgbClr val="0D5C75"/>
      </a:accent2>
      <a:accent3>
        <a:srgbClr val="FBE9DD"/>
      </a:accent3>
      <a:accent4>
        <a:srgbClr val="DDEEF3"/>
      </a:accent4>
      <a:accent5>
        <a:srgbClr val="D9682B"/>
      </a:accent5>
      <a:accent6>
        <a:srgbClr val="8F2F06"/>
      </a:accent6>
      <a:hlink>
        <a:srgbClr val="0D5C75"/>
      </a:hlink>
      <a:folHlink>
        <a:srgbClr val="43525F"/>
      </a:folHlink>
    </a:clrScheme>
    <a:fontScheme name="Traceabilit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Security Architecture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NOC Operating Model</dc:title>
  <dc:subject>NOC Operating Model</dc:subject>
  <dc:creator>Security Architecture</dc:creator>
  <cp:lastModifiedBy>Security Architecture</cp:lastModifiedBy>
  <cp:revision>1</cp:revision>
  <dcterms:created xsi:type="dcterms:W3CDTF">2026-10-04T19:50:57Z</dcterms:created>
  <dcterms:modified xsi:type="dcterms:W3CDTF">2026-10-04T19:50:57Z</dcterms:modified>
</cp:coreProperties>
</file>